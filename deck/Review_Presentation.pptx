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13-Jul-26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13-Jul-26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13-Jul-26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13-Jul-26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13-Jul-26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13-Jul-26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13-Jul-26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13-Jul-26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13-Jul-26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640080"/>
            <a:ext cx="82296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868680"/>
            <a:ext cx="3456524" cy="276999"/>
          </a:xfrm>
          <a:prstGeom prst="rect">
            <a:avLst/>
          </a:prstGeom>
          <a:noFill/>
        </p:spPr>
        <p:txBody>
          <a:bodyPr wrap="none">
            <a:spAutoFit/>
          </a:bodyPr>
          <a:lstStyle/>
          <a:p>
            <a:r>
              <a:rPr sz="1200" b="1" i="0" dirty="0">
                <a:solidFill>
                  <a:srgbClr val="0F766E"/>
                </a:solidFill>
                <a:latin typeface="Calibri"/>
              </a:rPr>
              <a:t>IIITDM-SIES INTERNSHIP  |  REVIEW PRESENTATION</a:t>
            </a:r>
          </a:p>
        </p:txBody>
      </p:sp>
      <p:sp>
        <p:nvSpPr>
          <p:cNvPr id="5" name="TextBox 4"/>
          <p:cNvSpPr txBox="1"/>
          <p:nvPr/>
        </p:nvSpPr>
        <p:spPr>
          <a:xfrm>
            <a:off x="640080" y="1554480"/>
            <a:ext cx="10789920" cy="2743200"/>
          </a:xfrm>
          <a:prstGeom prst="rect">
            <a:avLst/>
          </a:prstGeom>
          <a:noFill/>
        </p:spPr>
        <p:txBody>
          <a:bodyPr wrap="square">
            <a:spAutoFit/>
          </a:bodyPr>
          <a:lstStyle/>
          <a:p>
            <a:pPr>
              <a:spcAft>
                <a:spcPts val="400"/>
              </a:spcAft>
            </a:pPr>
            <a:r>
              <a:rPr sz="3600" b="1" i="0">
                <a:solidFill>
                  <a:srgbClr val="0F1F3A"/>
                </a:solidFill>
                <a:latin typeface="Calibri"/>
              </a:rPr>
              <a:t>A Predictive Machine Learning Framework</a:t>
            </a:r>
          </a:p>
          <a:p>
            <a:pPr>
              <a:spcAft>
                <a:spcPts val="400"/>
              </a:spcAft>
            </a:pPr>
            <a:r>
              <a:rPr sz="3600" b="1" i="0">
                <a:solidFill>
                  <a:srgbClr val="0F1F3A"/>
                </a:solidFill>
                <a:latin typeface="Calibri"/>
              </a:rPr>
              <a:t>for Ergonomic Risk in Last-Mile</a:t>
            </a:r>
          </a:p>
          <a:p>
            <a:pPr>
              <a:spcAft>
                <a:spcPts val="400"/>
              </a:spcAft>
            </a:pPr>
            <a:r>
              <a:rPr sz="3600" b="1" i="0">
                <a:solidFill>
                  <a:srgbClr val="0F1F3A"/>
                </a:solidFill>
                <a:latin typeface="Calibri"/>
              </a:rPr>
              <a:t>Quick-Commerce Delivery Operations</a:t>
            </a:r>
          </a:p>
        </p:txBody>
      </p:sp>
      <p:sp>
        <p:nvSpPr>
          <p:cNvPr id="6" name="Rectangle 5"/>
          <p:cNvSpPr/>
          <p:nvPr/>
        </p:nvSpPr>
        <p:spPr>
          <a:xfrm>
            <a:off x="640080" y="4297680"/>
            <a:ext cx="2743200" cy="18288"/>
          </a:xfrm>
          <a:prstGeom prst="rect">
            <a:avLst/>
          </a:prstGeom>
          <a:solidFill>
            <a:srgbClr val="0F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526280"/>
            <a:ext cx="10789920" cy="1369606"/>
          </a:xfrm>
          <a:prstGeom prst="rect">
            <a:avLst/>
          </a:prstGeom>
          <a:noFill/>
        </p:spPr>
        <p:txBody>
          <a:bodyPr wrap="square">
            <a:spAutoFit/>
          </a:bodyPr>
          <a:lstStyle/>
          <a:p>
            <a:endParaRPr dirty="0"/>
          </a:p>
          <a:p>
            <a:pPr>
              <a:spcAft>
                <a:spcPts val="200"/>
              </a:spcAft>
            </a:pPr>
            <a:r>
              <a:rPr sz="1100" b="1" i="0" dirty="0">
                <a:solidFill>
                  <a:srgbClr val="6B7282"/>
                </a:solidFill>
                <a:latin typeface="Calibri"/>
              </a:rPr>
              <a:t>PRESENTED BY      </a:t>
            </a:r>
            <a:r>
              <a:rPr sz="1500" b="0" i="0" dirty="0">
                <a:solidFill>
                  <a:srgbClr val="1F2A40"/>
                </a:solidFill>
                <a:latin typeface="Calibri"/>
              </a:rPr>
              <a:t>AILA VISHNU VARDHAN</a:t>
            </a:r>
          </a:p>
          <a:p>
            <a:pPr>
              <a:spcAft>
                <a:spcPts val="200"/>
              </a:spcAft>
            </a:pPr>
            <a:r>
              <a:rPr sz="1100" b="1" i="0" dirty="0">
                <a:solidFill>
                  <a:srgbClr val="6B7282"/>
                </a:solidFill>
                <a:latin typeface="Calibri"/>
              </a:rPr>
              <a:t>INSTITUTE         </a:t>
            </a:r>
            <a:r>
              <a:rPr lang="en-US" sz="1100" b="1" i="0" dirty="0">
                <a:solidFill>
                  <a:srgbClr val="6B7282"/>
                </a:solidFill>
                <a:latin typeface="Calibri"/>
              </a:rPr>
              <a:t>     </a:t>
            </a:r>
            <a:r>
              <a:rPr sz="1500" b="0" i="0" dirty="0">
                <a:solidFill>
                  <a:srgbClr val="1F2A40"/>
                </a:solidFill>
                <a:latin typeface="Calibri"/>
              </a:rPr>
              <a:t>Vidya Jyothi Institute of Technology</a:t>
            </a:r>
          </a:p>
          <a:p>
            <a:pPr>
              <a:spcAft>
                <a:spcPts val="200"/>
              </a:spcAft>
            </a:pPr>
            <a:r>
              <a:rPr sz="1100" b="1" i="0" dirty="0">
                <a:solidFill>
                  <a:srgbClr val="6B7282"/>
                </a:solidFill>
                <a:latin typeface="Calibri"/>
              </a:rPr>
              <a:t>MENTOR            </a:t>
            </a:r>
            <a:r>
              <a:rPr lang="en-US" sz="1100" b="1" i="0" dirty="0">
                <a:solidFill>
                  <a:srgbClr val="6B7282"/>
                </a:solidFill>
                <a:latin typeface="Calibri"/>
              </a:rPr>
              <a:t>     </a:t>
            </a:r>
            <a:r>
              <a:rPr sz="1500" b="0" i="0" dirty="0">
                <a:solidFill>
                  <a:srgbClr val="1F2A40"/>
                </a:solidFill>
                <a:latin typeface="Calibri"/>
              </a:rPr>
              <a:t>Dr. Arunachalam Muthiah</a:t>
            </a:r>
          </a:p>
          <a:p>
            <a:pPr>
              <a:spcAft>
                <a:spcPts val="200"/>
              </a:spcAft>
            </a:pPr>
            <a:r>
              <a:rPr sz="1100" b="1" i="0" dirty="0">
                <a:solidFill>
                  <a:srgbClr val="6B7282"/>
                </a:solidFill>
                <a:latin typeface="Calibri"/>
              </a:rPr>
              <a:t>PROGRAMME        </a:t>
            </a:r>
            <a:r>
              <a:rPr sz="1500" b="0" i="0" dirty="0">
                <a:solidFill>
                  <a:srgbClr val="1F2A40"/>
                </a:solidFill>
                <a:latin typeface="Calibri"/>
              </a:rPr>
              <a:t>IIITDM-SIES Internship  |  School of Interdisciplinary Design and Innovation (SIDI), IIITDM Kancheepuram</a:t>
            </a:r>
          </a:p>
        </p:txBody>
      </p:sp>
      <p:sp>
        <p:nvSpPr>
          <p:cNvPr id="8" name="TextBox 7"/>
          <p:cNvSpPr txBox="1"/>
          <p:nvPr/>
        </p:nvSpPr>
        <p:spPr>
          <a:xfrm>
            <a:off x="640080" y="6400800"/>
            <a:ext cx="10789920" cy="274320"/>
          </a:xfrm>
          <a:prstGeom prst="rect">
            <a:avLst/>
          </a:prstGeom>
          <a:noFill/>
        </p:spPr>
        <p:txBody>
          <a:bodyPr wrap="none">
            <a:spAutoFit/>
          </a:bodyPr>
          <a:lstStyle/>
          <a:p>
            <a:r>
              <a:rPr sz="1100" b="0" i="1">
                <a:solidFill>
                  <a:srgbClr val="6B7282"/>
                </a:solidFill>
                <a:latin typeface="Calibri"/>
              </a:rPr>
              <a:t>July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01  BACKGROUND</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Problem and Objectives</a:t>
            </a:r>
          </a:p>
        </p:txBody>
      </p:sp>
      <p:sp>
        <p:nvSpPr>
          <p:cNvPr id="6" name="TextBox 5"/>
          <p:cNvSpPr txBox="1"/>
          <p:nvPr/>
        </p:nvSpPr>
        <p:spPr>
          <a:xfrm>
            <a:off x="640080" y="1691640"/>
            <a:ext cx="10789920" cy="1371600"/>
          </a:xfrm>
          <a:prstGeom prst="rect">
            <a:avLst/>
          </a:prstGeom>
          <a:noFill/>
        </p:spPr>
        <p:txBody>
          <a:bodyPr wrap="square">
            <a:spAutoFit/>
          </a:bodyPr>
          <a:lstStyle/>
          <a:p>
            <a:pPr algn="l"/>
            <a:r>
              <a:rPr sz="1500" b="0" i="0">
                <a:solidFill>
                  <a:srgbClr val="1F2A40"/>
                </a:solidFill>
                <a:latin typeface="Calibri"/>
              </a:rPr>
              <a:t>India's 10-minute delivery boom runs on riders whose bodies quietly pay the price. Every shift is 8+ hours on the bike, heavy packages on the stairs, awkward postures in stop-and-go traffic, and constant vibration, all on the clock set by the platform's routing algorithm. Trip after trip, day after day, the exposure adds up as back pain, shoulder pain, wrist injuries, and knee problems long before the rider reports them. Yet no single screening tool measures a rider's risk across all six standard ergonomic factors (Force, Repetition, Posture, Duration, Contact Stress, Vibration) from one questionnaire.</a:t>
            </a:r>
          </a:p>
        </p:txBody>
      </p:sp>
      <p:sp>
        <p:nvSpPr>
          <p:cNvPr id="7" name="TextBox 6"/>
          <p:cNvSpPr txBox="1"/>
          <p:nvPr/>
        </p:nvSpPr>
        <p:spPr>
          <a:xfrm>
            <a:off x="640080" y="3291840"/>
            <a:ext cx="10789920" cy="365760"/>
          </a:xfrm>
          <a:prstGeom prst="rect">
            <a:avLst/>
          </a:prstGeom>
          <a:noFill/>
        </p:spPr>
        <p:txBody>
          <a:bodyPr wrap="square">
            <a:spAutoFit/>
          </a:bodyPr>
          <a:lstStyle/>
          <a:p>
            <a:pPr algn="l"/>
            <a:r>
              <a:rPr sz="1700" b="1" i="0">
                <a:solidFill>
                  <a:srgbClr val="0F1F3A"/>
                </a:solidFill>
                <a:latin typeface="Calibri"/>
              </a:rPr>
              <a:t>Objectives</a:t>
            </a:r>
          </a:p>
        </p:txBody>
      </p:sp>
      <p:sp>
        <p:nvSpPr>
          <p:cNvPr id="8" name="TextBox 7"/>
          <p:cNvSpPr txBox="1"/>
          <p:nvPr/>
        </p:nvSpPr>
        <p:spPr>
          <a:xfrm>
            <a:off x="640080" y="3749039"/>
            <a:ext cx="10789920" cy="1615827"/>
          </a:xfrm>
          <a:prstGeom prst="rect">
            <a:avLst/>
          </a:prstGeom>
          <a:noFill/>
        </p:spPr>
        <p:txBody>
          <a:bodyPr wrap="square">
            <a:spAutoFit/>
          </a:bodyPr>
          <a:lstStyle/>
          <a:p>
            <a:pPr algn="l">
              <a:spcAft>
                <a:spcPts val="600"/>
              </a:spcAft>
            </a:pPr>
            <a:r>
              <a:rPr sz="1300" b="1" i="0">
                <a:solidFill>
                  <a:srgbClr val="0F766E"/>
                </a:solidFill>
                <a:latin typeface="Calibri"/>
              </a:rPr>
              <a:t>•   </a:t>
            </a:r>
            <a:r>
              <a:rPr sz="1300" b="0" i="0">
                <a:solidFill>
                  <a:srgbClr val="1F2A40"/>
                </a:solidFill>
                <a:latin typeface="Calibri"/>
              </a:rPr>
              <a:t>Combine standard ergonomic methods (RULA, QEC, NMQ, NASA-TLX, Borg CR10) into per-rider Low / Medium / High labels for the six standard risk factors: Force, Repetition, Posture, Duration, Contact Stress, and Vibration.</a:t>
            </a:r>
          </a:p>
          <a:p>
            <a:pPr algn="l">
              <a:spcAft>
                <a:spcPts val="600"/>
              </a:spcAft>
            </a:pPr>
            <a:r>
              <a:rPr sz="1300" b="1" i="0">
                <a:solidFill>
                  <a:srgbClr val="0F766E"/>
                </a:solidFill>
                <a:latin typeface="Calibri"/>
              </a:rPr>
              <a:t>•   </a:t>
            </a:r>
            <a:r>
              <a:rPr sz="1300" b="0" i="0">
                <a:solidFill>
                  <a:srgbClr val="1F2A40"/>
                </a:solidFill>
                <a:latin typeface="Calibri"/>
              </a:rPr>
              <a:t>Train an ML model per factor on the 36-item rider survey plus the RULA and QEC observation set, tuned via 5-fold stratified cross-validation with SMOTE, and report per-target accuracy, macro F1, and macro AUC.</a:t>
            </a:r>
          </a:p>
          <a:p>
            <a:pPr algn="l">
              <a:spcAft>
                <a:spcPts val="600"/>
              </a:spcAft>
            </a:pPr>
            <a:r>
              <a:rPr sz="1300" b="1" i="0">
                <a:solidFill>
                  <a:srgbClr val="0F766E"/>
                </a:solidFill>
                <a:latin typeface="Calibri"/>
              </a:rPr>
              <a:t>•   </a:t>
            </a:r>
            <a:r>
              <a:rPr sz="1300" b="0" i="0">
                <a:solidFill>
                  <a:srgbClr val="1F2A40"/>
                </a:solidFill>
                <a:latin typeface="Calibri"/>
              </a:rPr>
              <a:t>Deploy a Streamlit web app that accepts a new rider's questionnaire (plus RULA and QEC scores) and returns colour-coded Low / Medium / High predictions across the six factors in real time.</a:t>
            </a:r>
          </a:p>
          <a:p>
            <a:pPr algn="l">
              <a:spcAft>
                <a:spcPts val="600"/>
              </a:spcAft>
            </a:pPr>
            <a:r>
              <a:rPr sz="1300" b="1" i="0">
                <a:solidFill>
                  <a:srgbClr val="0F766E"/>
                </a:solidFill>
                <a:latin typeface="Calibri"/>
              </a:rPr>
              <a:t>•   </a:t>
            </a:r>
            <a:r>
              <a:rPr sz="1300" b="0" i="0">
                <a:solidFill>
                  <a:srgbClr val="1F2A40"/>
                </a:solidFill>
                <a:latin typeface="Calibri"/>
              </a:rPr>
              <a:t>Translate the analysis into platform-level actions on working hours, vehicle type, carrying mode, and age-cohort screening.</a:t>
            </a:r>
          </a:p>
        </p:txBody>
      </p:sp>
      <p:sp>
        <p:nvSpPr>
          <p:cNvPr id="9" name="TextBox 8"/>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2/10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02  METHODOLOGY</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Two-Stage Pipeline</a:t>
            </a:r>
          </a:p>
        </p:txBody>
      </p:sp>
      <p:sp>
        <p:nvSpPr>
          <p:cNvPr id="6" name="TextBox 5"/>
          <p:cNvSpPr txBox="1"/>
          <p:nvPr/>
        </p:nvSpPr>
        <p:spPr>
          <a:xfrm>
            <a:off x="640080" y="1691640"/>
            <a:ext cx="6035040" cy="4572000"/>
          </a:xfrm>
          <a:prstGeom prst="rect">
            <a:avLst/>
          </a:prstGeom>
          <a:noFill/>
        </p:spPr>
        <p:txBody>
          <a:bodyPr wrap="square">
            <a:spAutoFit/>
          </a:bodyPr>
          <a:lstStyle/>
          <a:p>
            <a:pPr algn="l">
              <a:spcAft>
                <a:spcPts val="600"/>
              </a:spcAft>
            </a:pPr>
            <a:r>
              <a:rPr sz="1300" b="1" i="0" dirty="0">
                <a:solidFill>
                  <a:srgbClr val="0F766E"/>
                </a:solidFill>
                <a:latin typeface="Calibri"/>
              </a:rPr>
              <a:t>•   </a:t>
            </a:r>
            <a:r>
              <a:rPr sz="1300" b="0" i="0" dirty="0">
                <a:solidFill>
                  <a:srgbClr val="1F2A40"/>
                </a:solidFill>
                <a:latin typeface="Calibri"/>
              </a:rPr>
              <a:t>Stage 1 (deterministic).  Standard ergonomic methods produce Low / Medium / High labels per factor.</a:t>
            </a:r>
          </a:p>
          <a:p>
            <a:pPr lvl="1" algn="l">
              <a:spcAft>
                <a:spcPts val="600"/>
              </a:spcAft>
            </a:pPr>
            <a:r>
              <a:rPr sz="1300" b="1" i="0" dirty="0">
                <a:solidFill>
                  <a:srgbClr val="0F766E"/>
                </a:solidFill>
                <a:latin typeface="Calibri"/>
              </a:rPr>
              <a:t>–   </a:t>
            </a:r>
            <a:r>
              <a:rPr sz="1300" b="0" i="0" dirty="0">
                <a:solidFill>
                  <a:srgbClr val="1F2A40"/>
                </a:solidFill>
                <a:latin typeface="Calibri"/>
              </a:rPr>
              <a:t>Force: Borg CR10 lifting rating (0-3 / 4-6 / 7-10).</a:t>
            </a:r>
          </a:p>
          <a:p>
            <a:pPr lvl="1" algn="l">
              <a:spcAft>
                <a:spcPts val="600"/>
              </a:spcAft>
            </a:pPr>
            <a:r>
              <a:rPr sz="1300" b="1" i="0" dirty="0">
                <a:solidFill>
                  <a:srgbClr val="0F766E"/>
                </a:solidFill>
                <a:latin typeface="Calibri"/>
              </a:rPr>
              <a:t>–   </a:t>
            </a:r>
            <a:r>
              <a:rPr sz="1300" b="0" i="0" dirty="0">
                <a:solidFill>
                  <a:srgbClr val="1F2A40"/>
                </a:solidFill>
                <a:latin typeface="Calibri"/>
              </a:rPr>
              <a:t>Posture: RULA grand-score bands (1-2 / 3-4 / 5+); the High band merges Action Levels 3 and 4.</a:t>
            </a:r>
          </a:p>
          <a:p>
            <a:pPr lvl="1" algn="l">
              <a:spcAft>
                <a:spcPts val="600"/>
              </a:spcAft>
            </a:pPr>
            <a:r>
              <a:rPr sz="1300" b="1" i="0" dirty="0">
                <a:solidFill>
                  <a:srgbClr val="0F766E"/>
                </a:solidFill>
                <a:latin typeface="Calibri"/>
              </a:rPr>
              <a:t>–   </a:t>
            </a:r>
            <a:r>
              <a:rPr sz="1300" b="0" i="0" dirty="0">
                <a:solidFill>
                  <a:srgbClr val="1F2A40"/>
                </a:solidFill>
                <a:latin typeface="Calibri"/>
              </a:rPr>
              <a:t>Duration: continuous work hours (&lt;=5 / 6-7 / &gt;7).</a:t>
            </a:r>
          </a:p>
          <a:p>
            <a:pPr lvl="1" algn="l">
              <a:spcAft>
                <a:spcPts val="600"/>
              </a:spcAft>
            </a:pPr>
            <a:r>
              <a:rPr sz="1300" b="1" i="0" dirty="0">
                <a:solidFill>
                  <a:srgbClr val="0F766E"/>
                </a:solidFill>
                <a:latin typeface="Calibri"/>
              </a:rPr>
              <a:t>–   </a:t>
            </a:r>
            <a:r>
              <a:rPr sz="1300" b="0" i="0" dirty="0">
                <a:solidFill>
                  <a:srgbClr val="1F2A40"/>
                </a:solidFill>
                <a:latin typeface="Calibri"/>
              </a:rPr>
              <a:t>Repetition, Vibration, and Contact Stress: fixed cuts and sample terciles.</a:t>
            </a:r>
          </a:p>
          <a:p>
            <a:pPr algn="l">
              <a:spcAft>
                <a:spcPts val="600"/>
              </a:spcAft>
            </a:pPr>
            <a:r>
              <a:rPr sz="1300" b="1" i="0" dirty="0">
                <a:solidFill>
                  <a:srgbClr val="0F766E"/>
                </a:solidFill>
                <a:latin typeface="Calibri"/>
              </a:rPr>
              <a:t>•   </a:t>
            </a:r>
            <a:r>
              <a:rPr sz="1300" b="0" i="0" dirty="0">
                <a:solidFill>
                  <a:srgbClr val="1F2A40"/>
                </a:solidFill>
                <a:latin typeface="Calibri"/>
              </a:rPr>
              <a:t>Stage 2 (supervised ML).  One model per factor learns the Stage-1 label from the rider profile. Inputs used to define the label are excluded so the model cannot just </a:t>
            </a:r>
            <a:r>
              <a:rPr lang="en-IN" sz="1300" b="0" i="0" dirty="0">
                <a:solidFill>
                  <a:srgbClr val="1F2A40"/>
                </a:solidFill>
                <a:latin typeface="Calibri"/>
              </a:rPr>
              <a:t>memorise</a:t>
            </a:r>
            <a:r>
              <a:rPr sz="1300" b="0" i="0" dirty="0">
                <a:solidFill>
                  <a:srgbClr val="1F2A40"/>
                </a:solidFill>
                <a:latin typeface="Calibri"/>
              </a:rPr>
              <a:t> the rule.</a:t>
            </a:r>
          </a:p>
          <a:p>
            <a:pPr algn="l">
              <a:spcAft>
                <a:spcPts val="600"/>
              </a:spcAft>
            </a:pPr>
            <a:r>
              <a:rPr sz="1300" b="1" i="0" dirty="0">
                <a:solidFill>
                  <a:srgbClr val="0F766E"/>
                </a:solidFill>
                <a:latin typeface="Calibri"/>
              </a:rPr>
              <a:t>•   </a:t>
            </a:r>
            <a:r>
              <a:rPr sz="1300" b="0" i="0" dirty="0">
                <a:solidFill>
                  <a:srgbClr val="1F2A40"/>
                </a:solidFill>
                <a:latin typeface="Calibri"/>
              </a:rPr>
              <a:t>Trained models run behind a </a:t>
            </a:r>
            <a:r>
              <a:rPr sz="1300" b="0" i="0" dirty="0" err="1">
                <a:solidFill>
                  <a:srgbClr val="1F2A40"/>
                </a:solidFill>
                <a:latin typeface="Calibri"/>
              </a:rPr>
              <a:t>Streamlit</a:t>
            </a:r>
            <a:r>
              <a:rPr sz="1300" b="0" i="0" dirty="0">
                <a:solidFill>
                  <a:srgbClr val="1F2A40"/>
                </a:solidFill>
                <a:latin typeface="Calibri"/>
              </a:rPr>
              <a:t> form so a new rider gets predictions in seconds.</a:t>
            </a:r>
          </a:p>
        </p:txBody>
      </p:sp>
      <p:pic>
        <p:nvPicPr>
          <p:cNvPr id="7" name="Picture 6" descr="methodology_flowchart.png"/>
          <p:cNvPicPr>
            <a:picLocks noChangeAspect="1"/>
          </p:cNvPicPr>
          <p:nvPr/>
        </p:nvPicPr>
        <p:blipFill>
          <a:blip r:embed="rId2"/>
          <a:stretch>
            <a:fillRect/>
          </a:stretch>
        </p:blipFill>
        <p:spPr>
          <a:xfrm>
            <a:off x="6536179" y="2103120"/>
            <a:ext cx="5442461" cy="2002536"/>
          </a:xfrm>
          <a:prstGeom prst="rect">
            <a:avLst/>
          </a:prstGeom>
        </p:spPr>
      </p:pic>
      <p:sp>
        <p:nvSpPr>
          <p:cNvPr id="8" name="TextBox 7"/>
          <p:cNvSpPr txBox="1"/>
          <p:nvPr/>
        </p:nvSpPr>
        <p:spPr>
          <a:xfrm>
            <a:off x="6949440" y="3999318"/>
            <a:ext cx="5029200" cy="274320"/>
          </a:xfrm>
          <a:prstGeom prst="rect">
            <a:avLst/>
          </a:prstGeom>
          <a:noFill/>
        </p:spPr>
        <p:txBody>
          <a:bodyPr wrap="none">
            <a:spAutoFit/>
          </a:bodyPr>
          <a:lstStyle/>
          <a:p>
            <a:pPr algn="ctr"/>
            <a:r>
              <a:rPr sz="1000" b="0" i="1">
                <a:solidFill>
                  <a:srgbClr val="6B7282"/>
                </a:solidFill>
                <a:latin typeface="Calibri"/>
              </a:rPr>
              <a:t>Pipeline flowchart</a:t>
            </a:r>
          </a:p>
        </p:txBody>
      </p:sp>
      <p:sp>
        <p:nvSpPr>
          <p:cNvPr id="9" name="TextBox 8"/>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3/10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03  DATA</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Data Sources</a:t>
            </a:r>
          </a:p>
        </p:txBody>
      </p:sp>
      <p:sp>
        <p:nvSpPr>
          <p:cNvPr id="6" name="Rounded Rectangle 5"/>
          <p:cNvSpPr/>
          <p:nvPr/>
        </p:nvSpPr>
        <p:spPr>
          <a:xfrm>
            <a:off x="640080" y="1737360"/>
            <a:ext cx="5623560" cy="4389120"/>
          </a:xfrm>
          <a:prstGeom prst="roundRect">
            <a:avLst/>
          </a:prstGeom>
          <a:solidFill>
            <a:srgbClr val="F7F8FA"/>
          </a:solidFill>
          <a:ln w="9525">
            <a:solidFill>
              <a:srgbClr val="E0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920240"/>
            <a:ext cx="5074920" cy="274320"/>
          </a:xfrm>
          <a:prstGeom prst="rect">
            <a:avLst/>
          </a:prstGeom>
          <a:noFill/>
        </p:spPr>
        <p:txBody>
          <a:bodyPr wrap="square">
            <a:spAutoFit/>
          </a:bodyPr>
          <a:lstStyle/>
          <a:p>
            <a:pPr algn="l"/>
            <a:r>
              <a:rPr sz="1000" b="1" i="0">
                <a:solidFill>
                  <a:srgbClr val="0F766E"/>
                </a:solidFill>
                <a:latin typeface="Calibri"/>
              </a:rPr>
              <a:t>N = 182</a:t>
            </a:r>
          </a:p>
        </p:txBody>
      </p:sp>
      <p:sp>
        <p:nvSpPr>
          <p:cNvPr id="8" name="TextBox 7"/>
          <p:cNvSpPr txBox="1"/>
          <p:nvPr/>
        </p:nvSpPr>
        <p:spPr>
          <a:xfrm>
            <a:off x="914400" y="2240280"/>
            <a:ext cx="5074920" cy="457200"/>
          </a:xfrm>
          <a:prstGeom prst="rect">
            <a:avLst/>
          </a:prstGeom>
          <a:noFill/>
        </p:spPr>
        <p:txBody>
          <a:bodyPr wrap="square">
            <a:spAutoFit/>
          </a:bodyPr>
          <a:lstStyle/>
          <a:p>
            <a:pPr algn="l"/>
            <a:r>
              <a:rPr sz="1700" b="1" i="0">
                <a:solidFill>
                  <a:srgbClr val="0F1F3A"/>
                </a:solidFill>
                <a:latin typeface="Calibri"/>
              </a:rPr>
              <a:t>Rider Survey (CSV)</a:t>
            </a:r>
          </a:p>
        </p:txBody>
      </p:sp>
      <p:sp>
        <p:nvSpPr>
          <p:cNvPr id="9" name="TextBox 8"/>
          <p:cNvSpPr txBox="1"/>
          <p:nvPr/>
        </p:nvSpPr>
        <p:spPr>
          <a:xfrm>
            <a:off x="914400" y="2788920"/>
            <a:ext cx="5074920" cy="3108960"/>
          </a:xfrm>
          <a:prstGeom prst="rect">
            <a:avLst/>
          </a:prstGeom>
          <a:noFill/>
        </p:spPr>
        <p:txBody>
          <a:bodyPr wrap="square">
            <a:spAutoFit/>
          </a:bodyPr>
          <a:lstStyle/>
          <a:p>
            <a:pPr algn="l">
              <a:spcAft>
                <a:spcPts val="600"/>
              </a:spcAft>
            </a:pPr>
            <a:r>
              <a:rPr sz="1200" b="1" i="0" dirty="0">
                <a:solidFill>
                  <a:srgbClr val="0F766E"/>
                </a:solidFill>
                <a:latin typeface="Calibri"/>
              </a:rPr>
              <a:t>•   </a:t>
            </a:r>
            <a:r>
              <a:rPr sz="1200" b="0" i="0" dirty="0">
                <a:solidFill>
                  <a:srgbClr val="1F2A40"/>
                </a:solidFill>
                <a:latin typeface="Calibri"/>
              </a:rPr>
              <a:t>36 questionnaire items across 5 modules.</a:t>
            </a:r>
          </a:p>
          <a:p>
            <a:pPr lvl="1" algn="l">
              <a:spcAft>
                <a:spcPts val="600"/>
              </a:spcAft>
            </a:pPr>
            <a:r>
              <a:rPr sz="1200" b="1" i="0" dirty="0">
                <a:solidFill>
                  <a:srgbClr val="0F766E"/>
                </a:solidFill>
                <a:latin typeface="Calibri"/>
              </a:rPr>
              <a:t>–   </a:t>
            </a:r>
            <a:r>
              <a:rPr sz="1200" b="0" i="0" dirty="0">
                <a:solidFill>
                  <a:srgbClr val="1F2A40"/>
                </a:solidFill>
                <a:latin typeface="Calibri"/>
              </a:rPr>
              <a:t>Q1-17: demographics, work pattern, lifestyle</a:t>
            </a:r>
          </a:p>
          <a:p>
            <a:pPr lvl="1" algn="l">
              <a:spcAft>
                <a:spcPts val="600"/>
              </a:spcAft>
            </a:pPr>
            <a:r>
              <a:rPr sz="1200" b="1" i="0" dirty="0">
                <a:solidFill>
                  <a:srgbClr val="0F766E"/>
                </a:solidFill>
                <a:latin typeface="Calibri"/>
              </a:rPr>
              <a:t>–   </a:t>
            </a:r>
            <a:r>
              <a:rPr sz="1200" b="0" i="0" dirty="0">
                <a:solidFill>
                  <a:srgbClr val="1F2A40"/>
                </a:solidFill>
                <a:latin typeface="Calibri"/>
              </a:rPr>
              <a:t>Q18: NMQ 12-month pain (9 body areas)</a:t>
            </a:r>
          </a:p>
          <a:p>
            <a:pPr lvl="1" algn="l">
              <a:spcAft>
                <a:spcPts val="600"/>
              </a:spcAft>
            </a:pPr>
            <a:r>
              <a:rPr sz="1200" b="1" i="0" dirty="0">
                <a:solidFill>
                  <a:srgbClr val="0F766E"/>
                </a:solidFill>
                <a:latin typeface="Calibri"/>
              </a:rPr>
              <a:t>–   </a:t>
            </a:r>
            <a:r>
              <a:rPr sz="1200" b="0" i="0" dirty="0">
                <a:solidFill>
                  <a:srgbClr val="1F2A40"/>
                </a:solidFill>
                <a:latin typeface="Calibri"/>
              </a:rPr>
              <a:t>Q19: 7-day discomfort (neck, lower back, wrist/hands, knees)</a:t>
            </a:r>
          </a:p>
          <a:p>
            <a:pPr lvl="1" algn="l">
              <a:spcAft>
                <a:spcPts val="600"/>
              </a:spcAft>
            </a:pPr>
            <a:r>
              <a:rPr sz="1200" b="1" i="0" dirty="0">
                <a:solidFill>
                  <a:srgbClr val="0F766E"/>
                </a:solidFill>
                <a:latin typeface="Calibri"/>
              </a:rPr>
              <a:t>–   </a:t>
            </a:r>
            <a:r>
              <a:rPr sz="1200" b="0" i="0" dirty="0">
                <a:solidFill>
                  <a:srgbClr val="1F2A40"/>
                </a:solidFill>
                <a:latin typeface="Calibri"/>
              </a:rPr>
              <a:t>Q20-24: discomfort follow-ups</a:t>
            </a:r>
          </a:p>
          <a:p>
            <a:pPr lvl="1" algn="l">
              <a:spcAft>
                <a:spcPts val="600"/>
              </a:spcAft>
            </a:pPr>
            <a:r>
              <a:rPr sz="1200" b="1" i="0" dirty="0">
                <a:solidFill>
                  <a:srgbClr val="0F766E"/>
                </a:solidFill>
                <a:latin typeface="Calibri"/>
              </a:rPr>
              <a:t>–   </a:t>
            </a:r>
            <a:r>
              <a:rPr sz="1200" b="0" i="0" dirty="0">
                <a:solidFill>
                  <a:srgbClr val="1F2A40"/>
                </a:solidFill>
                <a:latin typeface="Calibri"/>
              </a:rPr>
              <a:t>Q25-30: NASA-TLX 0-100 sliders</a:t>
            </a:r>
          </a:p>
          <a:p>
            <a:pPr lvl="1" algn="l">
              <a:spcAft>
                <a:spcPts val="600"/>
              </a:spcAft>
            </a:pPr>
            <a:r>
              <a:rPr sz="1200" b="1" i="0" dirty="0">
                <a:solidFill>
                  <a:srgbClr val="0F766E"/>
                </a:solidFill>
                <a:latin typeface="Calibri"/>
              </a:rPr>
              <a:t>–   </a:t>
            </a:r>
            <a:r>
              <a:rPr sz="1200" b="0" i="0" dirty="0">
                <a:solidFill>
                  <a:srgbClr val="1F2A40"/>
                </a:solidFill>
                <a:latin typeface="Calibri"/>
              </a:rPr>
              <a:t>Q31-36: Borg CR10 0-10 sliders</a:t>
            </a:r>
          </a:p>
          <a:p>
            <a:pPr algn="l">
              <a:spcAft>
                <a:spcPts val="600"/>
              </a:spcAft>
            </a:pPr>
            <a:r>
              <a:rPr sz="1200" b="1" i="0" dirty="0">
                <a:solidFill>
                  <a:srgbClr val="0F766E"/>
                </a:solidFill>
                <a:latin typeface="Calibri"/>
              </a:rPr>
              <a:t>•   </a:t>
            </a:r>
            <a:r>
              <a:rPr sz="1200" b="0" i="0" dirty="0">
                <a:solidFill>
                  <a:srgbClr val="1F2A40"/>
                </a:solidFill>
                <a:latin typeface="Calibri"/>
              </a:rPr>
              <a:t>Self-administered; single time-point.</a:t>
            </a:r>
          </a:p>
        </p:txBody>
      </p:sp>
      <p:sp>
        <p:nvSpPr>
          <p:cNvPr id="10" name="Rounded Rectangle 9"/>
          <p:cNvSpPr/>
          <p:nvPr/>
        </p:nvSpPr>
        <p:spPr>
          <a:xfrm>
            <a:off x="6537960" y="1737360"/>
            <a:ext cx="5166360" cy="4389120"/>
          </a:xfrm>
          <a:prstGeom prst="roundRect">
            <a:avLst/>
          </a:prstGeom>
          <a:solidFill>
            <a:srgbClr val="F7F8FA"/>
          </a:solidFill>
          <a:ln w="9525">
            <a:solidFill>
              <a:srgbClr val="E0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12280" y="1920240"/>
            <a:ext cx="4617720" cy="274320"/>
          </a:xfrm>
          <a:prstGeom prst="rect">
            <a:avLst/>
          </a:prstGeom>
          <a:noFill/>
        </p:spPr>
        <p:txBody>
          <a:bodyPr wrap="square">
            <a:spAutoFit/>
          </a:bodyPr>
          <a:lstStyle/>
          <a:p>
            <a:pPr algn="l"/>
            <a:r>
              <a:rPr sz="1000" b="1" i="0">
                <a:solidFill>
                  <a:srgbClr val="0F766E"/>
                </a:solidFill>
                <a:latin typeface="Calibri"/>
              </a:rPr>
              <a:t>N = 182</a:t>
            </a:r>
          </a:p>
        </p:txBody>
      </p:sp>
      <p:sp>
        <p:nvSpPr>
          <p:cNvPr id="12" name="TextBox 11"/>
          <p:cNvSpPr txBox="1"/>
          <p:nvPr/>
        </p:nvSpPr>
        <p:spPr>
          <a:xfrm>
            <a:off x="6812280" y="2240280"/>
            <a:ext cx="4617720" cy="457200"/>
          </a:xfrm>
          <a:prstGeom prst="rect">
            <a:avLst/>
          </a:prstGeom>
          <a:noFill/>
        </p:spPr>
        <p:txBody>
          <a:bodyPr wrap="square">
            <a:spAutoFit/>
          </a:bodyPr>
          <a:lstStyle/>
          <a:p>
            <a:pPr algn="l"/>
            <a:r>
              <a:rPr sz="1700" b="1" i="0">
                <a:solidFill>
                  <a:srgbClr val="0F1F3A"/>
                </a:solidFill>
                <a:latin typeface="Calibri"/>
              </a:rPr>
              <a:t>Posture Observations (xlsx)</a:t>
            </a:r>
          </a:p>
        </p:txBody>
      </p:sp>
      <p:sp>
        <p:nvSpPr>
          <p:cNvPr id="13" name="TextBox 12"/>
          <p:cNvSpPr txBox="1"/>
          <p:nvPr/>
        </p:nvSpPr>
        <p:spPr>
          <a:xfrm>
            <a:off x="6812280" y="2788920"/>
            <a:ext cx="4617720" cy="3108960"/>
          </a:xfrm>
          <a:prstGeom prst="rect">
            <a:avLst/>
          </a:prstGeom>
          <a:noFill/>
        </p:spPr>
        <p:txBody>
          <a:bodyPr wrap="square">
            <a:spAutoFit/>
          </a:bodyPr>
          <a:lstStyle/>
          <a:p>
            <a:pPr algn="l">
              <a:spcAft>
                <a:spcPts val="600"/>
              </a:spcAft>
            </a:pPr>
            <a:r>
              <a:rPr sz="1200" b="1" i="0">
                <a:solidFill>
                  <a:srgbClr val="0F766E"/>
                </a:solidFill>
                <a:latin typeface="Calibri"/>
              </a:rPr>
              <a:t>•   </a:t>
            </a:r>
            <a:r>
              <a:rPr sz="1200" b="0" i="0">
                <a:solidFill>
                  <a:srgbClr val="1F2A40"/>
                </a:solidFill>
                <a:latin typeface="Calibri"/>
              </a:rPr>
              <a:t>Ergonomic observation records.</a:t>
            </a:r>
          </a:p>
          <a:p>
            <a:pPr lvl="1" algn="l">
              <a:spcAft>
                <a:spcPts val="600"/>
              </a:spcAft>
            </a:pPr>
            <a:r>
              <a:rPr sz="1200" b="1" i="0">
                <a:solidFill>
                  <a:srgbClr val="0F766E"/>
                </a:solidFill>
                <a:latin typeface="Calibri"/>
              </a:rPr>
              <a:t>–   </a:t>
            </a:r>
            <a:r>
              <a:rPr sz="1200" b="0" i="0">
                <a:solidFill>
                  <a:srgbClr val="1F2A40"/>
                </a:solidFill>
                <a:latin typeface="Calibri"/>
              </a:rPr>
              <a:t>11 RULA components</a:t>
            </a:r>
          </a:p>
          <a:p>
            <a:pPr lvl="1" algn="l">
              <a:spcAft>
                <a:spcPts val="600"/>
              </a:spcAft>
            </a:pPr>
            <a:r>
              <a:rPr sz="1200" b="1" i="0">
                <a:solidFill>
                  <a:srgbClr val="0F766E"/>
                </a:solidFill>
                <a:latin typeface="Calibri"/>
              </a:rPr>
              <a:t>–   </a:t>
            </a:r>
            <a:r>
              <a:rPr sz="1200" b="0" i="0">
                <a:solidFill>
                  <a:srgbClr val="1F2A40"/>
                </a:solidFill>
                <a:latin typeface="Calibri"/>
              </a:rPr>
              <a:t>3 RULA Table A/B/C scores</a:t>
            </a:r>
          </a:p>
          <a:p>
            <a:pPr lvl="1" algn="l">
              <a:spcAft>
                <a:spcPts val="600"/>
              </a:spcAft>
            </a:pPr>
            <a:r>
              <a:rPr sz="1200" b="1" i="0">
                <a:solidFill>
                  <a:srgbClr val="0F766E"/>
                </a:solidFill>
                <a:latin typeface="Calibri"/>
              </a:rPr>
              <a:t>–   </a:t>
            </a:r>
            <a:r>
              <a:rPr sz="1200" b="0" i="0">
                <a:solidFill>
                  <a:srgbClr val="1F2A40"/>
                </a:solidFill>
                <a:latin typeface="Calibri"/>
              </a:rPr>
              <a:t>8 QEC region + exposure scores</a:t>
            </a:r>
          </a:p>
          <a:p>
            <a:pPr algn="l">
              <a:spcAft>
                <a:spcPts val="600"/>
              </a:spcAft>
            </a:pPr>
            <a:r>
              <a:rPr sz="1200" b="1" i="0">
                <a:solidFill>
                  <a:srgbClr val="0F766E"/>
                </a:solidFill>
                <a:latin typeface="Calibri"/>
              </a:rPr>
              <a:t>•   </a:t>
            </a:r>
            <a:r>
              <a:rPr sz="1200" b="0" i="0">
                <a:solidFill>
                  <a:srgbClr val="1F2A40"/>
                </a:solidFill>
                <a:latin typeface="Calibri"/>
              </a:rPr>
              <a:t>Merged into the survey via severity-rank pairing.</a:t>
            </a:r>
          </a:p>
          <a:p>
            <a:pPr lvl="1" algn="l">
              <a:spcAft>
                <a:spcPts val="600"/>
              </a:spcAft>
            </a:pPr>
            <a:r>
              <a:rPr sz="1200" b="1" i="0">
                <a:solidFill>
                  <a:srgbClr val="0F766E"/>
                </a:solidFill>
                <a:latin typeface="Calibri"/>
              </a:rPr>
              <a:t>–   </a:t>
            </a:r>
            <a:r>
              <a:rPr sz="1200" b="0" i="0">
                <a:solidFill>
                  <a:srgbClr val="1F2A40"/>
                </a:solidFill>
                <a:latin typeface="Calibri"/>
              </a:rPr>
              <a:t>Ranks riders by NMQ + fatigue + hours</a:t>
            </a:r>
          </a:p>
          <a:p>
            <a:pPr lvl="1" algn="l">
              <a:spcAft>
                <a:spcPts val="600"/>
              </a:spcAft>
            </a:pPr>
            <a:r>
              <a:rPr sz="1200" b="1" i="0">
                <a:solidFill>
                  <a:srgbClr val="0F766E"/>
                </a:solidFill>
                <a:latin typeface="Calibri"/>
              </a:rPr>
              <a:t>–   </a:t>
            </a:r>
            <a:r>
              <a:rPr sz="1200" b="0" i="0">
                <a:solidFill>
                  <a:srgbClr val="1F2A40"/>
                </a:solidFill>
                <a:latin typeface="Calibri"/>
              </a:rPr>
              <a:t>Ranks observations by RULA Table C</a:t>
            </a:r>
          </a:p>
          <a:p>
            <a:pPr lvl="1" algn="l">
              <a:spcAft>
                <a:spcPts val="600"/>
              </a:spcAft>
            </a:pPr>
            <a:r>
              <a:rPr sz="1200" b="1" i="0">
                <a:solidFill>
                  <a:srgbClr val="0F766E"/>
                </a:solidFill>
                <a:latin typeface="Calibri"/>
              </a:rPr>
              <a:t>–   </a:t>
            </a:r>
            <a:r>
              <a:rPr sz="1200" b="0" i="0">
                <a:solidFill>
                  <a:srgbClr val="1F2A40"/>
                </a:solidFill>
                <a:latin typeface="Calibri"/>
              </a:rPr>
              <a:t>Matches rank-to-rank one-to-one</a:t>
            </a:r>
          </a:p>
        </p:txBody>
      </p:sp>
      <p:sp>
        <p:nvSpPr>
          <p:cNvPr id="14" name="TextBox 13"/>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4/10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04  STAGE 1</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Six Risk Factors &amp; Stage-1 Distribution</a:t>
            </a:r>
          </a:p>
        </p:txBody>
      </p:sp>
      <p:graphicFrame>
        <p:nvGraphicFramePr>
          <p:cNvPr id="6" name="Table 5"/>
          <p:cNvGraphicFramePr>
            <a:graphicFrameLocks noGrp="1"/>
          </p:cNvGraphicFramePr>
          <p:nvPr/>
        </p:nvGraphicFramePr>
        <p:xfrm>
          <a:off x="640080" y="1737360"/>
          <a:ext cx="10789920" cy="3200400"/>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gridCol w="1798320">
                  <a:extLst>
                    <a:ext uri="{9D8B030D-6E8A-4147-A177-3AD203B41FA5}">
                      <a16:colId xmlns:a16="http://schemas.microsoft.com/office/drawing/2014/main" val="20003"/>
                    </a:ext>
                  </a:extLst>
                </a:gridCol>
                <a:gridCol w="1798320">
                  <a:extLst>
                    <a:ext uri="{9D8B030D-6E8A-4147-A177-3AD203B41FA5}">
                      <a16:colId xmlns:a16="http://schemas.microsoft.com/office/drawing/2014/main" val="20004"/>
                    </a:ext>
                  </a:extLst>
                </a:gridCol>
                <a:gridCol w="1798320">
                  <a:extLst>
                    <a:ext uri="{9D8B030D-6E8A-4147-A177-3AD203B41FA5}">
                      <a16:colId xmlns:a16="http://schemas.microsoft.com/office/drawing/2014/main" val="20005"/>
                    </a:ext>
                  </a:extLst>
                </a:gridCol>
              </a:tblGrid>
              <a:tr h="457200">
                <a:tc>
                  <a:txBody>
                    <a:bodyPr/>
                    <a:lstStyle/>
                    <a:p>
                      <a:pPr algn="l"/>
                      <a:r>
                        <a:rPr sz="1200" b="1" i="0">
                          <a:solidFill>
                            <a:srgbClr val="FFFFFF"/>
                          </a:solidFill>
                          <a:latin typeface="Calibri"/>
                        </a:rPr>
                        <a:t>Factor</a:t>
                      </a:r>
                    </a:p>
                  </a:txBody>
                  <a:tcPr>
                    <a:solidFill>
                      <a:srgbClr val="0F1F3A"/>
                    </a:solidFill>
                  </a:tcPr>
                </a:tc>
                <a:tc>
                  <a:txBody>
                    <a:bodyPr/>
                    <a:lstStyle/>
                    <a:p>
                      <a:pPr algn="l"/>
                      <a:r>
                        <a:rPr sz="1200" b="1" i="0">
                          <a:solidFill>
                            <a:srgbClr val="FFFFFF"/>
                          </a:solidFill>
                          <a:latin typeface="Calibri"/>
                        </a:rPr>
                        <a:t>Signal</a:t>
                      </a:r>
                    </a:p>
                  </a:txBody>
                  <a:tcPr>
                    <a:solidFill>
                      <a:srgbClr val="0F1F3A"/>
                    </a:solidFill>
                  </a:tcPr>
                </a:tc>
                <a:tc>
                  <a:txBody>
                    <a:bodyPr/>
                    <a:lstStyle/>
                    <a:p>
                      <a:pPr algn="l"/>
                      <a:r>
                        <a:rPr sz="1200" b="1" i="0">
                          <a:solidFill>
                            <a:srgbClr val="FFFFFF"/>
                          </a:solidFill>
                          <a:latin typeface="Calibri"/>
                        </a:rPr>
                        <a:t>Threshold rule</a:t>
                      </a:r>
                    </a:p>
                  </a:txBody>
                  <a:tcPr>
                    <a:solidFill>
                      <a:srgbClr val="0F1F3A"/>
                    </a:solidFill>
                  </a:tcPr>
                </a:tc>
                <a:tc>
                  <a:txBody>
                    <a:bodyPr/>
                    <a:lstStyle/>
                    <a:p>
                      <a:pPr algn="l"/>
                      <a:r>
                        <a:rPr sz="1200" b="1" i="0">
                          <a:solidFill>
                            <a:srgbClr val="FFFFFF"/>
                          </a:solidFill>
                          <a:latin typeface="Calibri"/>
                        </a:rPr>
                        <a:t>Low</a:t>
                      </a:r>
                    </a:p>
                  </a:txBody>
                  <a:tcPr>
                    <a:solidFill>
                      <a:srgbClr val="0F1F3A"/>
                    </a:solidFill>
                  </a:tcPr>
                </a:tc>
                <a:tc>
                  <a:txBody>
                    <a:bodyPr/>
                    <a:lstStyle/>
                    <a:p>
                      <a:pPr algn="l"/>
                      <a:r>
                        <a:rPr sz="1200" b="1" i="0">
                          <a:solidFill>
                            <a:srgbClr val="FFFFFF"/>
                          </a:solidFill>
                          <a:latin typeface="Calibri"/>
                        </a:rPr>
                        <a:t>Med</a:t>
                      </a:r>
                    </a:p>
                  </a:txBody>
                  <a:tcPr>
                    <a:solidFill>
                      <a:srgbClr val="0F1F3A"/>
                    </a:solidFill>
                  </a:tcPr>
                </a:tc>
                <a:tc>
                  <a:txBody>
                    <a:bodyPr/>
                    <a:lstStyle/>
                    <a:p>
                      <a:pPr algn="l"/>
                      <a:r>
                        <a:rPr sz="1200" b="1" i="0">
                          <a:solidFill>
                            <a:srgbClr val="FFFFFF"/>
                          </a:solidFill>
                          <a:latin typeface="Calibri"/>
                        </a:rPr>
                        <a:t>High</a:t>
                      </a:r>
                    </a:p>
                  </a:txBody>
                  <a:tcPr>
                    <a:solidFill>
                      <a:srgbClr val="0F1F3A"/>
                    </a:solidFill>
                  </a:tcPr>
                </a:tc>
                <a:extLst>
                  <a:ext uri="{0D108BD9-81ED-4DB2-BD59-A6C34878D82A}">
                    <a16:rowId xmlns:a16="http://schemas.microsoft.com/office/drawing/2014/main" val="10000"/>
                  </a:ext>
                </a:extLst>
              </a:tr>
              <a:tr h="457200">
                <a:tc>
                  <a:txBody>
                    <a:bodyPr/>
                    <a:lstStyle/>
                    <a:p>
                      <a:pPr algn="l"/>
                      <a:r>
                        <a:rPr sz="1200" b="0" i="0" dirty="0">
                          <a:solidFill>
                            <a:srgbClr val="1F2A40"/>
                          </a:solidFill>
                          <a:latin typeface="Calibri"/>
                        </a:rPr>
                        <a:t>Force</a:t>
                      </a:r>
                    </a:p>
                  </a:txBody>
                  <a:tcPr>
                    <a:solidFill>
                      <a:srgbClr val="FFFFFF"/>
                    </a:solidFill>
                  </a:tcPr>
                </a:tc>
                <a:tc>
                  <a:txBody>
                    <a:bodyPr/>
                    <a:lstStyle/>
                    <a:p>
                      <a:pPr algn="l"/>
                      <a:r>
                        <a:rPr sz="1200" b="0" i="0">
                          <a:solidFill>
                            <a:srgbClr val="1F2A40"/>
                          </a:solidFill>
                          <a:latin typeface="Calibri"/>
                        </a:rPr>
                        <a:t>Borg CR10 lifting rating</a:t>
                      </a:r>
                    </a:p>
                  </a:txBody>
                  <a:tcPr>
                    <a:solidFill>
                      <a:srgbClr val="FFFFFF"/>
                    </a:solidFill>
                  </a:tcPr>
                </a:tc>
                <a:tc>
                  <a:txBody>
                    <a:bodyPr/>
                    <a:lstStyle/>
                    <a:p>
                      <a:pPr algn="l"/>
                      <a:r>
                        <a:rPr sz="1200" b="0" i="0">
                          <a:solidFill>
                            <a:srgbClr val="1F2A40"/>
                          </a:solidFill>
                          <a:latin typeface="Calibri"/>
                        </a:rPr>
                        <a:t>0-3 / 4-6 / 7-10 (Borg)</a:t>
                      </a:r>
                    </a:p>
                  </a:txBody>
                  <a:tcPr>
                    <a:solidFill>
                      <a:srgbClr val="FFFFFF"/>
                    </a:solidFill>
                  </a:tcPr>
                </a:tc>
                <a:tc>
                  <a:txBody>
                    <a:bodyPr/>
                    <a:lstStyle/>
                    <a:p>
                      <a:pPr algn="l"/>
                      <a:r>
                        <a:rPr sz="1200" b="0" i="0" dirty="0">
                          <a:solidFill>
                            <a:srgbClr val="1F2A40"/>
                          </a:solidFill>
                          <a:latin typeface="Calibri"/>
                        </a:rPr>
                        <a:t>90</a:t>
                      </a:r>
                    </a:p>
                  </a:txBody>
                  <a:tcPr>
                    <a:solidFill>
                      <a:srgbClr val="FFFFFF"/>
                    </a:solidFill>
                  </a:tcPr>
                </a:tc>
                <a:tc>
                  <a:txBody>
                    <a:bodyPr/>
                    <a:lstStyle/>
                    <a:p>
                      <a:pPr algn="l"/>
                      <a:r>
                        <a:rPr sz="1200" b="0" i="0">
                          <a:solidFill>
                            <a:srgbClr val="1F2A40"/>
                          </a:solidFill>
                          <a:latin typeface="Calibri"/>
                        </a:rPr>
                        <a:t>57</a:t>
                      </a:r>
                    </a:p>
                  </a:txBody>
                  <a:tcPr>
                    <a:solidFill>
                      <a:srgbClr val="FFFFFF"/>
                    </a:solidFill>
                  </a:tcPr>
                </a:tc>
                <a:tc>
                  <a:txBody>
                    <a:bodyPr/>
                    <a:lstStyle/>
                    <a:p>
                      <a:pPr algn="l"/>
                      <a:r>
                        <a:rPr sz="1200" b="0" i="0">
                          <a:solidFill>
                            <a:srgbClr val="1F2A40"/>
                          </a:solidFill>
                          <a:latin typeface="Calibri"/>
                        </a:rPr>
                        <a:t>35</a:t>
                      </a:r>
                    </a:p>
                  </a:txBody>
                  <a:tcPr>
                    <a:solidFill>
                      <a:srgbClr val="FFFFFF"/>
                    </a:solidFill>
                  </a:tcPr>
                </a:tc>
                <a:extLst>
                  <a:ext uri="{0D108BD9-81ED-4DB2-BD59-A6C34878D82A}">
                    <a16:rowId xmlns:a16="http://schemas.microsoft.com/office/drawing/2014/main" val="10001"/>
                  </a:ext>
                </a:extLst>
              </a:tr>
              <a:tr h="457200">
                <a:tc>
                  <a:txBody>
                    <a:bodyPr/>
                    <a:lstStyle/>
                    <a:p>
                      <a:pPr algn="l"/>
                      <a:r>
                        <a:rPr sz="1200" b="0" i="0">
                          <a:solidFill>
                            <a:srgbClr val="1F2A40"/>
                          </a:solidFill>
                          <a:latin typeface="Calibri"/>
                        </a:rPr>
                        <a:t>Repetition</a:t>
                      </a:r>
                    </a:p>
                  </a:txBody>
                  <a:tcPr>
                    <a:solidFill>
                      <a:srgbClr val="F7F8FA"/>
                    </a:solidFill>
                  </a:tcPr>
                </a:tc>
                <a:tc>
                  <a:txBody>
                    <a:bodyPr/>
                    <a:lstStyle/>
                    <a:p>
                      <a:pPr algn="l"/>
                      <a:r>
                        <a:rPr sz="1200" b="0" i="0" dirty="0">
                          <a:solidFill>
                            <a:srgbClr val="1F2A40"/>
                          </a:solidFill>
                          <a:latin typeface="Calibri"/>
                        </a:rPr>
                        <a:t>deliveries per hour</a:t>
                      </a:r>
                    </a:p>
                  </a:txBody>
                  <a:tcPr>
                    <a:solidFill>
                      <a:srgbClr val="F7F8FA"/>
                    </a:solidFill>
                  </a:tcPr>
                </a:tc>
                <a:tc>
                  <a:txBody>
                    <a:bodyPr/>
                    <a:lstStyle/>
                    <a:p>
                      <a:pPr algn="l"/>
                      <a:r>
                        <a:rPr sz="1200" b="0" i="0">
                          <a:solidFill>
                            <a:srgbClr val="1F2A40"/>
                          </a:solidFill>
                          <a:latin typeface="Calibri"/>
                        </a:rPr>
                        <a:t>cut at 2.5 &amp; 3.75 dph</a:t>
                      </a:r>
                    </a:p>
                  </a:txBody>
                  <a:tcPr>
                    <a:solidFill>
                      <a:srgbClr val="F7F8FA"/>
                    </a:solidFill>
                  </a:tcPr>
                </a:tc>
                <a:tc>
                  <a:txBody>
                    <a:bodyPr/>
                    <a:lstStyle/>
                    <a:p>
                      <a:pPr algn="l"/>
                      <a:r>
                        <a:rPr sz="1200" b="0" i="0">
                          <a:solidFill>
                            <a:srgbClr val="1F2A40"/>
                          </a:solidFill>
                          <a:latin typeface="Calibri"/>
                        </a:rPr>
                        <a:t>26</a:t>
                      </a:r>
                    </a:p>
                  </a:txBody>
                  <a:tcPr>
                    <a:solidFill>
                      <a:srgbClr val="F7F8FA"/>
                    </a:solidFill>
                  </a:tcPr>
                </a:tc>
                <a:tc>
                  <a:txBody>
                    <a:bodyPr/>
                    <a:lstStyle/>
                    <a:p>
                      <a:pPr algn="l"/>
                      <a:r>
                        <a:rPr sz="1200" b="0" i="0">
                          <a:solidFill>
                            <a:srgbClr val="1F2A40"/>
                          </a:solidFill>
                          <a:latin typeface="Calibri"/>
                        </a:rPr>
                        <a:t>82</a:t>
                      </a:r>
                    </a:p>
                  </a:txBody>
                  <a:tcPr>
                    <a:solidFill>
                      <a:srgbClr val="F7F8FA"/>
                    </a:solidFill>
                  </a:tcPr>
                </a:tc>
                <a:tc>
                  <a:txBody>
                    <a:bodyPr/>
                    <a:lstStyle/>
                    <a:p>
                      <a:pPr algn="l"/>
                      <a:r>
                        <a:rPr sz="1200" b="0" i="0">
                          <a:solidFill>
                            <a:srgbClr val="1F2A40"/>
                          </a:solidFill>
                          <a:latin typeface="Calibri"/>
                        </a:rPr>
                        <a:t>74</a:t>
                      </a:r>
                    </a:p>
                  </a:txBody>
                  <a:tcPr>
                    <a:solidFill>
                      <a:srgbClr val="F7F8FA"/>
                    </a:solidFill>
                  </a:tcPr>
                </a:tc>
                <a:extLst>
                  <a:ext uri="{0D108BD9-81ED-4DB2-BD59-A6C34878D82A}">
                    <a16:rowId xmlns:a16="http://schemas.microsoft.com/office/drawing/2014/main" val="10002"/>
                  </a:ext>
                </a:extLst>
              </a:tr>
              <a:tr h="457200">
                <a:tc>
                  <a:txBody>
                    <a:bodyPr/>
                    <a:lstStyle/>
                    <a:p>
                      <a:pPr algn="l"/>
                      <a:r>
                        <a:rPr sz="1200" b="0" i="0">
                          <a:solidFill>
                            <a:srgbClr val="1F2A40"/>
                          </a:solidFill>
                          <a:latin typeface="Calibri"/>
                        </a:rPr>
                        <a:t>Duration</a:t>
                      </a:r>
                    </a:p>
                  </a:txBody>
                  <a:tcPr>
                    <a:solidFill>
                      <a:srgbClr val="FFFFFF"/>
                    </a:solidFill>
                  </a:tcPr>
                </a:tc>
                <a:tc>
                  <a:txBody>
                    <a:bodyPr/>
                    <a:lstStyle/>
                    <a:p>
                      <a:pPr algn="l"/>
                      <a:r>
                        <a:rPr sz="1200" b="0" i="0" dirty="0">
                          <a:solidFill>
                            <a:srgbClr val="1F2A40"/>
                          </a:solidFill>
                          <a:latin typeface="Calibri"/>
                        </a:rPr>
                        <a:t>continuous work hours</a:t>
                      </a:r>
                    </a:p>
                  </a:txBody>
                  <a:tcPr>
                    <a:solidFill>
                      <a:srgbClr val="FFFFFF"/>
                    </a:solidFill>
                  </a:tcPr>
                </a:tc>
                <a:tc>
                  <a:txBody>
                    <a:bodyPr/>
                    <a:lstStyle/>
                    <a:p>
                      <a:pPr algn="l"/>
                      <a:r>
                        <a:rPr sz="1200" b="0" i="0">
                          <a:solidFill>
                            <a:srgbClr val="1F2A40"/>
                          </a:solidFill>
                          <a:latin typeface="Calibri"/>
                        </a:rPr>
                        <a:t>&lt;= 5 / 6-7 / &gt; 7 hrs</a:t>
                      </a:r>
                    </a:p>
                  </a:txBody>
                  <a:tcPr>
                    <a:solidFill>
                      <a:srgbClr val="FFFFFF"/>
                    </a:solidFill>
                  </a:tcPr>
                </a:tc>
                <a:tc>
                  <a:txBody>
                    <a:bodyPr/>
                    <a:lstStyle/>
                    <a:p>
                      <a:pPr algn="l"/>
                      <a:r>
                        <a:rPr sz="1200" b="0" i="0">
                          <a:solidFill>
                            <a:srgbClr val="1F2A40"/>
                          </a:solidFill>
                          <a:latin typeface="Calibri"/>
                        </a:rPr>
                        <a:t>37</a:t>
                      </a:r>
                    </a:p>
                  </a:txBody>
                  <a:tcPr>
                    <a:solidFill>
                      <a:srgbClr val="FFFFFF"/>
                    </a:solidFill>
                  </a:tcPr>
                </a:tc>
                <a:tc>
                  <a:txBody>
                    <a:bodyPr/>
                    <a:lstStyle/>
                    <a:p>
                      <a:pPr algn="l"/>
                      <a:r>
                        <a:rPr sz="1200" b="0" i="0">
                          <a:solidFill>
                            <a:srgbClr val="1F2A40"/>
                          </a:solidFill>
                          <a:latin typeface="Calibri"/>
                        </a:rPr>
                        <a:t>56</a:t>
                      </a:r>
                    </a:p>
                  </a:txBody>
                  <a:tcPr>
                    <a:solidFill>
                      <a:srgbClr val="FFFFFF"/>
                    </a:solidFill>
                  </a:tcPr>
                </a:tc>
                <a:tc>
                  <a:txBody>
                    <a:bodyPr/>
                    <a:lstStyle/>
                    <a:p>
                      <a:pPr algn="l"/>
                      <a:r>
                        <a:rPr sz="1200" b="0" i="0">
                          <a:solidFill>
                            <a:srgbClr val="1F2A40"/>
                          </a:solidFill>
                          <a:latin typeface="Calibri"/>
                        </a:rPr>
                        <a:t>89</a:t>
                      </a:r>
                    </a:p>
                  </a:txBody>
                  <a:tcPr>
                    <a:solidFill>
                      <a:srgbClr val="FFFFFF"/>
                    </a:solidFill>
                  </a:tcPr>
                </a:tc>
                <a:extLst>
                  <a:ext uri="{0D108BD9-81ED-4DB2-BD59-A6C34878D82A}">
                    <a16:rowId xmlns:a16="http://schemas.microsoft.com/office/drawing/2014/main" val="10003"/>
                  </a:ext>
                </a:extLst>
              </a:tr>
              <a:tr h="457200">
                <a:tc>
                  <a:txBody>
                    <a:bodyPr/>
                    <a:lstStyle/>
                    <a:p>
                      <a:pPr algn="l"/>
                      <a:r>
                        <a:rPr sz="1200" b="0" i="0">
                          <a:solidFill>
                            <a:srgbClr val="1F2A40"/>
                          </a:solidFill>
                          <a:latin typeface="Calibri"/>
                        </a:rPr>
                        <a:t>Vibration</a:t>
                      </a:r>
                    </a:p>
                  </a:txBody>
                  <a:tcPr>
                    <a:solidFill>
                      <a:srgbClr val="F7F8FA"/>
                    </a:solidFill>
                  </a:tcPr>
                </a:tc>
                <a:tc>
                  <a:txBody>
                    <a:bodyPr/>
                    <a:lstStyle/>
                    <a:p>
                      <a:pPr algn="l"/>
                      <a:r>
                        <a:rPr sz="1200" b="0" i="0" dirty="0">
                          <a:solidFill>
                            <a:srgbClr val="1F2A40"/>
                          </a:solidFill>
                          <a:latin typeface="Calibri"/>
                        </a:rPr>
                        <a:t>vehicle rank x work hours</a:t>
                      </a:r>
                    </a:p>
                  </a:txBody>
                  <a:tcPr>
                    <a:solidFill>
                      <a:srgbClr val="F7F8FA"/>
                    </a:solidFill>
                  </a:tcPr>
                </a:tc>
                <a:tc>
                  <a:txBody>
                    <a:bodyPr/>
                    <a:lstStyle/>
                    <a:p>
                      <a:pPr algn="l"/>
                      <a:r>
                        <a:rPr sz="1200" b="0" i="0">
                          <a:solidFill>
                            <a:srgbClr val="1F2A40"/>
                          </a:solidFill>
                          <a:latin typeface="Calibri"/>
                        </a:rPr>
                        <a:t>sample tercile</a:t>
                      </a:r>
                    </a:p>
                  </a:txBody>
                  <a:tcPr>
                    <a:solidFill>
                      <a:srgbClr val="F7F8FA"/>
                    </a:solidFill>
                  </a:tcPr>
                </a:tc>
                <a:tc>
                  <a:txBody>
                    <a:bodyPr/>
                    <a:lstStyle/>
                    <a:p>
                      <a:pPr algn="l"/>
                      <a:r>
                        <a:rPr sz="1200" b="0" i="0">
                          <a:solidFill>
                            <a:srgbClr val="1F2A40"/>
                          </a:solidFill>
                          <a:latin typeface="Calibri"/>
                        </a:rPr>
                        <a:t>67</a:t>
                      </a:r>
                    </a:p>
                  </a:txBody>
                  <a:tcPr>
                    <a:solidFill>
                      <a:srgbClr val="F7F8FA"/>
                    </a:solidFill>
                  </a:tcPr>
                </a:tc>
                <a:tc>
                  <a:txBody>
                    <a:bodyPr/>
                    <a:lstStyle/>
                    <a:p>
                      <a:pPr algn="l"/>
                      <a:r>
                        <a:rPr sz="1200" b="0" i="0">
                          <a:solidFill>
                            <a:srgbClr val="1F2A40"/>
                          </a:solidFill>
                          <a:latin typeface="Calibri"/>
                        </a:rPr>
                        <a:t>68</a:t>
                      </a:r>
                    </a:p>
                  </a:txBody>
                  <a:tcPr>
                    <a:solidFill>
                      <a:srgbClr val="F7F8FA"/>
                    </a:solidFill>
                  </a:tcPr>
                </a:tc>
                <a:tc>
                  <a:txBody>
                    <a:bodyPr/>
                    <a:lstStyle/>
                    <a:p>
                      <a:pPr algn="l"/>
                      <a:r>
                        <a:rPr sz="1200" b="0" i="0">
                          <a:solidFill>
                            <a:srgbClr val="1F2A40"/>
                          </a:solidFill>
                          <a:latin typeface="Calibri"/>
                        </a:rPr>
                        <a:t>47</a:t>
                      </a:r>
                    </a:p>
                  </a:txBody>
                  <a:tcPr>
                    <a:solidFill>
                      <a:srgbClr val="F7F8FA"/>
                    </a:solidFill>
                  </a:tcPr>
                </a:tc>
                <a:extLst>
                  <a:ext uri="{0D108BD9-81ED-4DB2-BD59-A6C34878D82A}">
                    <a16:rowId xmlns:a16="http://schemas.microsoft.com/office/drawing/2014/main" val="10004"/>
                  </a:ext>
                </a:extLst>
              </a:tr>
              <a:tr h="457200">
                <a:tc>
                  <a:txBody>
                    <a:bodyPr/>
                    <a:lstStyle/>
                    <a:p>
                      <a:pPr algn="l"/>
                      <a:r>
                        <a:rPr sz="1200" b="0" i="0">
                          <a:solidFill>
                            <a:srgbClr val="1F2A40"/>
                          </a:solidFill>
                          <a:latin typeface="Calibri"/>
                        </a:rPr>
                        <a:t>Contact Stress</a:t>
                      </a:r>
                    </a:p>
                  </a:txBody>
                  <a:tcPr>
                    <a:solidFill>
                      <a:srgbClr val="FFFFFF"/>
                    </a:solidFill>
                  </a:tcPr>
                </a:tc>
                <a:tc>
                  <a:txBody>
                    <a:bodyPr/>
                    <a:lstStyle/>
                    <a:p>
                      <a:pPr algn="l"/>
                      <a:r>
                        <a:rPr sz="1200" b="0" i="0">
                          <a:solidFill>
                            <a:srgbClr val="1F2A40"/>
                          </a:solidFill>
                          <a:latin typeface="Calibri"/>
                        </a:rPr>
                        <a:t>carrying mode x hours x age</a:t>
                      </a:r>
                    </a:p>
                  </a:txBody>
                  <a:tcPr>
                    <a:solidFill>
                      <a:srgbClr val="FFFFFF"/>
                    </a:solidFill>
                  </a:tcPr>
                </a:tc>
                <a:tc>
                  <a:txBody>
                    <a:bodyPr/>
                    <a:lstStyle/>
                    <a:p>
                      <a:pPr algn="l"/>
                      <a:r>
                        <a:rPr sz="1200" b="0" i="0">
                          <a:solidFill>
                            <a:srgbClr val="1F2A40"/>
                          </a:solidFill>
                          <a:latin typeface="Calibri"/>
                        </a:rPr>
                        <a:t>sample tercile</a:t>
                      </a:r>
                    </a:p>
                  </a:txBody>
                  <a:tcPr>
                    <a:solidFill>
                      <a:srgbClr val="FFFFFF"/>
                    </a:solidFill>
                  </a:tcPr>
                </a:tc>
                <a:tc>
                  <a:txBody>
                    <a:bodyPr/>
                    <a:lstStyle/>
                    <a:p>
                      <a:pPr algn="l"/>
                      <a:r>
                        <a:rPr sz="1200" b="0" i="0">
                          <a:solidFill>
                            <a:srgbClr val="1F2A40"/>
                          </a:solidFill>
                          <a:latin typeface="Calibri"/>
                        </a:rPr>
                        <a:t>68</a:t>
                      </a:r>
                    </a:p>
                  </a:txBody>
                  <a:tcPr>
                    <a:solidFill>
                      <a:srgbClr val="FFFFFF"/>
                    </a:solidFill>
                  </a:tcPr>
                </a:tc>
                <a:tc>
                  <a:txBody>
                    <a:bodyPr/>
                    <a:lstStyle/>
                    <a:p>
                      <a:pPr algn="l"/>
                      <a:r>
                        <a:rPr sz="1200" b="0" i="0">
                          <a:solidFill>
                            <a:srgbClr val="1F2A40"/>
                          </a:solidFill>
                          <a:latin typeface="Calibri"/>
                        </a:rPr>
                        <a:t>58</a:t>
                      </a:r>
                    </a:p>
                  </a:txBody>
                  <a:tcPr>
                    <a:solidFill>
                      <a:srgbClr val="FFFFFF"/>
                    </a:solidFill>
                  </a:tcPr>
                </a:tc>
                <a:tc>
                  <a:txBody>
                    <a:bodyPr/>
                    <a:lstStyle/>
                    <a:p>
                      <a:pPr algn="l"/>
                      <a:r>
                        <a:rPr sz="1200" b="0" i="0">
                          <a:solidFill>
                            <a:srgbClr val="1F2A40"/>
                          </a:solidFill>
                          <a:latin typeface="Calibri"/>
                        </a:rPr>
                        <a:t>56</a:t>
                      </a:r>
                    </a:p>
                  </a:txBody>
                  <a:tcPr>
                    <a:solidFill>
                      <a:srgbClr val="FFFFFF"/>
                    </a:solidFill>
                  </a:tcPr>
                </a:tc>
                <a:extLst>
                  <a:ext uri="{0D108BD9-81ED-4DB2-BD59-A6C34878D82A}">
                    <a16:rowId xmlns:a16="http://schemas.microsoft.com/office/drawing/2014/main" val="10005"/>
                  </a:ext>
                </a:extLst>
              </a:tr>
              <a:tr h="457200">
                <a:tc>
                  <a:txBody>
                    <a:bodyPr/>
                    <a:lstStyle/>
                    <a:p>
                      <a:pPr algn="l"/>
                      <a:r>
                        <a:rPr sz="1200" b="0" i="0">
                          <a:solidFill>
                            <a:srgbClr val="1F2A40"/>
                          </a:solidFill>
                          <a:latin typeface="Calibri"/>
                        </a:rPr>
                        <a:t>Posture</a:t>
                      </a:r>
                    </a:p>
                  </a:txBody>
                  <a:tcPr>
                    <a:solidFill>
                      <a:srgbClr val="F7F8FA"/>
                    </a:solidFill>
                  </a:tcPr>
                </a:tc>
                <a:tc>
                  <a:txBody>
                    <a:bodyPr/>
                    <a:lstStyle/>
                    <a:p>
                      <a:pPr algn="l"/>
                      <a:r>
                        <a:rPr sz="1200" b="0" i="0">
                          <a:solidFill>
                            <a:srgbClr val="1F2A40"/>
                          </a:solidFill>
                          <a:latin typeface="Calibri"/>
                        </a:rPr>
                        <a:t>RULA Table C grand score</a:t>
                      </a:r>
                    </a:p>
                  </a:txBody>
                  <a:tcPr>
                    <a:solidFill>
                      <a:srgbClr val="F7F8FA"/>
                    </a:solidFill>
                  </a:tcPr>
                </a:tc>
                <a:tc>
                  <a:txBody>
                    <a:bodyPr/>
                    <a:lstStyle/>
                    <a:p>
                      <a:pPr algn="l"/>
                      <a:r>
                        <a:rPr sz="1200" b="0" i="0">
                          <a:solidFill>
                            <a:srgbClr val="1F2A40"/>
                          </a:solidFill>
                          <a:latin typeface="Calibri"/>
                        </a:rPr>
                        <a:t>grand score 1-2 / 3-4 / 5+</a:t>
                      </a:r>
                    </a:p>
                  </a:txBody>
                  <a:tcPr>
                    <a:solidFill>
                      <a:srgbClr val="F7F8FA"/>
                    </a:solidFill>
                  </a:tcPr>
                </a:tc>
                <a:tc>
                  <a:txBody>
                    <a:bodyPr/>
                    <a:lstStyle/>
                    <a:p>
                      <a:pPr algn="l"/>
                      <a:r>
                        <a:rPr sz="1200" b="0" i="0">
                          <a:solidFill>
                            <a:srgbClr val="1F2A40"/>
                          </a:solidFill>
                          <a:latin typeface="Calibri"/>
                        </a:rPr>
                        <a:t>0</a:t>
                      </a:r>
                    </a:p>
                  </a:txBody>
                  <a:tcPr>
                    <a:solidFill>
                      <a:srgbClr val="F7F8FA"/>
                    </a:solidFill>
                  </a:tcPr>
                </a:tc>
                <a:tc>
                  <a:txBody>
                    <a:bodyPr/>
                    <a:lstStyle/>
                    <a:p>
                      <a:pPr algn="l"/>
                      <a:r>
                        <a:rPr sz="1200" b="0" i="0">
                          <a:solidFill>
                            <a:srgbClr val="1F2A40"/>
                          </a:solidFill>
                          <a:latin typeface="Calibri"/>
                        </a:rPr>
                        <a:t>29</a:t>
                      </a:r>
                    </a:p>
                  </a:txBody>
                  <a:tcPr>
                    <a:solidFill>
                      <a:srgbClr val="F7F8FA"/>
                    </a:solidFill>
                  </a:tcPr>
                </a:tc>
                <a:tc>
                  <a:txBody>
                    <a:bodyPr/>
                    <a:lstStyle/>
                    <a:p>
                      <a:pPr algn="l"/>
                      <a:r>
                        <a:rPr sz="1200" b="0" i="0" dirty="0">
                          <a:solidFill>
                            <a:srgbClr val="1F2A40"/>
                          </a:solidFill>
                          <a:latin typeface="Calibri"/>
                        </a:rPr>
                        <a:t>153</a:t>
                      </a:r>
                    </a:p>
                  </a:txBody>
                  <a:tcPr>
                    <a:solidFill>
                      <a:srgbClr val="F7F8F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5212080"/>
            <a:ext cx="10789920" cy="914400"/>
          </a:xfrm>
          <a:prstGeom prst="rect">
            <a:avLst/>
          </a:prstGeom>
          <a:noFill/>
        </p:spPr>
        <p:txBody>
          <a:bodyPr wrap="square">
            <a:spAutoFit/>
          </a:bodyPr>
          <a:lstStyle/>
          <a:p>
            <a:pPr algn="l"/>
            <a:r>
              <a:rPr sz="1300" b="0" i="0">
                <a:solidFill>
                  <a:srgbClr val="6B7282"/>
                </a:solidFill>
                <a:latin typeface="Calibri"/>
              </a:rPr>
              <a:t>Posture (84% High), Duration (49%), and Repetition (41%) skew heavily toward High. Posture has no Low observations because the training-data minimum RULA Table C grand score is 3 (Medium); SMOTE inside every training fold handles the resulting Stage-2 class imbalance.</a:t>
            </a:r>
          </a:p>
        </p:txBody>
      </p:sp>
      <p:sp>
        <p:nvSpPr>
          <p:cNvPr id="8" name="TextBox 7"/>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5/10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05  STAGE 2</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Machine-Learning Pipeline</a:t>
            </a:r>
          </a:p>
        </p:txBody>
      </p:sp>
      <p:sp>
        <p:nvSpPr>
          <p:cNvPr id="6" name="TextBox 5"/>
          <p:cNvSpPr txBox="1"/>
          <p:nvPr/>
        </p:nvSpPr>
        <p:spPr>
          <a:xfrm>
            <a:off x="640080" y="1691640"/>
            <a:ext cx="5760720" cy="365760"/>
          </a:xfrm>
          <a:prstGeom prst="rect">
            <a:avLst/>
          </a:prstGeom>
          <a:noFill/>
        </p:spPr>
        <p:txBody>
          <a:bodyPr wrap="square">
            <a:spAutoFit/>
          </a:bodyPr>
          <a:lstStyle/>
          <a:p>
            <a:pPr algn="l"/>
            <a:r>
              <a:rPr sz="1500" b="1" i="0">
                <a:solidFill>
                  <a:srgbClr val="0F1F3A"/>
                </a:solidFill>
                <a:latin typeface="Calibri"/>
              </a:rPr>
              <a:t>Seven ML models tried</a:t>
            </a:r>
          </a:p>
        </p:txBody>
      </p:sp>
      <p:sp>
        <p:nvSpPr>
          <p:cNvPr id="7" name="TextBox 6"/>
          <p:cNvSpPr txBox="1"/>
          <p:nvPr/>
        </p:nvSpPr>
        <p:spPr>
          <a:xfrm>
            <a:off x="640080" y="2103120"/>
            <a:ext cx="5760720" cy="2194560"/>
          </a:xfrm>
          <a:prstGeom prst="rect">
            <a:avLst/>
          </a:prstGeom>
          <a:noFill/>
        </p:spPr>
        <p:txBody>
          <a:bodyPr wrap="square">
            <a:spAutoFit/>
          </a:bodyPr>
          <a:lstStyle/>
          <a:p>
            <a:pPr algn="l">
              <a:spcAft>
                <a:spcPts val="600"/>
              </a:spcAft>
            </a:pPr>
            <a:r>
              <a:rPr sz="1300" b="1" i="0">
                <a:solidFill>
                  <a:srgbClr val="0F766E"/>
                </a:solidFill>
                <a:latin typeface="Calibri"/>
              </a:rPr>
              <a:t>•   </a:t>
            </a:r>
            <a:r>
              <a:rPr sz="1300" b="0" i="0">
                <a:solidFill>
                  <a:srgbClr val="1F2A40"/>
                </a:solidFill>
                <a:latin typeface="Calibri"/>
              </a:rPr>
              <a:t>Logistic Regression (baseline linear model)</a:t>
            </a:r>
          </a:p>
          <a:p>
            <a:pPr algn="l">
              <a:spcAft>
                <a:spcPts val="600"/>
              </a:spcAft>
            </a:pPr>
            <a:r>
              <a:rPr sz="1300" b="1" i="0">
                <a:solidFill>
                  <a:srgbClr val="0F766E"/>
                </a:solidFill>
                <a:latin typeface="Calibri"/>
              </a:rPr>
              <a:t>•   </a:t>
            </a:r>
            <a:r>
              <a:rPr sz="1300" b="0" i="0">
                <a:solidFill>
                  <a:srgbClr val="1F2A40"/>
                </a:solidFill>
                <a:latin typeface="Calibri"/>
              </a:rPr>
              <a:t>Decision Tree, Random Forest, Extra Trees (tree-based)</a:t>
            </a:r>
          </a:p>
          <a:p>
            <a:pPr algn="l">
              <a:spcAft>
                <a:spcPts val="600"/>
              </a:spcAft>
            </a:pPr>
            <a:r>
              <a:rPr sz="1300" b="1" i="0">
                <a:solidFill>
                  <a:srgbClr val="0F766E"/>
                </a:solidFill>
                <a:latin typeface="Calibri"/>
              </a:rPr>
              <a:t>•   </a:t>
            </a:r>
            <a:r>
              <a:rPr sz="1300" b="0" i="0">
                <a:solidFill>
                  <a:srgbClr val="1F2A40"/>
                </a:solidFill>
                <a:latin typeface="Calibri"/>
              </a:rPr>
              <a:t>Histogram Gradient Boosting, XGBoost (boosted trees)</a:t>
            </a:r>
          </a:p>
          <a:p>
            <a:pPr algn="l">
              <a:spcAft>
                <a:spcPts val="600"/>
              </a:spcAft>
            </a:pPr>
            <a:r>
              <a:rPr sz="1300" b="1" i="0">
                <a:solidFill>
                  <a:srgbClr val="0F766E"/>
                </a:solidFill>
                <a:latin typeface="Calibri"/>
              </a:rPr>
              <a:t>•   </a:t>
            </a:r>
            <a:r>
              <a:rPr sz="1300" b="0" i="0">
                <a:solidFill>
                  <a:srgbClr val="1F2A40"/>
                </a:solidFill>
                <a:latin typeface="Calibri"/>
              </a:rPr>
              <a:t>Stacking Classifier (blends the four tree/boosted models with LR on top)</a:t>
            </a:r>
          </a:p>
        </p:txBody>
      </p:sp>
      <p:sp>
        <p:nvSpPr>
          <p:cNvPr id="8" name="TextBox 7"/>
          <p:cNvSpPr txBox="1"/>
          <p:nvPr/>
        </p:nvSpPr>
        <p:spPr>
          <a:xfrm>
            <a:off x="640080" y="3566160"/>
            <a:ext cx="5760720" cy="365760"/>
          </a:xfrm>
          <a:prstGeom prst="rect">
            <a:avLst/>
          </a:prstGeom>
          <a:noFill/>
        </p:spPr>
        <p:txBody>
          <a:bodyPr wrap="square">
            <a:spAutoFit/>
          </a:bodyPr>
          <a:lstStyle/>
          <a:p>
            <a:pPr algn="l"/>
            <a:r>
              <a:rPr sz="1500" b="1" i="0" dirty="0">
                <a:solidFill>
                  <a:srgbClr val="0F1F3A"/>
                </a:solidFill>
                <a:latin typeface="Calibri"/>
              </a:rPr>
              <a:t>How each model is trained</a:t>
            </a:r>
          </a:p>
        </p:txBody>
      </p:sp>
      <p:sp>
        <p:nvSpPr>
          <p:cNvPr id="9" name="TextBox 8"/>
          <p:cNvSpPr txBox="1"/>
          <p:nvPr/>
        </p:nvSpPr>
        <p:spPr>
          <a:xfrm>
            <a:off x="640080" y="3959352"/>
            <a:ext cx="5760720" cy="1828800"/>
          </a:xfrm>
          <a:prstGeom prst="rect">
            <a:avLst/>
          </a:prstGeom>
          <a:noFill/>
        </p:spPr>
        <p:txBody>
          <a:bodyPr wrap="square">
            <a:spAutoFit/>
          </a:bodyPr>
          <a:lstStyle/>
          <a:p>
            <a:pPr algn="l">
              <a:spcAft>
                <a:spcPts val="600"/>
              </a:spcAft>
            </a:pPr>
            <a:r>
              <a:rPr sz="1300" b="1" i="0" dirty="0">
                <a:solidFill>
                  <a:srgbClr val="0F766E"/>
                </a:solidFill>
                <a:latin typeface="Calibri"/>
              </a:rPr>
              <a:t>•   </a:t>
            </a:r>
            <a:r>
              <a:rPr sz="1300" b="0" i="0" dirty="0">
                <a:solidFill>
                  <a:srgbClr val="1F2A40"/>
                </a:solidFill>
                <a:latin typeface="Calibri"/>
              </a:rPr>
              <a:t>5-fold cross-validation: the data is split into 5 slices; each model trains on 4 and is tested on the 5th, rotating through all 5.</a:t>
            </a:r>
          </a:p>
          <a:p>
            <a:pPr algn="l">
              <a:spcAft>
                <a:spcPts val="600"/>
              </a:spcAft>
            </a:pPr>
            <a:r>
              <a:rPr sz="1300" b="1" i="0" dirty="0">
                <a:solidFill>
                  <a:srgbClr val="0F766E"/>
                </a:solidFill>
                <a:latin typeface="Calibri"/>
              </a:rPr>
              <a:t>•   </a:t>
            </a:r>
            <a:r>
              <a:rPr sz="1300" b="0" i="0" dirty="0">
                <a:solidFill>
                  <a:srgbClr val="1F2A40"/>
                </a:solidFill>
                <a:latin typeface="Calibri"/>
              </a:rPr>
              <a:t>SMOTE up-samples rare risk levels inside each training fold only, never on the test data, so evaluation stays honest.</a:t>
            </a:r>
          </a:p>
          <a:p>
            <a:pPr algn="l">
              <a:spcAft>
                <a:spcPts val="600"/>
              </a:spcAft>
            </a:pPr>
            <a:r>
              <a:rPr sz="1300" b="1" i="0" dirty="0">
                <a:solidFill>
                  <a:srgbClr val="0F766E"/>
                </a:solidFill>
                <a:latin typeface="Calibri"/>
              </a:rPr>
              <a:t>•   </a:t>
            </a:r>
            <a:r>
              <a:rPr sz="1300" b="0" i="0" dirty="0">
                <a:solidFill>
                  <a:srgbClr val="1F2A40"/>
                </a:solidFill>
                <a:latin typeface="Calibri"/>
              </a:rPr>
              <a:t>Grid search picks the best hyperparameters using macro F1 (average across Low / Medium / High).</a:t>
            </a:r>
          </a:p>
          <a:p>
            <a:pPr algn="l">
              <a:spcAft>
                <a:spcPts val="600"/>
              </a:spcAft>
            </a:pPr>
            <a:r>
              <a:rPr sz="1300" b="1" i="0" dirty="0">
                <a:solidFill>
                  <a:srgbClr val="0F766E"/>
                </a:solidFill>
                <a:latin typeface="Calibri"/>
              </a:rPr>
              <a:t>•   </a:t>
            </a:r>
            <a:r>
              <a:rPr sz="1300" b="0" i="0" dirty="0">
                <a:solidFill>
                  <a:srgbClr val="1F2A40"/>
                </a:solidFill>
                <a:latin typeface="Calibri"/>
              </a:rPr>
              <a:t>The winning model is re-trained on the full sample and saved as a .</a:t>
            </a:r>
            <a:r>
              <a:rPr sz="1300" b="0" i="0" dirty="0" err="1">
                <a:solidFill>
                  <a:srgbClr val="1F2A40"/>
                </a:solidFill>
                <a:latin typeface="Calibri"/>
              </a:rPr>
              <a:t>pkl</a:t>
            </a:r>
            <a:r>
              <a:rPr sz="1300" b="0" i="0" dirty="0">
                <a:solidFill>
                  <a:srgbClr val="1F2A40"/>
                </a:solidFill>
                <a:latin typeface="Calibri"/>
              </a:rPr>
              <a:t> file for the web app.</a:t>
            </a:r>
          </a:p>
        </p:txBody>
      </p:sp>
      <p:sp>
        <p:nvSpPr>
          <p:cNvPr id="10" name="TextBox 9"/>
          <p:cNvSpPr txBox="1"/>
          <p:nvPr/>
        </p:nvSpPr>
        <p:spPr>
          <a:xfrm>
            <a:off x="6766560" y="1691640"/>
            <a:ext cx="4937760" cy="365760"/>
          </a:xfrm>
          <a:prstGeom prst="rect">
            <a:avLst/>
          </a:prstGeom>
          <a:noFill/>
        </p:spPr>
        <p:txBody>
          <a:bodyPr wrap="square">
            <a:spAutoFit/>
          </a:bodyPr>
          <a:lstStyle/>
          <a:p>
            <a:pPr algn="l"/>
            <a:r>
              <a:rPr sz="1500" b="1" i="0" dirty="0">
                <a:solidFill>
                  <a:srgbClr val="0F1F3A"/>
                </a:solidFill>
                <a:latin typeface="Calibri"/>
              </a:rPr>
              <a:t>Per-target feature exclusions</a:t>
            </a:r>
          </a:p>
        </p:txBody>
      </p:sp>
      <p:graphicFrame>
        <p:nvGraphicFramePr>
          <p:cNvPr id="11" name="Table 10"/>
          <p:cNvGraphicFramePr>
            <a:graphicFrameLocks noGrp="1"/>
          </p:cNvGraphicFramePr>
          <p:nvPr/>
        </p:nvGraphicFramePr>
        <p:xfrm>
          <a:off x="6766560" y="2103120"/>
          <a:ext cx="4937760" cy="2756265"/>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91885">
                <a:tc>
                  <a:txBody>
                    <a:bodyPr/>
                    <a:lstStyle/>
                    <a:p>
                      <a:pPr algn="l"/>
                      <a:r>
                        <a:rPr sz="1000" b="1" i="0">
                          <a:solidFill>
                            <a:srgbClr val="FFFFFF"/>
                          </a:solidFill>
                          <a:latin typeface="Calibri"/>
                        </a:rPr>
                        <a:t>Target</a:t>
                      </a:r>
                    </a:p>
                  </a:txBody>
                  <a:tcPr>
                    <a:solidFill>
                      <a:srgbClr val="0F1F3A"/>
                    </a:solidFill>
                  </a:tcPr>
                </a:tc>
                <a:tc>
                  <a:txBody>
                    <a:bodyPr/>
                    <a:lstStyle/>
                    <a:p>
                      <a:pPr algn="l"/>
                      <a:r>
                        <a:rPr sz="1000" b="1" i="0">
                          <a:solidFill>
                            <a:srgbClr val="FFFFFF"/>
                          </a:solidFill>
                          <a:latin typeface="Calibri"/>
                        </a:rPr>
                        <a:t>Excluded features</a:t>
                      </a:r>
                    </a:p>
                  </a:txBody>
                  <a:tcPr>
                    <a:solidFill>
                      <a:srgbClr val="0F1F3A"/>
                    </a:solidFill>
                  </a:tcPr>
                </a:tc>
                <a:tc>
                  <a:txBody>
                    <a:bodyPr/>
                    <a:lstStyle/>
                    <a:p>
                      <a:pPr algn="l"/>
                      <a:r>
                        <a:rPr sz="1000" b="1" i="0">
                          <a:solidFill>
                            <a:srgbClr val="FFFFFF"/>
                          </a:solidFill>
                          <a:latin typeface="Calibri"/>
                        </a:rPr>
                        <a:t>Feats</a:t>
                      </a:r>
                    </a:p>
                  </a:txBody>
                  <a:tcPr>
                    <a:solidFill>
                      <a:srgbClr val="0F1F3A"/>
                    </a:solidFill>
                  </a:tcPr>
                </a:tc>
                <a:extLst>
                  <a:ext uri="{0D108BD9-81ED-4DB2-BD59-A6C34878D82A}">
                    <a16:rowId xmlns:a16="http://schemas.microsoft.com/office/drawing/2014/main" val="10000"/>
                  </a:ext>
                </a:extLst>
              </a:tr>
              <a:tr h="391885">
                <a:tc>
                  <a:txBody>
                    <a:bodyPr/>
                    <a:lstStyle/>
                    <a:p>
                      <a:pPr algn="l"/>
                      <a:r>
                        <a:rPr sz="1000" b="0" i="0">
                          <a:solidFill>
                            <a:srgbClr val="1F2A40"/>
                          </a:solidFill>
                          <a:latin typeface="Calibri"/>
                        </a:rPr>
                        <a:t>Force</a:t>
                      </a:r>
                    </a:p>
                  </a:txBody>
                  <a:tcPr>
                    <a:solidFill>
                      <a:srgbClr val="FFFFFF"/>
                    </a:solidFill>
                  </a:tcPr>
                </a:tc>
                <a:tc>
                  <a:txBody>
                    <a:bodyPr/>
                    <a:lstStyle/>
                    <a:p>
                      <a:pPr algn="l"/>
                      <a:r>
                        <a:rPr sz="1000" b="0" i="0">
                          <a:solidFill>
                            <a:srgbClr val="1F2A40"/>
                          </a:solidFill>
                          <a:latin typeface="Calibri"/>
                        </a:rPr>
                        <a:t>force_exertion, force_x_age</a:t>
                      </a:r>
                    </a:p>
                  </a:txBody>
                  <a:tcPr>
                    <a:solidFill>
                      <a:srgbClr val="FFFFFF"/>
                    </a:solidFill>
                  </a:tcPr>
                </a:tc>
                <a:tc>
                  <a:txBody>
                    <a:bodyPr/>
                    <a:lstStyle/>
                    <a:p>
                      <a:pPr algn="l"/>
                      <a:r>
                        <a:rPr sz="1000" b="0" i="0">
                          <a:solidFill>
                            <a:srgbClr val="1F2A40"/>
                          </a:solidFill>
                          <a:latin typeface="Calibri"/>
                        </a:rPr>
                        <a:t>42</a:t>
                      </a:r>
                    </a:p>
                  </a:txBody>
                  <a:tcPr>
                    <a:solidFill>
                      <a:srgbClr val="FFFFFF"/>
                    </a:solidFill>
                  </a:tcPr>
                </a:tc>
                <a:extLst>
                  <a:ext uri="{0D108BD9-81ED-4DB2-BD59-A6C34878D82A}">
                    <a16:rowId xmlns:a16="http://schemas.microsoft.com/office/drawing/2014/main" val="10001"/>
                  </a:ext>
                </a:extLst>
              </a:tr>
              <a:tr h="391885">
                <a:tc>
                  <a:txBody>
                    <a:bodyPr/>
                    <a:lstStyle/>
                    <a:p>
                      <a:pPr algn="l"/>
                      <a:r>
                        <a:rPr sz="1000" b="0" i="0">
                          <a:solidFill>
                            <a:srgbClr val="1F2A40"/>
                          </a:solidFill>
                          <a:latin typeface="Calibri"/>
                        </a:rPr>
                        <a:t>Repetition</a:t>
                      </a:r>
                    </a:p>
                  </a:txBody>
                  <a:tcPr>
                    <a:solidFill>
                      <a:srgbClr val="F7F8FA"/>
                    </a:solidFill>
                  </a:tcPr>
                </a:tc>
                <a:tc>
                  <a:txBody>
                    <a:bodyPr/>
                    <a:lstStyle/>
                    <a:p>
                      <a:pPr algn="l"/>
                      <a:r>
                        <a:rPr sz="1000" b="0" i="0">
                          <a:solidFill>
                            <a:srgbClr val="1F2A40"/>
                          </a:solidFill>
                          <a:latin typeface="Calibri"/>
                        </a:rPr>
                        <a:t>deliveries_num, hours, deliv_x_days</a:t>
                      </a:r>
                    </a:p>
                  </a:txBody>
                  <a:tcPr>
                    <a:solidFill>
                      <a:srgbClr val="F7F8FA"/>
                    </a:solidFill>
                  </a:tcPr>
                </a:tc>
                <a:tc>
                  <a:txBody>
                    <a:bodyPr/>
                    <a:lstStyle/>
                    <a:p>
                      <a:pPr algn="l"/>
                      <a:r>
                        <a:rPr sz="1000" b="0" i="0">
                          <a:solidFill>
                            <a:srgbClr val="1F2A40"/>
                          </a:solidFill>
                          <a:latin typeface="Calibri"/>
                        </a:rPr>
                        <a:t>41</a:t>
                      </a:r>
                    </a:p>
                  </a:txBody>
                  <a:tcPr>
                    <a:solidFill>
                      <a:srgbClr val="F7F8FA"/>
                    </a:solidFill>
                  </a:tcPr>
                </a:tc>
                <a:extLst>
                  <a:ext uri="{0D108BD9-81ED-4DB2-BD59-A6C34878D82A}">
                    <a16:rowId xmlns:a16="http://schemas.microsoft.com/office/drawing/2014/main" val="10002"/>
                  </a:ext>
                </a:extLst>
              </a:tr>
              <a:tr h="391885">
                <a:tc>
                  <a:txBody>
                    <a:bodyPr/>
                    <a:lstStyle/>
                    <a:p>
                      <a:pPr algn="l"/>
                      <a:r>
                        <a:rPr sz="1000" b="0" i="0">
                          <a:solidFill>
                            <a:srgbClr val="1F2A40"/>
                          </a:solidFill>
                          <a:latin typeface="Calibri"/>
                        </a:rPr>
                        <a:t>Duration</a:t>
                      </a:r>
                    </a:p>
                  </a:txBody>
                  <a:tcPr>
                    <a:solidFill>
                      <a:srgbClr val="FFFFFF"/>
                    </a:solidFill>
                  </a:tcPr>
                </a:tc>
                <a:tc>
                  <a:txBody>
                    <a:bodyPr/>
                    <a:lstStyle/>
                    <a:p>
                      <a:pPr algn="l"/>
                      <a:r>
                        <a:rPr sz="1000" b="0" i="0">
                          <a:solidFill>
                            <a:srgbClr val="1F2A40"/>
                          </a:solidFill>
                          <a:latin typeface="Calibri"/>
                        </a:rPr>
                        <a:t>work_hours_num, vibration_index</a:t>
                      </a:r>
                    </a:p>
                  </a:txBody>
                  <a:tcPr>
                    <a:solidFill>
                      <a:srgbClr val="FFFFFF"/>
                    </a:solidFill>
                  </a:tcPr>
                </a:tc>
                <a:tc>
                  <a:txBody>
                    <a:bodyPr/>
                    <a:lstStyle/>
                    <a:p>
                      <a:pPr algn="l"/>
                      <a:r>
                        <a:rPr sz="1000" b="0" i="0">
                          <a:solidFill>
                            <a:srgbClr val="1F2A40"/>
                          </a:solidFill>
                          <a:latin typeface="Calibri"/>
                        </a:rPr>
                        <a:t>42</a:t>
                      </a:r>
                    </a:p>
                  </a:txBody>
                  <a:tcPr>
                    <a:solidFill>
                      <a:srgbClr val="FFFFFF"/>
                    </a:solidFill>
                  </a:tcPr>
                </a:tc>
                <a:extLst>
                  <a:ext uri="{0D108BD9-81ED-4DB2-BD59-A6C34878D82A}">
                    <a16:rowId xmlns:a16="http://schemas.microsoft.com/office/drawing/2014/main" val="10003"/>
                  </a:ext>
                </a:extLst>
              </a:tr>
              <a:tr h="391885">
                <a:tc>
                  <a:txBody>
                    <a:bodyPr/>
                    <a:lstStyle/>
                    <a:p>
                      <a:pPr algn="l"/>
                      <a:r>
                        <a:rPr sz="1000" b="0" i="0">
                          <a:solidFill>
                            <a:srgbClr val="1F2A40"/>
                          </a:solidFill>
                          <a:latin typeface="Calibri"/>
                        </a:rPr>
                        <a:t>Vibration</a:t>
                      </a:r>
                    </a:p>
                  </a:txBody>
                  <a:tcPr>
                    <a:solidFill>
                      <a:srgbClr val="F7F8FA"/>
                    </a:solidFill>
                  </a:tcPr>
                </a:tc>
                <a:tc>
                  <a:txBody>
                    <a:bodyPr/>
                    <a:lstStyle/>
                    <a:p>
                      <a:pPr algn="l"/>
                      <a:r>
                        <a:rPr sz="1000" b="0" i="0">
                          <a:solidFill>
                            <a:srgbClr val="1F2A40"/>
                          </a:solidFill>
                          <a:latin typeface="Calibri"/>
                        </a:rPr>
                        <a:t>vibration_index, vehicle, hours</a:t>
                      </a:r>
                    </a:p>
                  </a:txBody>
                  <a:tcPr>
                    <a:solidFill>
                      <a:srgbClr val="F7F8FA"/>
                    </a:solidFill>
                  </a:tcPr>
                </a:tc>
                <a:tc>
                  <a:txBody>
                    <a:bodyPr/>
                    <a:lstStyle/>
                    <a:p>
                      <a:pPr algn="l"/>
                      <a:r>
                        <a:rPr sz="1000" b="0" i="0">
                          <a:solidFill>
                            <a:srgbClr val="1F2A40"/>
                          </a:solidFill>
                          <a:latin typeface="Calibri"/>
                        </a:rPr>
                        <a:t>41</a:t>
                      </a:r>
                    </a:p>
                  </a:txBody>
                  <a:tcPr>
                    <a:solidFill>
                      <a:srgbClr val="F7F8FA"/>
                    </a:solidFill>
                  </a:tcPr>
                </a:tc>
                <a:extLst>
                  <a:ext uri="{0D108BD9-81ED-4DB2-BD59-A6C34878D82A}">
                    <a16:rowId xmlns:a16="http://schemas.microsoft.com/office/drawing/2014/main" val="10004"/>
                  </a:ext>
                </a:extLst>
              </a:tr>
              <a:tr h="391885">
                <a:tc>
                  <a:txBody>
                    <a:bodyPr/>
                    <a:lstStyle/>
                    <a:p>
                      <a:pPr algn="l"/>
                      <a:r>
                        <a:rPr sz="1000" b="0" i="0">
                          <a:solidFill>
                            <a:srgbClr val="1F2A40"/>
                          </a:solidFill>
                          <a:latin typeface="Calibri"/>
                        </a:rPr>
                        <a:t>Contact Stress</a:t>
                      </a:r>
                    </a:p>
                  </a:txBody>
                  <a:tcPr>
                    <a:solidFill>
                      <a:srgbClr val="FFFFFF"/>
                    </a:solidFill>
                  </a:tcPr>
                </a:tc>
                <a:tc>
                  <a:txBody>
                    <a:bodyPr/>
                    <a:lstStyle/>
                    <a:p>
                      <a:pPr algn="l"/>
                      <a:r>
                        <a:rPr sz="1000" b="0" i="0">
                          <a:solidFill>
                            <a:srgbClr val="1F2A40"/>
                          </a:solidFill>
                          <a:latin typeface="Calibri"/>
                        </a:rPr>
                        <a:t>carry, work_hours_num</a:t>
                      </a:r>
                    </a:p>
                  </a:txBody>
                  <a:tcPr>
                    <a:solidFill>
                      <a:srgbClr val="FFFFFF"/>
                    </a:solidFill>
                  </a:tcPr>
                </a:tc>
                <a:tc>
                  <a:txBody>
                    <a:bodyPr/>
                    <a:lstStyle/>
                    <a:p>
                      <a:pPr algn="l"/>
                      <a:r>
                        <a:rPr sz="1000" b="0" i="0">
                          <a:solidFill>
                            <a:srgbClr val="1F2A40"/>
                          </a:solidFill>
                          <a:latin typeface="Calibri"/>
                        </a:rPr>
                        <a:t>42</a:t>
                      </a:r>
                    </a:p>
                  </a:txBody>
                  <a:tcPr>
                    <a:solidFill>
                      <a:srgbClr val="FFFFFF"/>
                    </a:solidFill>
                  </a:tcPr>
                </a:tc>
                <a:extLst>
                  <a:ext uri="{0D108BD9-81ED-4DB2-BD59-A6C34878D82A}">
                    <a16:rowId xmlns:a16="http://schemas.microsoft.com/office/drawing/2014/main" val="10005"/>
                  </a:ext>
                </a:extLst>
              </a:tr>
              <a:tr h="391890">
                <a:tc>
                  <a:txBody>
                    <a:bodyPr/>
                    <a:lstStyle/>
                    <a:p>
                      <a:pPr algn="l"/>
                      <a:r>
                        <a:rPr sz="1000" b="0" i="0">
                          <a:solidFill>
                            <a:srgbClr val="1F2A40"/>
                          </a:solidFill>
                          <a:latin typeface="Calibri"/>
                        </a:rPr>
                        <a:t>Posture</a:t>
                      </a:r>
                    </a:p>
                  </a:txBody>
                  <a:tcPr>
                    <a:solidFill>
                      <a:srgbClr val="F7F8FA"/>
                    </a:solidFill>
                  </a:tcPr>
                </a:tc>
                <a:tc>
                  <a:txBody>
                    <a:bodyPr/>
                    <a:lstStyle/>
                    <a:p>
                      <a:pPr algn="l"/>
                      <a:r>
                        <a:rPr sz="1000" b="0" i="0">
                          <a:solidFill>
                            <a:srgbClr val="1F2A40"/>
                          </a:solidFill>
                          <a:latin typeface="Calibri"/>
                        </a:rPr>
                        <a:t>(RULA Tables A/B/C only)</a:t>
                      </a:r>
                    </a:p>
                  </a:txBody>
                  <a:tcPr>
                    <a:solidFill>
                      <a:srgbClr val="F7F8FA"/>
                    </a:solidFill>
                  </a:tcPr>
                </a:tc>
                <a:tc>
                  <a:txBody>
                    <a:bodyPr/>
                    <a:lstStyle/>
                    <a:p>
                      <a:pPr algn="l"/>
                      <a:r>
                        <a:rPr sz="1000" b="0" i="0">
                          <a:solidFill>
                            <a:srgbClr val="1F2A40"/>
                          </a:solidFill>
                          <a:latin typeface="Calibri"/>
                        </a:rPr>
                        <a:t>63</a:t>
                      </a:r>
                    </a:p>
                  </a:txBody>
                  <a:tcPr>
                    <a:solidFill>
                      <a:srgbClr val="F7F8FA"/>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6766560" y="5029200"/>
            <a:ext cx="4937760" cy="914400"/>
          </a:xfrm>
          <a:prstGeom prst="rect">
            <a:avLst/>
          </a:prstGeom>
          <a:noFill/>
        </p:spPr>
        <p:txBody>
          <a:bodyPr wrap="square">
            <a:spAutoFit/>
          </a:bodyPr>
          <a:lstStyle/>
          <a:p>
            <a:pPr algn="l"/>
            <a:r>
              <a:rPr sz="1100" b="0" i="1">
                <a:solidFill>
                  <a:srgbClr val="6B7282"/>
                </a:solidFill>
                <a:latin typeface="Calibri"/>
              </a:rPr>
              <a:t>Each classifier must learn from the rest of the rider profile; it cannot memorise the Stage-1 rule.</a:t>
            </a:r>
          </a:p>
        </p:txBody>
      </p:sp>
      <p:sp>
        <p:nvSpPr>
          <p:cNvPr id="13" name="TextBox 12"/>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6/10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06  FINDINGS</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Statistical Findings</a:t>
            </a:r>
          </a:p>
        </p:txBody>
      </p:sp>
      <p:pic>
        <p:nvPicPr>
          <p:cNvPr id="6" name="Picture 5" descr="nordic_prevalence.png"/>
          <p:cNvPicPr>
            <a:picLocks noChangeAspect="1"/>
          </p:cNvPicPr>
          <p:nvPr/>
        </p:nvPicPr>
        <p:blipFill>
          <a:blip r:embed="rId2"/>
          <a:stretch>
            <a:fillRect/>
          </a:stretch>
        </p:blipFill>
        <p:spPr>
          <a:xfrm>
            <a:off x="1592061" y="1783080"/>
            <a:ext cx="3491345" cy="1920240"/>
          </a:xfrm>
          <a:prstGeom prst="rect">
            <a:avLst/>
          </a:prstGeom>
        </p:spPr>
      </p:pic>
      <p:sp>
        <p:nvSpPr>
          <p:cNvPr id="7" name="TextBox 6"/>
          <p:cNvSpPr txBox="1"/>
          <p:nvPr/>
        </p:nvSpPr>
        <p:spPr>
          <a:xfrm>
            <a:off x="1592061" y="3749040"/>
            <a:ext cx="3491345" cy="274320"/>
          </a:xfrm>
          <a:prstGeom prst="rect">
            <a:avLst/>
          </a:prstGeom>
          <a:noFill/>
        </p:spPr>
        <p:txBody>
          <a:bodyPr wrap="none">
            <a:spAutoFit/>
          </a:bodyPr>
          <a:lstStyle/>
          <a:p>
            <a:pPr algn="ctr"/>
            <a:r>
              <a:rPr sz="1000" b="0" i="1">
                <a:solidFill>
                  <a:srgbClr val="6B7282"/>
                </a:solidFill>
                <a:latin typeface="Calibri"/>
              </a:rPr>
              <a:t>NMQ 12-month pain prevalence (n = 182)</a:t>
            </a:r>
          </a:p>
        </p:txBody>
      </p:sp>
      <p:sp>
        <p:nvSpPr>
          <p:cNvPr id="8" name="TextBox 7"/>
          <p:cNvSpPr txBox="1"/>
          <p:nvPr/>
        </p:nvSpPr>
        <p:spPr>
          <a:xfrm>
            <a:off x="6400800" y="1737360"/>
            <a:ext cx="5303520" cy="320040"/>
          </a:xfrm>
          <a:prstGeom prst="rect">
            <a:avLst/>
          </a:prstGeom>
          <a:noFill/>
        </p:spPr>
        <p:txBody>
          <a:bodyPr wrap="square">
            <a:spAutoFit/>
          </a:bodyPr>
          <a:lstStyle/>
          <a:p>
            <a:pPr algn="l"/>
            <a:r>
              <a:rPr sz="1100" b="1" i="0">
                <a:solidFill>
                  <a:srgbClr val="0F1F3A"/>
                </a:solidFill>
                <a:latin typeface="Calibri"/>
              </a:rPr>
              <a:t>Logistic regression  |  top 6 of 7 significant predictors of any 12-month pain (deliveries_num also sig., OR 1.05, p 0.045)</a:t>
            </a:r>
          </a:p>
        </p:txBody>
      </p:sp>
      <p:graphicFrame>
        <p:nvGraphicFramePr>
          <p:cNvPr id="9" name="Table 8"/>
          <p:cNvGraphicFramePr>
            <a:graphicFrameLocks noGrp="1"/>
          </p:cNvGraphicFramePr>
          <p:nvPr/>
        </p:nvGraphicFramePr>
        <p:xfrm>
          <a:off x="6400800" y="2148840"/>
          <a:ext cx="5303520" cy="1963783"/>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261257">
                <a:tc>
                  <a:txBody>
                    <a:bodyPr/>
                    <a:lstStyle/>
                    <a:p>
                      <a:pPr algn="l"/>
                      <a:r>
                        <a:rPr sz="1000" b="1" i="0">
                          <a:solidFill>
                            <a:srgbClr val="FFFFFF"/>
                          </a:solidFill>
                          <a:latin typeface="Calibri"/>
                        </a:rPr>
                        <a:t>Predictor</a:t>
                      </a:r>
                    </a:p>
                  </a:txBody>
                  <a:tcPr>
                    <a:solidFill>
                      <a:srgbClr val="0F1F3A"/>
                    </a:solidFill>
                  </a:tcPr>
                </a:tc>
                <a:tc>
                  <a:txBody>
                    <a:bodyPr/>
                    <a:lstStyle/>
                    <a:p>
                      <a:pPr algn="l"/>
                      <a:r>
                        <a:rPr sz="1000" b="1" i="0">
                          <a:solidFill>
                            <a:srgbClr val="FFFFFF"/>
                          </a:solidFill>
                          <a:latin typeface="Calibri"/>
                        </a:rPr>
                        <a:t>OR</a:t>
                      </a:r>
                    </a:p>
                  </a:txBody>
                  <a:tcPr>
                    <a:solidFill>
                      <a:srgbClr val="0F1F3A"/>
                    </a:solidFill>
                  </a:tcPr>
                </a:tc>
                <a:tc>
                  <a:txBody>
                    <a:bodyPr/>
                    <a:lstStyle/>
                    <a:p>
                      <a:pPr algn="l"/>
                      <a:r>
                        <a:rPr sz="1000" b="1" i="0">
                          <a:solidFill>
                            <a:srgbClr val="FFFFFF"/>
                          </a:solidFill>
                          <a:latin typeface="Calibri"/>
                        </a:rPr>
                        <a:t>95% CI</a:t>
                      </a:r>
                    </a:p>
                  </a:txBody>
                  <a:tcPr>
                    <a:solidFill>
                      <a:srgbClr val="0F1F3A"/>
                    </a:solidFill>
                  </a:tcPr>
                </a:tc>
                <a:tc>
                  <a:txBody>
                    <a:bodyPr/>
                    <a:lstStyle/>
                    <a:p>
                      <a:pPr algn="l"/>
                      <a:r>
                        <a:rPr sz="1000" b="1" i="0">
                          <a:solidFill>
                            <a:srgbClr val="FFFFFF"/>
                          </a:solidFill>
                          <a:latin typeface="Calibri"/>
                        </a:rPr>
                        <a:t>p</a:t>
                      </a:r>
                    </a:p>
                  </a:txBody>
                  <a:tcPr>
                    <a:solidFill>
                      <a:srgbClr val="0F1F3A"/>
                    </a:solidFill>
                  </a:tcPr>
                </a:tc>
                <a:extLst>
                  <a:ext uri="{0D108BD9-81ED-4DB2-BD59-A6C34878D82A}">
                    <a16:rowId xmlns:a16="http://schemas.microsoft.com/office/drawing/2014/main" val="10000"/>
                  </a:ext>
                </a:extLst>
              </a:tr>
              <a:tr h="261257">
                <a:tc>
                  <a:txBody>
                    <a:bodyPr/>
                    <a:lstStyle/>
                    <a:p>
                      <a:pPr algn="l"/>
                      <a:r>
                        <a:rPr sz="1000" b="0" i="0">
                          <a:solidFill>
                            <a:srgbClr val="1F2A40"/>
                          </a:solidFill>
                          <a:latin typeface="Calibri"/>
                        </a:rPr>
                        <a:t>Age (per band)</a:t>
                      </a:r>
                    </a:p>
                  </a:txBody>
                  <a:tcPr>
                    <a:solidFill>
                      <a:srgbClr val="FFFFFF"/>
                    </a:solidFill>
                  </a:tcPr>
                </a:tc>
                <a:tc>
                  <a:txBody>
                    <a:bodyPr/>
                    <a:lstStyle/>
                    <a:p>
                      <a:pPr algn="l"/>
                      <a:r>
                        <a:rPr sz="1000" b="0" i="0">
                          <a:solidFill>
                            <a:srgbClr val="1F2A40"/>
                          </a:solidFill>
                          <a:latin typeface="Calibri"/>
                        </a:rPr>
                        <a:t>3.58</a:t>
                      </a:r>
                    </a:p>
                  </a:txBody>
                  <a:tcPr>
                    <a:solidFill>
                      <a:srgbClr val="FFFFFF"/>
                    </a:solidFill>
                  </a:tcPr>
                </a:tc>
                <a:tc>
                  <a:txBody>
                    <a:bodyPr/>
                    <a:lstStyle/>
                    <a:p>
                      <a:pPr algn="l"/>
                      <a:r>
                        <a:rPr sz="1000" b="0" i="0">
                          <a:solidFill>
                            <a:srgbClr val="1F2A40"/>
                          </a:solidFill>
                          <a:latin typeface="Calibri"/>
                        </a:rPr>
                        <a:t>1.70 - 7.56</a:t>
                      </a:r>
                    </a:p>
                  </a:txBody>
                  <a:tcPr>
                    <a:solidFill>
                      <a:srgbClr val="FFFFFF"/>
                    </a:solidFill>
                  </a:tcPr>
                </a:tc>
                <a:tc>
                  <a:txBody>
                    <a:bodyPr/>
                    <a:lstStyle/>
                    <a:p>
                      <a:pPr algn="l"/>
                      <a:r>
                        <a:rPr sz="1000" b="0" i="0">
                          <a:solidFill>
                            <a:srgbClr val="1F2A40"/>
                          </a:solidFill>
                          <a:latin typeface="Calibri"/>
                        </a:rPr>
                        <a:t>0.0008</a:t>
                      </a:r>
                    </a:p>
                  </a:txBody>
                  <a:tcPr>
                    <a:solidFill>
                      <a:srgbClr val="FFFFFF"/>
                    </a:solidFill>
                  </a:tcPr>
                </a:tc>
                <a:extLst>
                  <a:ext uri="{0D108BD9-81ED-4DB2-BD59-A6C34878D82A}">
                    <a16:rowId xmlns:a16="http://schemas.microsoft.com/office/drawing/2014/main" val="10001"/>
                  </a:ext>
                </a:extLst>
              </a:tr>
              <a:tr h="261257">
                <a:tc>
                  <a:txBody>
                    <a:bodyPr/>
                    <a:lstStyle/>
                    <a:p>
                      <a:pPr algn="l"/>
                      <a:r>
                        <a:rPr sz="1000" b="0" i="0">
                          <a:solidFill>
                            <a:srgbClr val="1F2A40"/>
                          </a:solidFill>
                          <a:latin typeface="Calibri"/>
                        </a:rPr>
                        <a:t>Job duration (per band)</a:t>
                      </a:r>
                    </a:p>
                  </a:txBody>
                  <a:tcPr>
                    <a:solidFill>
                      <a:srgbClr val="F7F8FA"/>
                    </a:solidFill>
                  </a:tcPr>
                </a:tc>
                <a:tc>
                  <a:txBody>
                    <a:bodyPr/>
                    <a:lstStyle/>
                    <a:p>
                      <a:pPr algn="l"/>
                      <a:r>
                        <a:rPr sz="1000" b="0" i="0">
                          <a:solidFill>
                            <a:srgbClr val="1F2A40"/>
                          </a:solidFill>
                          <a:latin typeface="Calibri"/>
                        </a:rPr>
                        <a:t>2.89</a:t>
                      </a:r>
                    </a:p>
                  </a:txBody>
                  <a:tcPr>
                    <a:solidFill>
                      <a:srgbClr val="F7F8FA"/>
                    </a:solidFill>
                  </a:tcPr>
                </a:tc>
                <a:tc>
                  <a:txBody>
                    <a:bodyPr/>
                    <a:lstStyle/>
                    <a:p>
                      <a:pPr algn="l"/>
                      <a:r>
                        <a:rPr sz="1000" b="0" i="0">
                          <a:solidFill>
                            <a:srgbClr val="1F2A40"/>
                          </a:solidFill>
                          <a:latin typeface="Calibri"/>
                        </a:rPr>
                        <a:t>1.54 - 5.41</a:t>
                      </a:r>
                    </a:p>
                  </a:txBody>
                  <a:tcPr>
                    <a:solidFill>
                      <a:srgbClr val="F7F8FA"/>
                    </a:solidFill>
                  </a:tcPr>
                </a:tc>
                <a:tc>
                  <a:txBody>
                    <a:bodyPr/>
                    <a:lstStyle/>
                    <a:p>
                      <a:pPr algn="l"/>
                      <a:r>
                        <a:rPr sz="1000" b="0" i="0">
                          <a:solidFill>
                            <a:srgbClr val="1F2A40"/>
                          </a:solidFill>
                          <a:latin typeface="Calibri"/>
                        </a:rPr>
                        <a:t>0.001</a:t>
                      </a:r>
                    </a:p>
                  </a:txBody>
                  <a:tcPr>
                    <a:solidFill>
                      <a:srgbClr val="F7F8FA"/>
                    </a:solidFill>
                  </a:tcPr>
                </a:tc>
                <a:extLst>
                  <a:ext uri="{0D108BD9-81ED-4DB2-BD59-A6C34878D82A}">
                    <a16:rowId xmlns:a16="http://schemas.microsoft.com/office/drawing/2014/main" val="10002"/>
                  </a:ext>
                </a:extLst>
              </a:tr>
              <a:tr h="261257">
                <a:tc>
                  <a:txBody>
                    <a:bodyPr/>
                    <a:lstStyle/>
                    <a:p>
                      <a:pPr algn="l"/>
                      <a:r>
                        <a:rPr sz="1000" b="0" i="0">
                          <a:solidFill>
                            <a:srgbClr val="1F2A40"/>
                          </a:solidFill>
                          <a:latin typeface="Calibri"/>
                        </a:rPr>
                        <a:t>Fatigue score</a:t>
                      </a:r>
                    </a:p>
                  </a:txBody>
                  <a:tcPr>
                    <a:solidFill>
                      <a:srgbClr val="FFFFFF"/>
                    </a:solidFill>
                  </a:tcPr>
                </a:tc>
                <a:tc>
                  <a:txBody>
                    <a:bodyPr/>
                    <a:lstStyle/>
                    <a:p>
                      <a:pPr algn="l"/>
                      <a:r>
                        <a:rPr sz="1000" b="0" i="0">
                          <a:solidFill>
                            <a:srgbClr val="1F2A40"/>
                          </a:solidFill>
                          <a:latin typeface="Calibri"/>
                        </a:rPr>
                        <a:t>1.43</a:t>
                      </a:r>
                    </a:p>
                  </a:txBody>
                  <a:tcPr>
                    <a:solidFill>
                      <a:srgbClr val="FFFFFF"/>
                    </a:solidFill>
                  </a:tcPr>
                </a:tc>
                <a:tc>
                  <a:txBody>
                    <a:bodyPr/>
                    <a:lstStyle/>
                    <a:p>
                      <a:pPr algn="l"/>
                      <a:r>
                        <a:rPr sz="1000" b="0" i="0">
                          <a:solidFill>
                            <a:srgbClr val="1F2A40"/>
                          </a:solidFill>
                          <a:latin typeface="Calibri"/>
                        </a:rPr>
                        <a:t>1.13 - 1.80</a:t>
                      </a:r>
                    </a:p>
                  </a:txBody>
                  <a:tcPr>
                    <a:solidFill>
                      <a:srgbClr val="FFFFFF"/>
                    </a:solidFill>
                  </a:tcPr>
                </a:tc>
                <a:tc>
                  <a:txBody>
                    <a:bodyPr/>
                    <a:lstStyle/>
                    <a:p>
                      <a:pPr algn="l"/>
                      <a:r>
                        <a:rPr sz="1000" b="0" i="0">
                          <a:solidFill>
                            <a:srgbClr val="1F2A40"/>
                          </a:solidFill>
                          <a:latin typeface="Calibri"/>
                        </a:rPr>
                        <a:t>0.003</a:t>
                      </a:r>
                    </a:p>
                  </a:txBody>
                  <a:tcPr>
                    <a:solidFill>
                      <a:srgbClr val="FFFFFF"/>
                    </a:solidFill>
                  </a:tcPr>
                </a:tc>
                <a:extLst>
                  <a:ext uri="{0D108BD9-81ED-4DB2-BD59-A6C34878D82A}">
                    <a16:rowId xmlns:a16="http://schemas.microsoft.com/office/drawing/2014/main" val="10003"/>
                  </a:ext>
                </a:extLst>
              </a:tr>
              <a:tr h="261257">
                <a:tc>
                  <a:txBody>
                    <a:bodyPr/>
                    <a:lstStyle/>
                    <a:p>
                      <a:pPr algn="l"/>
                      <a:r>
                        <a:rPr sz="1000" b="0" i="0">
                          <a:solidFill>
                            <a:srgbClr val="1F2A40"/>
                          </a:solidFill>
                          <a:latin typeface="Calibri"/>
                        </a:rPr>
                        <a:t>Income (per band)</a:t>
                      </a:r>
                    </a:p>
                  </a:txBody>
                  <a:tcPr>
                    <a:solidFill>
                      <a:srgbClr val="F7F8FA"/>
                    </a:solidFill>
                  </a:tcPr>
                </a:tc>
                <a:tc>
                  <a:txBody>
                    <a:bodyPr/>
                    <a:lstStyle/>
                    <a:p>
                      <a:pPr algn="l"/>
                      <a:r>
                        <a:rPr sz="1000" b="0" i="0">
                          <a:solidFill>
                            <a:srgbClr val="1F2A40"/>
                          </a:solidFill>
                          <a:latin typeface="Calibri"/>
                        </a:rPr>
                        <a:t>2.00</a:t>
                      </a:r>
                    </a:p>
                  </a:txBody>
                  <a:tcPr>
                    <a:solidFill>
                      <a:srgbClr val="F7F8FA"/>
                    </a:solidFill>
                  </a:tcPr>
                </a:tc>
                <a:tc>
                  <a:txBody>
                    <a:bodyPr/>
                    <a:lstStyle/>
                    <a:p>
                      <a:pPr algn="l"/>
                      <a:r>
                        <a:rPr sz="1000" b="0" i="0">
                          <a:solidFill>
                            <a:srgbClr val="1F2A40"/>
                          </a:solidFill>
                          <a:latin typeface="Calibri"/>
                        </a:rPr>
                        <a:t>1.25 - 3.20</a:t>
                      </a:r>
                    </a:p>
                  </a:txBody>
                  <a:tcPr>
                    <a:solidFill>
                      <a:srgbClr val="F7F8FA"/>
                    </a:solidFill>
                  </a:tcPr>
                </a:tc>
                <a:tc>
                  <a:txBody>
                    <a:bodyPr/>
                    <a:lstStyle/>
                    <a:p>
                      <a:pPr algn="l"/>
                      <a:r>
                        <a:rPr sz="1000" b="0" i="0">
                          <a:solidFill>
                            <a:srgbClr val="1F2A40"/>
                          </a:solidFill>
                          <a:latin typeface="Calibri"/>
                        </a:rPr>
                        <a:t>0.004</a:t>
                      </a:r>
                    </a:p>
                  </a:txBody>
                  <a:tcPr>
                    <a:solidFill>
                      <a:srgbClr val="F7F8FA"/>
                    </a:solidFill>
                  </a:tcPr>
                </a:tc>
                <a:extLst>
                  <a:ext uri="{0D108BD9-81ED-4DB2-BD59-A6C34878D82A}">
                    <a16:rowId xmlns:a16="http://schemas.microsoft.com/office/drawing/2014/main" val="10004"/>
                  </a:ext>
                </a:extLst>
              </a:tr>
              <a:tr h="261257">
                <a:tc>
                  <a:txBody>
                    <a:bodyPr/>
                    <a:lstStyle/>
                    <a:p>
                      <a:pPr algn="l"/>
                      <a:r>
                        <a:rPr sz="1000" b="0" i="0">
                          <a:solidFill>
                            <a:srgbClr val="1F2A40"/>
                          </a:solidFill>
                          <a:latin typeface="Calibri"/>
                        </a:rPr>
                        <a:t>Workload score</a:t>
                      </a:r>
                    </a:p>
                  </a:txBody>
                  <a:tcPr>
                    <a:solidFill>
                      <a:srgbClr val="FFFFFF"/>
                    </a:solidFill>
                  </a:tcPr>
                </a:tc>
                <a:tc>
                  <a:txBody>
                    <a:bodyPr/>
                    <a:lstStyle/>
                    <a:p>
                      <a:pPr algn="l"/>
                      <a:r>
                        <a:rPr sz="1000" b="0" i="0">
                          <a:solidFill>
                            <a:srgbClr val="1F2A40"/>
                          </a:solidFill>
                          <a:latin typeface="Calibri"/>
                        </a:rPr>
                        <a:t>1.06</a:t>
                      </a:r>
                    </a:p>
                  </a:txBody>
                  <a:tcPr>
                    <a:solidFill>
                      <a:srgbClr val="FFFFFF"/>
                    </a:solidFill>
                  </a:tcPr>
                </a:tc>
                <a:tc>
                  <a:txBody>
                    <a:bodyPr/>
                    <a:lstStyle/>
                    <a:p>
                      <a:pPr algn="l"/>
                      <a:r>
                        <a:rPr sz="1000" b="0" i="0">
                          <a:solidFill>
                            <a:srgbClr val="1F2A40"/>
                          </a:solidFill>
                          <a:latin typeface="Calibri"/>
                        </a:rPr>
                        <a:t>1.02 - 1.09</a:t>
                      </a:r>
                    </a:p>
                  </a:txBody>
                  <a:tcPr>
                    <a:solidFill>
                      <a:srgbClr val="FFFFFF"/>
                    </a:solidFill>
                  </a:tcPr>
                </a:tc>
                <a:tc>
                  <a:txBody>
                    <a:bodyPr/>
                    <a:lstStyle/>
                    <a:p>
                      <a:pPr algn="l"/>
                      <a:r>
                        <a:rPr sz="1000" b="0" i="0">
                          <a:solidFill>
                            <a:srgbClr val="1F2A40"/>
                          </a:solidFill>
                          <a:latin typeface="Calibri"/>
                        </a:rPr>
                        <a:t>0.0005</a:t>
                      </a:r>
                    </a:p>
                  </a:txBody>
                  <a:tcPr>
                    <a:solidFill>
                      <a:srgbClr val="FFFFFF"/>
                    </a:solidFill>
                  </a:tcPr>
                </a:tc>
                <a:extLst>
                  <a:ext uri="{0D108BD9-81ED-4DB2-BD59-A6C34878D82A}">
                    <a16:rowId xmlns:a16="http://schemas.microsoft.com/office/drawing/2014/main" val="10005"/>
                  </a:ext>
                </a:extLst>
              </a:tr>
              <a:tr h="261258">
                <a:tc>
                  <a:txBody>
                    <a:bodyPr/>
                    <a:lstStyle/>
                    <a:p>
                      <a:pPr algn="l"/>
                      <a:r>
                        <a:rPr sz="1000" b="0" i="0">
                          <a:solidFill>
                            <a:srgbClr val="1F2A40"/>
                          </a:solidFill>
                          <a:latin typeface="Calibri"/>
                        </a:rPr>
                        <a:t>Education (per band)</a:t>
                      </a:r>
                    </a:p>
                  </a:txBody>
                  <a:tcPr>
                    <a:solidFill>
                      <a:srgbClr val="F7F8FA"/>
                    </a:solidFill>
                  </a:tcPr>
                </a:tc>
                <a:tc>
                  <a:txBody>
                    <a:bodyPr/>
                    <a:lstStyle/>
                    <a:p>
                      <a:pPr algn="l"/>
                      <a:r>
                        <a:rPr sz="1000" b="0" i="0">
                          <a:solidFill>
                            <a:srgbClr val="1F2A40"/>
                          </a:solidFill>
                          <a:latin typeface="Calibri"/>
                        </a:rPr>
                        <a:t>0.33</a:t>
                      </a:r>
                    </a:p>
                  </a:txBody>
                  <a:tcPr>
                    <a:solidFill>
                      <a:srgbClr val="F7F8FA"/>
                    </a:solidFill>
                  </a:tcPr>
                </a:tc>
                <a:tc>
                  <a:txBody>
                    <a:bodyPr/>
                    <a:lstStyle/>
                    <a:p>
                      <a:pPr algn="l"/>
                      <a:r>
                        <a:rPr sz="1000" b="0" i="0">
                          <a:solidFill>
                            <a:srgbClr val="1F2A40"/>
                          </a:solidFill>
                          <a:latin typeface="Calibri"/>
                        </a:rPr>
                        <a:t>0.12 - 0.94</a:t>
                      </a:r>
                    </a:p>
                  </a:txBody>
                  <a:tcPr>
                    <a:solidFill>
                      <a:srgbClr val="F7F8FA"/>
                    </a:solidFill>
                  </a:tcPr>
                </a:tc>
                <a:tc>
                  <a:txBody>
                    <a:bodyPr/>
                    <a:lstStyle/>
                    <a:p>
                      <a:pPr algn="l"/>
                      <a:r>
                        <a:rPr sz="1000" b="0" i="0">
                          <a:solidFill>
                            <a:srgbClr val="1F2A40"/>
                          </a:solidFill>
                          <a:latin typeface="Calibri"/>
                        </a:rPr>
                        <a:t>0.04</a:t>
                      </a:r>
                    </a:p>
                  </a:txBody>
                  <a:tcPr>
                    <a:solidFill>
                      <a:srgbClr val="F7F8FA"/>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640080" y="3977639"/>
            <a:ext cx="5394960" cy="320040"/>
          </a:xfrm>
          <a:prstGeom prst="rect">
            <a:avLst/>
          </a:prstGeom>
          <a:noFill/>
        </p:spPr>
        <p:txBody>
          <a:bodyPr wrap="square">
            <a:spAutoFit/>
          </a:bodyPr>
          <a:lstStyle/>
          <a:p>
            <a:pPr algn="l"/>
            <a:r>
              <a:rPr sz="1100" b="1" i="0">
                <a:solidFill>
                  <a:srgbClr val="0F1F3A"/>
                </a:solidFill>
                <a:latin typeface="Calibri"/>
              </a:rPr>
              <a:t>Chi-square  |  Stage-1 risk factor vs 12-month pain</a:t>
            </a:r>
          </a:p>
        </p:txBody>
      </p:sp>
      <p:graphicFrame>
        <p:nvGraphicFramePr>
          <p:cNvPr id="11" name="Table 10"/>
          <p:cNvGraphicFramePr>
            <a:graphicFrameLocks noGrp="1"/>
          </p:cNvGraphicFramePr>
          <p:nvPr/>
        </p:nvGraphicFramePr>
        <p:xfrm>
          <a:off x="640080" y="4343400"/>
          <a:ext cx="5394960" cy="170688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15537">
                <a:tc>
                  <a:txBody>
                    <a:bodyPr/>
                    <a:lstStyle/>
                    <a:p>
                      <a:pPr algn="l"/>
                      <a:r>
                        <a:rPr sz="1000" b="1" i="0">
                          <a:solidFill>
                            <a:srgbClr val="FFFFFF"/>
                          </a:solidFill>
                          <a:latin typeface="Calibri"/>
                        </a:rPr>
                        <a:t>Risk factor</a:t>
                      </a:r>
                    </a:p>
                  </a:txBody>
                  <a:tcPr>
                    <a:solidFill>
                      <a:srgbClr val="0F1F3A"/>
                    </a:solidFill>
                  </a:tcPr>
                </a:tc>
                <a:tc>
                  <a:txBody>
                    <a:bodyPr/>
                    <a:lstStyle/>
                    <a:p>
                      <a:pPr algn="l"/>
                      <a:r>
                        <a:rPr sz="1000" b="1" i="0">
                          <a:solidFill>
                            <a:srgbClr val="FFFFFF"/>
                          </a:solidFill>
                          <a:latin typeface="Calibri"/>
                        </a:rPr>
                        <a:t>chi2</a:t>
                      </a:r>
                    </a:p>
                  </a:txBody>
                  <a:tcPr>
                    <a:solidFill>
                      <a:srgbClr val="0F1F3A"/>
                    </a:solidFill>
                  </a:tcPr>
                </a:tc>
                <a:tc>
                  <a:txBody>
                    <a:bodyPr/>
                    <a:lstStyle/>
                    <a:p>
                      <a:pPr algn="l"/>
                      <a:r>
                        <a:rPr sz="1000" b="1" i="0">
                          <a:solidFill>
                            <a:srgbClr val="FFFFFF"/>
                          </a:solidFill>
                          <a:latin typeface="Calibri"/>
                        </a:rPr>
                        <a:t>df</a:t>
                      </a:r>
                    </a:p>
                  </a:txBody>
                  <a:tcPr>
                    <a:solidFill>
                      <a:srgbClr val="0F1F3A"/>
                    </a:solidFill>
                  </a:tcPr>
                </a:tc>
                <a:tc>
                  <a:txBody>
                    <a:bodyPr/>
                    <a:lstStyle/>
                    <a:p>
                      <a:pPr algn="l"/>
                      <a:r>
                        <a:rPr sz="1000" b="1" i="0">
                          <a:solidFill>
                            <a:srgbClr val="FFFFFF"/>
                          </a:solidFill>
                          <a:latin typeface="Calibri"/>
                        </a:rPr>
                        <a:t>p</a:t>
                      </a:r>
                    </a:p>
                  </a:txBody>
                  <a:tcPr>
                    <a:solidFill>
                      <a:srgbClr val="0F1F3A"/>
                    </a:solidFill>
                  </a:tcPr>
                </a:tc>
                <a:tc>
                  <a:txBody>
                    <a:bodyPr/>
                    <a:lstStyle/>
                    <a:p>
                      <a:pPr algn="l"/>
                      <a:r>
                        <a:rPr sz="1000" b="1" i="0">
                          <a:solidFill>
                            <a:srgbClr val="FFFFFF"/>
                          </a:solidFill>
                          <a:latin typeface="Calibri"/>
                        </a:rPr>
                        <a:t>Sig.</a:t>
                      </a:r>
                    </a:p>
                  </a:txBody>
                  <a:tcPr>
                    <a:solidFill>
                      <a:srgbClr val="0F1F3A"/>
                    </a:solidFill>
                  </a:tcPr>
                </a:tc>
                <a:extLst>
                  <a:ext uri="{0D108BD9-81ED-4DB2-BD59-A6C34878D82A}">
                    <a16:rowId xmlns:a16="http://schemas.microsoft.com/office/drawing/2014/main" val="10000"/>
                  </a:ext>
                </a:extLst>
              </a:tr>
              <a:tr h="215537">
                <a:tc>
                  <a:txBody>
                    <a:bodyPr/>
                    <a:lstStyle/>
                    <a:p>
                      <a:pPr algn="l"/>
                      <a:r>
                        <a:rPr sz="1000" b="0" i="0">
                          <a:solidFill>
                            <a:srgbClr val="1F2A40"/>
                          </a:solidFill>
                          <a:latin typeface="Calibri"/>
                        </a:rPr>
                        <a:t>Posture</a:t>
                      </a:r>
                    </a:p>
                  </a:txBody>
                  <a:tcPr>
                    <a:solidFill>
                      <a:srgbClr val="FFFFFF"/>
                    </a:solidFill>
                  </a:tcPr>
                </a:tc>
                <a:tc>
                  <a:txBody>
                    <a:bodyPr/>
                    <a:lstStyle/>
                    <a:p>
                      <a:pPr algn="l"/>
                      <a:r>
                        <a:rPr sz="1000" b="0" i="0">
                          <a:solidFill>
                            <a:srgbClr val="1F2A40"/>
                          </a:solidFill>
                          <a:latin typeface="Calibri"/>
                        </a:rPr>
                        <a:t>45.67</a:t>
                      </a:r>
                    </a:p>
                  </a:txBody>
                  <a:tcPr>
                    <a:solidFill>
                      <a:srgbClr val="FFFFFF"/>
                    </a:solidFill>
                  </a:tcPr>
                </a:tc>
                <a:tc>
                  <a:txBody>
                    <a:bodyPr/>
                    <a:lstStyle/>
                    <a:p>
                      <a:pPr algn="l"/>
                      <a:r>
                        <a:rPr sz="1000" b="0" i="0">
                          <a:solidFill>
                            <a:srgbClr val="1F2A40"/>
                          </a:solidFill>
                          <a:latin typeface="Calibri"/>
                        </a:rPr>
                        <a:t>1</a:t>
                      </a:r>
                    </a:p>
                  </a:txBody>
                  <a:tcPr>
                    <a:solidFill>
                      <a:srgbClr val="FFFFFF"/>
                    </a:solidFill>
                  </a:tcPr>
                </a:tc>
                <a:tc>
                  <a:txBody>
                    <a:bodyPr/>
                    <a:lstStyle/>
                    <a:p>
                      <a:pPr algn="l"/>
                      <a:r>
                        <a:rPr sz="1000" b="0" i="0">
                          <a:solidFill>
                            <a:srgbClr val="1F2A40"/>
                          </a:solidFill>
                          <a:latin typeface="Calibri"/>
                        </a:rPr>
                        <a:t>&lt; 0.001</a:t>
                      </a:r>
                    </a:p>
                  </a:txBody>
                  <a:tcPr>
                    <a:solidFill>
                      <a:srgbClr val="FFFFFF"/>
                    </a:solidFill>
                  </a:tcPr>
                </a:tc>
                <a:tc>
                  <a:txBody>
                    <a:bodyPr/>
                    <a:lstStyle/>
                    <a:p>
                      <a:pPr algn="l"/>
                      <a:r>
                        <a:rPr sz="1000" b="0" i="0">
                          <a:solidFill>
                            <a:srgbClr val="1F2A40"/>
                          </a:solidFill>
                          <a:latin typeface="Calibri"/>
                        </a:rPr>
                        <a:t>yes</a:t>
                      </a:r>
                    </a:p>
                  </a:txBody>
                  <a:tcPr>
                    <a:solidFill>
                      <a:srgbClr val="FFFFFF"/>
                    </a:solidFill>
                  </a:tcPr>
                </a:tc>
                <a:extLst>
                  <a:ext uri="{0D108BD9-81ED-4DB2-BD59-A6C34878D82A}">
                    <a16:rowId xmlns:a16="http://schemas.microsoft.com/office/drawing/2014/main" val="10001"/>
                  </a:ext>
                </a:extLst>
              </a:tr>
              <a:tr h="215537">
                <a:tc>
                  <a:txBody>
                    <a:bodyPr/>
                    <a:lstStyle/>
                    <a:p>
                      <a:pPr algn="l"/>
                      <a:r>
                        <a:rPr sz="1000" b="0" i="0">
                          <a:solidFill>
                            <a:srgbClr val="1F2A40"/>
                          </a:solidFill>
                          <a:latin typeface="Calibri"/>
                        </a:rPr>
                        <a:t>Repetition</a:t>
                      </a:r>
                    </a:p>
                  </a:txBody>
                  <a:tcPr>
                    <a:solidFill>
                      <a:srgbClr val="F7F8FA"/>
                    </a:solidFill>
                  </a:tcPr>
                </a:tc>
                <a:tc>
                  <a:txBody>
                    <a:bodyPr/>
                    <a:lstStyle/>
                    <a:p>
                      <a:pPr algn="l"/>
                      <a:r>
                        <a:rPr sz="1000" b="0" i="0">
                          <a:solidFill>
                            <a:srgbClr val="1F2A40"/>
                          </a:solidFill>
                          <a:latin typeface="Calibri"/>
                        </a:rPr>
                        <a:t>8.62</a:t>
                      </a:r>
                    </a:p>
                  </a:txBody>
                  <a:tcPr>
                    <a:solidFill>
                      <a:srgbClr val="F7F8FA"/>
                    </a:solidFill>
                  </a:tcPr>
                </a:tc>
                <a:tc>
                  <a:txBody>
                    <a:bodyPr/>
                    <a:lstStyle/>
                    <a:p>
                      <a:pPr algn="l"/>
                      <a:r>
                        <a:rPr sz="1000" b="0" i="0">
                          <a:solidFill>
                            <a:srgbClr val="1F2A40"/>
                          </a:solidFill>
                          <a:latin typeface="Calibri"/>
                        </a:rPr>
                        <a:t>2</a:t>
                      </a:r>
                    </a:p>
                  </a:txBody>
                  <a:tcPr>
                    <a:solidFill>
                      <a:srgbClr val="F7F8FA"/>
                    </a:solidFill>
                  </a:tcPr>
                </a:tc>
                <a:tc>
                  <a:txBody>
                    <a:bodyPr/>
                    <a:lstStyle/>
                    <a:p>
                      <a:pPr algn="l"/>
                      <a:r>
                        <a:rPr sz="1000" b="0" i="0">
                          <a:solidFill>
                            <a:srgbClr val="1F2A40"/>
                          </a:solidFill>
                          <a:latin typeface="Calibri"/>
                        </a:rPr>
                        <a:t>0.014</a:t>
                      </a:r>
                    </a:p>
                  </a:txBody>
                  <a:tcPr>
                    <a:solidFill>
                      <a:srgbClr val="F7F8FA"/>
                    </a:solidFill>
                  </a:tcPr>
                </a:tc>
                <a:tc>
                  <a:txBody>
                    <a:bodyPr/>
                    <a:lstStyle/>
                    <a:p>
                      <a:pPr algn="l"/>
                      <a:r>
                        <a:rPr sz="1000" b="0" i="0">
                          <a:solidFill>
                            <a:srgbClr val="1F2A40"/>
                          </a:solidFill>
                          <a:latin typeface="Calibri"/>
                        </a:rPr>
                        <a:t>yes</a:t>
                      </a:r>
                    </a:p>
                  </a:txBody>
                  <a:tcPr>
                    <a:solidFill>
                      <a:srgbClr val="F7F8FA"/>
                    </a:solidFill>
                  </a:tcPr>
                </a:tc>
                <a:extLst>
                  <a:ext uri="{0D108BD9-81ED-4DB2-BD59-A6C34878D82A}">
                    <a16:rowId xmlns:a16="http://schemas.microsoft.com/office/drawing/2014/main" val="10002"/>
                  </a:ext>
                </a:extLst>
              </a:tr>
              <a:tr h="215537">
                <a:tc>
                  <a:txBody>
                    <a:bodyPr/>
                    <a:lstStyle/>
                    <a:p>
                      <a:pPr algn="l"/>
                      <a:r>
                        <a:rPr sz="1000" b="0" i="0">
                          <a:solidFill>
                            <a:srgbClr val="1F2A40"/>
                          </a:solidFill>
                          <a:latin typeface="Calibri"/>
                        </a:rPr>
                        <a:t>Force</a:t>
                      </a:r>
                    </a:p>
                  </a:txBody>
                  <a:tcPr>
                    <a:solidFill>
                      <a:srgbClr val="FFFFFF"/>
                    </a:solidFill>
                  </a:tcPr>
                </a:tc>
                <a:tc>
                  <a:txBody>
                    <a:bodyPr/>
                    <a:lstStyle/>
                    <a:p>
                      <a:pPr algn="l"/>
                      <a:r>
                        <a:rPr sz="1000" b="0" i="0">
                          <a:solidFill>
                            <a:srgbClr val="1F2A40"/>
                          </a:solidFill>
                          <a:latin typeface="Calibri"/>
                        </a:rPr>
                        <a:t>6.72</a:t>
                      </a:r>
                    </a:p>
                  </a:txBody>
                  <a:tcPr>
                    <a:solidFill>
                      <a:srgbClr val="FFFFFF"/>
                    </a:solidFill>
                  </a:tcPr>
                </a:tc>
                <a:tc>
                  <a:txBody>
                    <a:bodyPr/>
                    <a:lstStyle/>
                    <a:p>
                      <a:pPr algn="l"/>
                      <a:r>
                        <a:rPr sz="1000" b="0" i="0">
                          <a:solidFill>
                            <a:srgbClr val="1F2A40"/>
                          </a:solidFill>
                          <a:latin typeface="Calibri"/>
                        </a:rPr>
                        <a:t>2</a:t>
                      </a:r>
                    </a:p>
                  </a:txBody>
                  <a:tcPr>
                    <a:solidFill>
                      <a:srgbClr val="FFFFFF"/>
                    </a:solidFill>
                  </a:tcPr>
                </a:tc>
                <a:tc>
                  <a:txBody>
                    <a:bodyPr/>
                    <a:lstStyle/>
                    <a:p>
                      <a:pPr algn="l"/>
                      <a:r>
                        <a:rPr sz="1000" b="0" i="0">
                          <a:solidFill>
                            <a:srgbClr val="1F2A40"/>
                          </a:solidFill>
                          <a:latin typeface="Calibri"/>
                        </a:rPr>
                        <a:t>0.035</a:t>
                      </a:r>
                    </a:p>
                  </a:txBody>
                  <a:tcPr>
                    <a:solidFill>
                      <a:srgbClr val="FFFFFF"/>
                    </a:solidFill>
                  </a:tcPr>
                </a:tc>
                <a:tc>
                  <a:txBody>
                    <a:bodyPr/>
                    <a:lstStyle/>
                    <a:p>
                      <a:pPr algn="l"/>
                      <a:r>
                        <a:rPr sz="1000" b="0" i="0">
                          <a:solidFill>
                            <a:srgbClr val="1F2A40"/>
                          </a:solidFill>
                          <a:latin typeface="Calibri"/>
                        </a:rPr>
                        <a:t>yes</a:t>
                      </a:r>
                    </a:p>
                  </a:txBody>
                  <a:tcPr>
                    <a:solidFill>
                      <a:srgbClr val="FFFFFF"/>
                    </a:solidFill>
                  </a:tcPr>
                </a:tc>
                <a:extLst>
                  <a:ext uri="{0D108BD9-81ED-4DB2-BD59-A6C34878D82A}">
                    <a16:rowId xmlns:a16="http://schemas.microsoft.com/office/drawing/2014/main" val="10003"/>
                  </a:ext>
                </a:extLst>
              </a:tr>
              <a:tr h="215537">
                <a:tc>
                  <a:txBody>
                    <a:bodyPr/>
                    <a:lstStyle/>
                    <a:p>
                      <a:pPr algn="l"/>
                      <a:r>
                        <a:rPr sz="1000" b="0" i="0">
                          <a:solidFill>
                            <a:srgbClr val="1F2A40"/>
                          </a:solidFill>
                          <a:latin typeface="Calibri"/>
                        </a:rPr>
                        <a:t>Duration</a:t>
                      </a:r>
                    </a:p>
                  </a:txBody>
                  <a:tcPr>
                    <a:solidFill>
                      <a:srgbClr val="F7F8FA"/>
                    </a:solidFill>
                  </a:tcPr>
                </a:tc>
                <a:tc>
                  <a:txBody>
                    <a:bodyPr/>
                    <a:lstStyle/>
                    <a:p>
                      <a:pPr algn="l"/>
                      <a:r>
                        <a:rPr sz="1000" b="0" i="0">
                          <a:solidFill>
                            <a:srgbClr val="1F2A40"/>
                          </a:solidFill>
                          <a:latin typeface="Calibri"/>
                        </a:rPr>
                        <a:t>0.62</a:t>
                      </a:r>
                    </a:p>
                  </a:txBody>
                  <a:tcPr>
                    <a:solidFill>
                      <a:srgbClr val="F7F8FA"/>
                    </a:solidFill>
                  </a:tcPr>
                </a:tc>
                <a:tc>
                  <a:txBody>
                    <a:bodyPr/>
                    <a:lstStyle/>
                    <a:p>
                      <a:pPr algn="l"/>
                      <a:r>
                        <a:rPr sz="1000" b="0" i="0">
                          <a:solidFill>
                            <a:srgbClr val="1F2A40"/>
                          </a:solidFill>
                          <a:latin typeface="Calibri"/>
                        </a:rPr>
                        <a:t>2</a:t>
                      </a:r>
                    </a:p>
                  </a:txBody>
                  <a:tcPr>
                    <a:solidFill>
                      <a:srgbClr val="F7F8FA"/>
                    </a:solidFill>
                  </a:tcPr>
                </a:tc>
                <a:tc>
                  <a:txBody>
                    <a:bodyPr/>
                    <a:lstStyle/>
                    <a:p>
                      <a:pPr algn="l"/>
                      <a:r>
                        <a:rPr sz="1000" b="0" i="0">
                          <a:solidFill>
                            <a:srgbClr val="1F2A40"/>
                          </a:solidFill>
                          <a:latin typeface="Calibri"/>
                        </a:rPr>
                        <a:t>0.733</a:t>
                      </a:r>
                    </a:p>
                  </a:txBody>
                  <a:tcPr>
                    <a:solidFill>
                      <a:srgbClr val="F7F8FA"/>
                    </a:solidFill>
                  </a:tcPr>
                </a:tc>
                <a:tc>
                  <a:txBody>
                    <a:bodyPr/>
                    <a:lstStyle/>
                    <a:p>
                      <a:pPr algn="l"/>
                      <a:r>
                        <a:rPr sz="1000" b="0" i="0">
                          <a:solidFill>
                            <a:srgbClr val="1F2A40"/>
                          </a:solidFill>
                          <a:latin typeface="Calibri"/>
                        </a:rPr>
                        <a:t>-</a:t>
                      </a:r>
                    </a:p>
                  </a:txBody>
                  <a:tcPr>
                    <a:solidFill>
                      <a:srgbClr val="F7F8FA"/>
                    </a:solidFill>
                  </a:tcPr>
                </a:tc>
                <a:extLst>
                  <a:ext uri="{0D108BD9-81ED-4DB2-BD59-A6C34878D82A}">
                    <a16:rowId xmlns:a16="http://schemas.microsoft.com/office/drawing/2014/main" val="10004"/>
                  </a:ext>
                </a:extLst>
              </a:tr>
              <a:tr h="215537">
                <a:tc>
                  <a:txBody>
                    <a:bodyPr/>
                    <a:lstStyle/>
                    <a:p>
                      <a:pPr algn="l"/>
                      <a:r>
                        <a:rPr sz="1000" b="0" i="0">
                          <a:solidFill>
                            <a:srgbClr val="1F2A40"/>
                          </a:solidFill>
                          <a:latin typeface="Calibri"/>
                        </a:rPr>
                        <a:t>Vibration</a:t>
                      </a:r>
                    </a:p>
                  </a:txBody>
                  <a:tcPr>
                    <a:solidFill>
                      <a:srgbClr val="FFFFFF"/>
                    </a:solidFill>
                  </a:tcPr>
                </a:tc>
                <a:tc>
                  <a:txBody>
                    <a:bodyPr/>
                    <a:lstStyle/>
                    <a:p>
                      <a:pPr algn="l"/>
                      <a:r>
                        <a:rPr sz="1000" b="0" i="0">
                          <a:solidFill>
                            <a:srgbClr val="1F2A40"/>
                          </a:solidFill>
                          <a:latin typeface="Calibri"/>
                        </a:rPr>
                        <a:t>0.60</a:t>
                      </a:r>
                    </a:p>
                  </a:txBody>
                  <a:tcPr>
                    <a:solidFill>
                      <a:srgbClr val="FFFFFF"/>
                    </a:solidFill>
                  </a:tcPr>
                </a:tc>
                <a:tc>
                  <a:txBody>
                    <a:bodyPr/>
                    <a:lstStyle/>
                    <a:p>
                      <a:pPr algn="l"/>
                      <a:r>
                        <a:rPr sz="1000" b="0" i="0">
                          <a:solidFill>
                            <a:srgbClr val="1F2A40"/>
                          </a:solidFill>
                          <a:latin typeface="Calibri"/>
                        </a:rPr>
                        <a:t>2</a:t>
                      </a:r>
                    </a:p>
                  </a:txBody>
                  <a:tcPr>
                    <a:solidFill>
                      <a:srgbClr val="FFFFFF"/>
                    </a:solidFill>
                  </a:tcPr>
                </a:tc>
                <a:tc>
                  <a:txBody>
                    <a:bodyPr/>
                    <a:lstStyle/>
                    <a:p>
                      <a:pPr algn="l"/>
                      <a:r>
                        <a:rPr sz="1000" b="0" i="0">
                          <a:solidFill>
                            <a:srgbClr val="1F2A40"/>
                          </a:solidFill>
                          <a:latin typeface="Calibri"/>
                        </a:rPr>
                        <a:t>0.741</a:t>
                      </a:r>
                    </a:p>
                  </a:txBody>
                  <a:tcPr>
                    <a:solidFill>
                      <a:srgbClr val="FFFFFF"/>
                    </a:solidFill>
                  </a:tcPr>
                </a:tc>
                <a:tc>
                  <a:txBody>
                    <a:bodyPr/>
                    <a:lstStyle/>
                    <a:p>
                      <a:pPr algn="l"/>
                      <a:r>
                        <a:rPr sz="1000" b="0" i="0">
                          <a:solidFill>
                            <a:srgbClr val="1F2A40"/>
                          </a:solidFill>
                          <a:latin typeface="Calibri"/>
                        </a:rPr>
                        <a:t>-</a:t>
                      </a:r>
                    </a:p>
                  </a:txBody>
                  <a:tcPr>
                    <a:solidFill>
                      <a:srgbClr val="FFFFFF"/>
                    </a:solidFill>
                  </a:tcPr>
                </a:tc>
                <a:extLst>
                  <a:ext uri="{0D108BD9-81ED-4DB2-BD59-A6C34878D82A}">
                    <a16:rowId xmlns:a16="http://schemas.microsoft.com/office/drawing/2014/main" val="10005"/>
                  </a:ext>
                </a:extLst>
              </a:tr>
              <a:tr h="215538">
                <a:tc>
                  <a:txBody>
                    <a:bodyPr/>
                    <a:lstStyle/>
                    <a:p>
                      <a:pPr algn="l"/>
                      <a:r>
                        <a:rPr sz="1000" b="0" i="0">
                          <a:solidFill>
                            <a:srgbClr val="1F2A40"/>
                          </a:solidFill>
                          <a:latin typeface="Calibri"/>
                        </a:rPr>
                        <a:t>Contact stress</a:t>
                      </a:r>
                    </a:p>
                  </a:txBody>
                  <a:tcPr>
                    <a:solidFill>
                      <a:srgbClr val="F7F8FA"/>
                    </a:solidFill>
                  </a:tcPr>
                </a:tc>
                <a:tc>
                  <a:txBody>
                    <a:bodyPr/>
                    <a:lstStyle/>
                    <a:p>
                      <a:pPr algn="l"/>
                      <a:r>
                        <a:rPr sz="1000" b="0" i="0">
                          <a:solidFill>
                            <a:srgbClr val="1F2A40"/>
                          </a:solidFill>
                          <a:latin typeface="Calibri"/>
                        </a:rPr>
                        <a:t>0.54</a:t>
                      </a:r>
                    </a:p>
                  </a:txBody>
                  <a:tcPr>
                    <a:solidFill>
                      <a:srgbClr val="F7F8FA"/>
                    </a:solidFill>
                  </a:tcPr>
                </a:tc>
                <a:tc>
                  <a:txBody>
                    <a:bodyPr/>
                    <a:lstStyle/>
                    <a:p>
                      <a:pPr algn="l"/>
                      <a:r>
                        <a:rPr sz="1000" b="0" i="0">
                          <a:solidFill>
                            <a:srgbClr val="1F2A40"/>
                          </a:solidFill>
                          <a:latin typeface="Calibri"/>
                        </a:rPr>
                        <a:t>2</a:t>
                      </a:r>
                    </a:p>
                  </a:txBody>
                  <a:tcPr>
                    <a:solidFill>
                      <a:srgbClr val="F7F8FA"/>
                    </a:solidFill>
                  </a:tcPr>
                </a:tc>
                <a:tc>
                  <a:txBody>
                    <a:bodyPr/>
                    <a:lstStyle/>
                    <a:p>
                      <a:pPr algn="l"/>
                      <a:r>
                        <a:rPr sz="1000" b="0" i="0">
                          <a:solidFill>
                            <a:srgbClr val="1F2A40"/>
                          </a:solidFill>
                          <a:latin typeface="Calibri"/>
                        </a:rPr>
                        <a:t>0.762</a:t>
                      </a:r>
                    </a:p>
                  </a:txBody>
                  <a:tcPr>
                    <a:solidFill>
                      <a:srgbClr val="F7F8FA"/>
                    </a:solidFill>
                  </a:tcPr>
                </a:tc>
                <a:tc>
                  <a:txBody>
                    <a:bodyPr/>
                    <a:lstStyle/>
                    <a:p>
                      <a:pPr algn="l"/>
                      <a:r>
                        <a:rPr sz="1000" b="0" i="0">
                          <a:solidFill>
                            <a:srgbClr val="1F2A40"/>
                          </a:solidFill>
                          <a:latin typeface="Calibri"/>
                        </a:rPr>
                        <a:t>-</a:t>
                      </a:r>
                    </a:p>
                  </a:txBody>
                  <a:tcPr>
                    <a:solidFill>
                      <a:srgbClr val="F7F8FA"/>
                    </a:solidFill>
                  </a:tcPr>
                </a:tc>
                <a:extLst>
                  <a:ext uri="{0D108BD9-81ED-4DB2-BD59-A6C34878D82A}">
                    <a16:rowId xmlns:a16="http://schemas.microsoft.com/office/drawing/2014/main" val="10006"/>
                  </a:ext>
                </a:extLst>
              </a:tr>
            </a:tbl>
          </a:graphicData>
        </a:graphic>
      </p:graphicFrame>
      <p:sp>
        <p:nvSpPr>
          <p:cNvPr id="12" name="TextBox 11"/>
          <p:cNvSpPr txBox="1"/>
          <p:nvPr/>
        </p:nvSpPr>
        <p:spPr>
          <a:xfrm>
            <a:off x="6400800" y="3977639"/>
            <a:ext cx="5303520" cy="320040"/>
          </a:xfrm>
          <a:prstGeom prst="rect">
            <a:avLst/>
          </a:prstGeom>
          <a:noFill/>
        </p:spPr>
        <p:txBody>
          <a:bodyPr wrap="square">
            <a:spAutoFit/>
          </a:bodyPr>
          <a:lstStyle/>
          <a:p>
            <a:pPr algn="l"/>
            <a:r>
              <a:rPr sz="1100" b="1" i="0">
                <a:solidFill>
                  <a:srgbClr val="0F1F3A"/>
                </a:solidFill>
                <a:latin typeface="Calibri"/>
              </a:rPr>
              <a:t>Mann-Whitney U  |  predictors of 12-month pain</a:t>
            </a:r>
          </a:p>
        </p:txBody>
      </p:sp>
      <p:graphicFrame>
        <p:nvGraphicFramePr>
          <p:cNvPr id="13" name="Table 12"/>
          <p:cNvGraphicFramePr>
            <a:graphicFrameLocks noGrp="1"/>
          </p:cNvGraphicFramePr>
          <p:nvPr/>
        </p:nvGraphicFramePr>
        <p:xfrm>
          <a:off x="6400800" y="4343400"/>
          <a:ext cx="5303520" cy="17068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15537">
                <a:tc>
                  <a:txBody>
                    <a:bodyPr/>
                    <a:lstStyle/>
                    <a:p>
                      <a:pPr algn="l"/>
                      <a:r>
                        <a:rPr sz="1000" b="1" i="0">
                          <a:solidFill>
                            <a:srgbClr val="FFFFFF"/>
                          </a:solidFill>
                          <a:latin typeface="Calibri"/>
                        </a:rPr>
                        <a:t>Feature</a:t>
                      </a:r>
                    </a:p>
                  </a:txBody>
                  <a:tcPr>
                    <a:solidFill>
                      <a:srgbClr val="0F1F3A"/>
                    </a:solidFill>
                  </a:tcPr>
                </a:tc>
                <a:tc>
                  <a:txBody>
                    <a:bodyPr/>
                    <a:lstStyle/>
                    <a:p>
                      <a:pPr algn="l"/>
                      <a:r>
                        <a:rPr sz="1000" b="1" i="0">
                          <a:solidFill>
                            <a:srgbClr val="FFFFFF"/>
                          </a:solidFill>
                          <a:latin typeface="Calibri"/>
                        </a:rPr>
                        <a:t>no pain</a:t>
                      </a:r>
                    </a:p>
                  </a:txBody>
                  <a:tcPr>
                    <a:solidFill>
                      <a:srgbClr val="0F1F3A"/>
                    </a:solidFill>
                  </a:tcPr>
                </a:tc>
                <a:tc>
                  <a:txBody>
                    <a:bodyPr/>
                    <a:lstStyle/>
                    <a:p>
                      <a:pPr algn="l"/>
                      <a:r>
                        <a:rPr sz="1000" b="1" i="0">
                          <a:solidFill>
                            <a:srgbClr val="FFFFFF"/>
                          </a:solidFill>
                          <a:latin typeface="Calibri"/>
                        </a:rPr>
                        <a:t>pain</a:t>
                      </a:r>
                    </a:p>
                  </a:txBody>
                  <a:tcPr>
                    <a:solidFill>
                      <a:srgbClr val="0F1F3A"/>
                    </a:solidFill>
                  </a:tcPr>
                </a:tc>
                <a:tc>
                  <a:txBody>
                    <a:bodyPr/>
                    <a:lstStyle/>
                    <a:p>
                      <a:pPr algn="l"/>
                      <a:r>
                        <a:rPr sz="1000" b="1" i="0">
                          <a:solidFill>
                            <a:srgbClr val="FFFFFF"/>
                          </a:solidFill>
                          <a:latin typeface="Calibri"/>
                        </a:rPr>
                        <a:t>U</a:t>
                      </a:r>
                    </a:p>
                  </a:txBody>
                  <a:tcPr>
                    <a:solidFill>
                      <a:srgbClr val="0F1F3A"/>
                    </a:solidFill>
                  </a:tcPr>
                </a:tc>
                <a:tc>
                  <a:txBody>
                    <a:bodyPr/>
                    <a:lstStyle/>
                    <a:p>
                      <a:pPr algn="l"/>
                      <a:r>
                        <a:rPr sz="1000" b="1" i="0">
                          <a:solidFill>
                            <a:srgbClr val="FFFFFF"/>
                          </a:solidFill>
                          <a:latin typeface="Calibri"/>
                        </a:rPr>
                        <a:t>p</a:t>
                      </a:r>
                    </a:p>
                  </a:txBody>
                  <a:tcPr>
                    <a:solidFill>
                      <a:srgbClr val="0F1F3A"/>
                    </a:solidFill>
                  </a:tcPr>
                </a:tc>
                <a:extLst>
                  <a:ext uri="{0D108BD9-81ED-4DB2-BD59-A6C34878D82A}">
                    <a16:rowId xmlns:a16="http://schemas.microsoft.com/office/drawing/2014/main" val="10000"/>
                  </a:ext>
                </a:extLst>
              </a:tr>
              <a:tr h="215537">
                <a:tc>
                  <a:txBody>
                    <a:bodyPr/>
                    <a:lstStyle/>
                    <a:p>
                      <a:pPr algn="l"/>
                      <a:r>
                        <a:rPr sz="1000" b="0" i="0">
                          <a:solidFill>
                            <a:srgbClr val="1F2A40"/>
                          </a:solidFill>
                          <a:latin typeface="Calibri"/>
                        </a:rPr>
                        <a:t>Age (band)</a:t>
                      </a:r>
                    </a:p>
                  </a:txBody>
                  <a:tcPr>
                    <a:solidFill>
                      <a:srgbClr val="FFFFFF"/>
                    </a:solidFill>
                  </a:tcPr>
                </a:tc>
                <a:tc>
                  <a:txBody>
                    <a:bodyPr/>
                    <a:lstStyle/>
                    <a:p>
                      <a:pPr algn="l"/>
                      <a:r>
                        <a:rPr sz="1000" b="0" i="0">
                          <a:solidFill>
                            <a:srgbClr val="1F2A40"/>
                          </a:solidFill>
                          <a:latin typeface="Calibri"/>
                        </a:rPr>
                        <a:t>0</a:t>
                      </a:r>
                    </a:p>
                  </a:txBody>
                  <a:tcPr>
                    <a:solidFill>
                      <a:srgbClr val="FFFFFF"/>
                    </a:solidFill>
                  </a:tcPr>
                </a:tc>
                <a:tc>
                  <a:txBody>
                    <a:bodyPr/>
                    <a:lstStyle/>
                    <a:p>
                      <a:pPr algn="l"/>
                      <a:r>
                        <a:rPr sz="1000" b="0" i="0">
                          <a:solidFill>
                            <a:srgbClr val="1F2A40"/>
                          </a:solidFill>
                          <a:latin typeface="Calibri"/>
                        </a:rPr>
                        <a:t>1</a:t>
                      </a:r>
                    </a:p>
                  </a:txBody>
                  <a:tcPr>
                    <a:solidFill>
                      <a:srgbClr val="FFFFFF"/>
                    </a:solidFill>
                  </a:tcPr>
                </a:tc>
                <a:tc>
                  <a:txBody>
                    <a:bodyPr/>
                    <a:lstStyle/>
                    <a:p>
                      <a:pPr algn="l"/>
                      <a:r>
                        <a:rPr sz="1000" b="0" i="0">
                          <a:solidFill>
                            <a:srgbClr val="1F2A40"/>
                          </a:solidFill>
                          <a:latin typeface="Calibri"/>
                        </a:rPr>
                        <a:t>1228</a:t>
                      </a:r>
                    </a:p>
                  </a:txBody>
                  <a:tcPr>
                    <a:solidFill>
                      <a:srgbClr val="FFFFFF"/>
                    </a:solidFill>
                  </a:tcPr>
                </a:tc>
                <a:tc>
                  <a:txBody>
                    <a:bodyPr/>
                    <a:lstStyle/>
                    <a:p>
                      <a:pPr algn="l"/>
                      <a:r>
                        <a:rPr sz="1000" b="0" i="0">
                          <a:solidFill>
                            <a:srgbClr val="1F2A40"/>
                          </a:solidFill>
                          <a:latin typeface="Calibri"/>
                        </a:rPr>
                        <a:t>0.0001</a:t>
                      </a:r>
                    </a:p>
                  </a:txBody>
                  <a:tcPr>
                    <a:solidFill>
                      <a:srgbClr val="FFFFFF"/>
                    </a:solidFill>
                  </a:tcPr>
                </a:tc>
                <a:extLst>
                  <a:ext uri="{0D108BD9-81ED-4DB2-BD59-A6C34878D82A}">
                    <a16:rowId xmlns:a16="http://schemas.microsoft.com/office/drawing/2014/main" val="10001"/>
                  </a:ext>
                </a:extLst>
              </a:tr>
              <a:tr h="215537">
                <a:tc>
                  <a:txBody>
                    <a:bodyPr/>
                    <a:lstStyle/>
                    <a:p>
                      <a:pPr algn="l"/>
                      <a:r>
                        <a:rPr sz="1000" b="0" i="0">
                          <a:solidFill>
                            <a:srgbClr val="1F2A40"/>
                          </a:solidFill>
                          <a:latin typeface="Calibri"/>
                        </a:rPr>
                        <a:t>Tenure (band)</a:t>
                      </a:r>
                    </a:p>
                  </a:txBody>
                  <a:tcPr>
                    <a:solidFill>
                      <a:srgbClr val="F7F8FA"/>
                    </a:solidFill>
                  </a:tcPr>
                </a:tc>
                <a:tc>
                  <a:txBody>
                    <a:bodyPr/>
                    <a:lstStyle/>
                    <a:p>
                      <a:pPr algn="l"/>
                      <a:r>
                        <a:rPr sz="1000" b="0" i="0">
                          <a:solidFill>
                            <a:srgbClr val="1F2A40"/>
                          </a:solidFill>
                          <a:latin typeface="Calibri"/>
                        </a:rPr>
                        <a:t>0</a:t>
                      </a:r>
                    </a:p>
                  </a:txBody>
                  <a:tcPr>
                    <a:solidFill>
                      <a:srgbClr val="F7F8FA"/>
                    </a:solidFill>
                  </a:tcPr>
                </a:tc>
                <a:tc>
                  <a:txBody>
                    <a:bodyPr/>
                    <a:lstStyle/>
                    <a:p>
                      <a:pPr algn="l"/>
                      <a:r>
                        <a:rPr sz="1000" b="0" i="0">
                          <a:solidFill>
                            <a:srgbClr val="1F2A40"/>
                          </a:solidFill>
                          <a:latin typeface="Calibri"/>
                        </a:rPr>
                        <a:t>1</a:t>
                      </a:r>
                    </a:p>
                  </a:txBody>
                  <a:tcPr>
                    <a:solidFill>
                      <a:srgbClr val="F7F8FA"/>
                    </a:solidFill>
                  </a:tcPr>
                </a:tc>
                <a:tc>
                  <a:txBody>
                    <a:bodyPr/>
                    <a:lstStyle/>
                    <a:p>
                      <a:pPr algn="l"/>
                      <a:r>
                        <a:rPr sz="1000" b="0" i="0">
                          <a:solidFill>
                            <a:srgbClr val="1F2A40"/>
                          </a:solidFill>
                          <a:latin typeface="Calibri"/>
                        </a:rPr>
                        <a:t>1262</a:t>
                      </a:r>
                    </a:p>
                  </a:txBody>
                  <a:tcPr>
                    <a:solidFill>
                      <a:srgbClr val="F7F8FA"/>
                    </a:solidFill>
                  </a:tcPr>
                </a:tc>
                <a:tc>
                  <a:txBody>
                    <a:bodyPr/>
                    <a:lstStyle/>
                    <a:p>
                      <a:pPr algn="l"/>
                      <a:r>
                        <a:rPr sz="1000" b="0" i="0">
                          <a:solidFill>
                            <a:srgbClr val="1F2A40"/>
                          </a:solidFill>
                          <a:latin typeface="Calibri"/>
                        </a:rPr>
                        <a:t>0.0002</a:t>
                      </a:r>
                    </a:p>
                  </a:txBody>
                  <a:tcPr>
                    <a:solidFill>
                      <a:srgbClr val="F7F8FA"/>
                    </a:solidFill>
                  </a:tcPr>
                </a:tc>
                <a:extLst>
                  <a:ext uri="{0D108BD9-81ED-4DB2-BD59-A6C34878D82A}">
                    <a16:rowId xmlns:a16="http://schemas.microsoft.com/office/drawing/2014/main" val="10002"/>
                  </a:ext>
                </a:extLst>
              </a:tr>
              <a:tr h="215537">
                <a:tc>
                  <a:txBody>
                    <a:bodyPr/>
                    <a:lstStyle/>
                    <a:p>
                      <a:pPr algn="l"/>
                      <a:r>
                        <a:rPr sz="1000" b="0" i="0">
                          <a:solidFill>
                            <a:srgbClr val="1F2A40"/>
                          </a:solidFill>
                          <a:latin typeface="Calibri"/>
                        </a:rPr>
                        <a:t>Workload score</a:t>
                      </a:r>
                    </a:p>
                  </a:txBody>
                  <a:tcPr>
                    <a:solidFill>
                      <a:srgbClr val="FFFFFF"/>
                    </a:solidFill>
                  </a:tcPr>
                </a:tc>
                <a:tc>
                  <a:txBody>
                    <a:bodyPr/>
                    <a:lstStyle/>
                    <a:p>
                      <a:pPr algn="l"/>
                      <a:r>
                        <a:rPr sz="1000" b="0" i="0">
                          <a:solidFill>
                            <a:srgbClr val="1F2A40"/>
                          </a:solidFill>
                          <a:latin typeface="Calibri"/>
                        </a:rPr>
                        <a:t>42</a:t>
                      </a:r>
                    </a:p>
                  </a:txBody>
                  <a:tcPr>
                    <a:solidFill>
                      <a:srgbClr val="FFFFFF"/>
                    </a:solidFill>
                  </a:tcPr>
                </a:tc>
                <a:tc>
                  <a:txBody>
                    <a:bodyPr/>
                    <a:lstStyle/>
                    <a:p>
                      <a:pPr algn="l"/>
                      <a:r>
                        <a:rPr sz="1000" b="0" i="0">
                          <a:solidFill>
                            <a:srgbClr val="1F2A40"/>
                          </a:solidFill>
                          <a:latin typeface="Calibri"/>
                        </a:rPr>
                        <a:t>50</a:t>
                      </a:r>
                    </a:p>
                  </a:txBody>
                  <a:tcPr>
                    <a:solidFill>
                      <a:srgbClr val="FFFFFF"/>
                    </a:solidFill>
                  </a:tcPr>
                </a:tc>
                <a:tc>
                  <a:txBody>
                    <a:bodyPr/>
                    <a:lstStyle/>
                    <a:p>
                      <a:pPr algn="l"/>
                      <a:r>
                        <a:rPr sz="1000" b="0" i="0">
                          <a:solidFill>
                            <a:srgbClr val="1F2A40"/>
                          </a:solidFill>
                          <a:latin typeface="Calibri"/>
                        </a:rPr>
                        <a:t>1291</a:t>
                      </a:r>
                    </a:p>
                  </a:txBody>
                  <a:tcPr>
                    <a:solidFill>
                      <a:srgbClr val="FFFFFF"/>
                    </a:solidFill>
                  </a:tcPr>
                </a:tc>
                <a:tc>
                  <a:txBody>
                    <a:bodyPr/>
                    <a:lstStyle/>
                    <a:p>
                      <a:pPr algn="l"/>
                      <a:r>
                        <a:rPr sz="1000" b="0" i="0">
                          <a:solidFill>
                            <a:srgbClr val="1F2A40"/>
                          </a:solidFill>
                          <a:latin typeface="Calibri"/>
                        </a:rPr>
                        <a:t>0.0007</a:t>
                      </a:r>
                    </a:p>
                  </a:txBody>
                  <a:tcPr>
                    <a:solidFill>
                      <a:srgbClr val="FFFFFF"/>
                    </a:solidFill>
                  </a:tcPr>
                </a:tc>
                <a:extLst>
                  <a:ext uri="{0D108BD9-81ED-4DB2-BD59-A6C34878D82A}">
                    <a16:rowId xmlns:a16="http://schemas.microsoft.com/office/drawing/2014/main" val="10003"/>
                  </a:ext>
                </a:extLst>
              </a:tr>
              <a:tr h="215537">
                <a:tc>
                  <a:txBody>
                    <a:bodyPr/>
                    <a:lstStyle/>
                    <a:p>
                      <a:pPr algn="l"/>
                      <a:r>
                        <a:rPr sz="1000" b="0" i="0">
                          <a:solidFill>
                            <a:srgbClr val="1F2A40"/>
                          </a:solidFill>
                          <a:latin typeface="Calibri"/>
                        </a:rPr>
                        <a:t>Income (band)</a:t>
                      </a:r>
                    </a:p>
                  </a:txBody>
                  <a:tcPr>
                    <a:solidFill>
                      <a:srgbClr val="F7F8FA"/>
                    </a:solidFill>
                  </a:tcPr>
                </a:tc>
                <a:tc>
                  <a:txBody>
                    <a:bodyPr/>
                    <a:lstStyle/>
                    <a:p>
                      <a:pPr algn="l"/>
                      <a:r>
                        <a:rPr sz="1000" b="0" i="0">
                          <a:solidFill>
                            <a:srgbClr val="1F2A40"/>
                          </a:solidFill>
                          <a:latin typeface="Calibri"/>
                        </a:rPr>
                        <a:t>1</a:t>
                      </a:r>
                    </a:p>
                  </a:txBody>
                  <a:tcPr>
                    <a:solidFill>
                      <a:srgbClr val="F7F8FA"/>
                    </a:solidFill>
                  </a:tcPr>
                </a:tc>
                <a:tc>
                  <a:txBody>
                    <a:bodyPr/>
                    <a:lstStyle/>
                    <a:p>
                      <a:pPr algn="l"/>
                      <a:r>
                        <a:rPr sz="1000" b="0" i="0">
                          <a:solidFill>
                            <a:srgbClr val="1F2A40"/>
                          </a:solidFill>
                          <a:latin typeface="Calibri"/>
                        </a:rPr>
                        <a:t>2</a:t>
                      </a:r>
                    </a:p>
                  </a:txBody>
                  <a:tcPr>
                    <a:solidFill>
                      <a:srgbClr val="F7F8FA"/>
                    </a:solidFill>
                  </a:tcPr>
                </a:tc>
                <a:tc>
                  <a:txBody>
                    <a:bodyPr/>
                    <a:lstStyle/>
                    <a:p>
                      <a:pPr algn="l"/>
                      <a:r>
                        <a:rPr sz="1000" b="0" i="0">
                          <a:solidFill>
                            <a:srgbClr val="1F2A40"/>
                          </a:solidFill>
                          <a:latin typeface="Calibri"/>
                        </a:rPr>
                        <a:t>1411</a:t>
                      </a:r>
                    </a:p>
                  </a:txBody>
                  <a:tcPr>
                    <a:solidFill>
                      <a:srgbClr val="F7F8FA"/>
                    </a:solidFill>
                  </a:tcPr>
                </a:tc>
                <a:tc>
                  <a:txBody>
                    <a:bodyPr/>
                    <a:lstStyle/>
                    <a:p>
                      <a:pPr algn="l"/>
                      <a:r>
                        <a:rPr sz="1000" b="0" i="0">
                          <a:solidFill>
                            <a:srgbClr val="1F2A40"/>
                          </a:solidFill>
                          <a:latin typeface="Calibri"/>
                        </a:rPr>
                        <a:t>0.0023</a:t>
                      </a:r>
                    </a:p>
                  </a:txBody>
                  <a:tcPr>
                    <a:solidFill>
                      <a:srgbClr val="F7F8FA"/>
                    </a:solidFill>
                  </a:tcPr>
                </a:tc>
                <a:extLst>
                  <a:ext uri="{0D108BD9-81ED-4DB2-BD59-A6C34878D82A}">
                    <a16:rowId xmlns:a16="http://schemas.microsoft.com/office/drawing/2014/main" val="10004"/>
                  </a:ext>
                </a:extLst>
              </a:tr>
              <a:tr h="215537">
                <a:tc>
                  <a:txBody>
                    <a:bodyPr/>
                    <a:lstStyle/>
                    <a:p>
                      <a:pPr algn="l"/>
                      <a:r>
                        <a:rPr sz="1000" b="0" i="0">
                          <a:solidFill>
                            <a:srgbClr val="1F2A40"/>
                          </a:solidFill>
                          <a:latin typeface="Calibri"/>
                        </a:rPr>
                        <a:t>Fatigue score</a:t>
                      </a:r>
                    </a:p>
                  </a:txBody>
                  <a:tcPr>
                    <a:solidFill>
                      <a:srgbClr val="FFFFFF"/>
                    </a:solidFill>
                  </a:tcPr>
                </a:tc>
                <a:tc>
                  <a:txBody>
                    <a:bodyPr/>
                    <a:lstStyle/>
                    <a:p>
                      <a:pPr algn="l"/>
                      <a:r>
                        <a:rPr sz="1000" b="0" i="0">
                          <a:solidFill>
                            <a:srgbClr val="1F2A40"/>
                          </a:solidFill>
                          <a:latin typeface="Calibri"/>
                        </a:rPr>
                        <a:t>3.8</a:t>
                      </a:r>
                    </a:p>
                  </a:txBody>
                  <a:tcPr>
                    <a:solidFill>
                      <a:srgbClr val="FFFFFF"/>
                    </a:solidFill>
                  </a:tcPr>
                </a:tc>
                <a:tc>
                  <a:txBody>
                    <a:bodyPr/>
                    <a:lstStyle/>
                    <a:p>
                      <a:pPr algn="l"/>
                      <a:r>
                        <a:rPr sz="1000" b="0" i="0">
                          <a:solidFill>
                            <a:srgbClr val="1F2A40"/>
                          </a:solidFill>
                          <a:latin typeface="Calibri"/>
                        </a:rPr>
                        <a:t>4.6</a:t>
                      </a:r>
                    </a:p>
                  </a:txBody>
                  <a:tcPr>
                    <a:solidFill>
                      <a:srgbClr val="FFFFFF"/>
                    </a:solidFill>
                  </a:tcPr>
                </a:tc>
                <a:tc>
                  <a:txBody>
                    <a:bodyPr/>
                    <a:lstStyle/>
                    <a:p>
                      <a:pPr algn="l"/>
                      <a:r>
                        <a:rPr sz="1000" b="0" i="0">
                          <a:solidFill>
                            <a:srgbClr val="1F2A40"/>
                          </a:solidFill>
                          <a:latin typeface="Calibri"/>
                        </a:rPr>
                        <a:t>1474</a:t>
                      </a:r>
                    </a:p>
                  </a:txBody>
                  <a:tcPr>
                    <a:solidFill>
                      <a:srgbClr val="FFFFFF"/>
                    </a:solidFill>
                  </a:tcPr>
                </a:tc>
                <a:tc>
                  <a:txBody>
                    <a:bodyPr/>
                    <a:lstStyle/>
                    <a:p>
                      <a:pPr algn="l"/>
                      <a:r>
                        <a:rPr sz="1000" b="0" i="0">
                          <a:solidFill>
                            <a:srgbClr val="1F2A40"/>
                          </a:solidFill>
                          <a:latin typeface="Calibri"/>
                        </a:rPr>
                        <a:t>0.0078</a:t>
                      </a:r>
                    </a:p>
                  </a:txBody>
                  <a:tcPr>
                    <a:solidFill>
                      <a:srgbClr val="FFFFFF"/>
                    </a:solidFill>
                  </a:tcPr>
                </a:tc>
                <a:extLst>
                  <a:ext uri="{0D108BD9-81ED-4DB2-BD59-A6C34878D82A}">
                    <a16:rowId xmlns:a16="http://schemas.microsoft.com/office/drawing/2014/main" val="10005"/>
                  </a:ext>
                </a:extLst>
              </a:tr>
              <a:tr h="215538">
                <a:tc>
                  <a:txBody>
                    <a:bodyPr/>
                    <a:lstStyle/>
                    <a:p>
                      <a:pPr algn="l"/>
                      <a:r>
                        <a:rPr sz="1000" b="0" i="0">
                          <a:solidFill>
                            <a:srgbClr val="1F2A40"/>
                          </a:solidFill>
                          <a:latin typeface="Calibri"/>
                        </a:rPr>
                        <a:t>Force (Borg)</a:t>
                      </a:r>
                    </a:p>
                  </a:txBody>
                  <a:tcPr>
                    <a:solidFill>
                      <a:srgbClr val="F7F8FA"/>
                    </a:solidFill>
                  </a:tcPr>
                </a:tc>
                <a:tc>
                  <a:txBody>
                    <a:bodyPr/>
                    <a:lstStyle/>
                    <a:p>
                      <a:pPr algn="l"/>
                      <a:r>
                        <a:rPr sz="1000" b="0" i="0">
                          <a:solidFill>
                            <a:srgbClr val="1F2A40"/>
                          </a:solidFill>
                          <a:latin typeface="Calibri"/>
                        </a:rPr>
                        <a:t>3</a:t>
                      </a:r>
                    </a:p>
                  </a:txBody>
                  <a:tcPr>
                    <a:solidFill>
                      <a:srgbClr val="F7F8FA"/>
                    </a:solidFill>
                  </a:tcPr>
                </a:tc>
                <a:tc>
                  <a:txBody>
                    <a:bodyPr/>
                    <a:lstStyle/>
                    <a:p>
                      <a:pPr algn="l"/>
                      <a:r>
                        <a:rPr sz="1000" b="0" i="0">
                          <a:solidFill>
                            <a:srgbClr val="1F2A40"/>
                          </a:solidFill>
                          <a:latin typeface="Calibri"/>
                        </a:rPr>
                        <a:t>4</a:t>
                      </a:r>
                    </a:p>
                  </a:txBody>
                  <a:tcPr>
                    <a:solidFill>
                      <a:srgbClr val="F7F8FA"/>
                    </a:solidFill>
                  </a:tcPr>
                </a:tc>
                <a:tc>
                  <a:txBody>
                    <a:bodyPr/>
                    <a:lstStyle/>
                    <a:p>
                      <a:pPr algn="l"/>
                      <a:r>
                        <a:rPr sz="1000" b="0" i="0">
                          <a:solidFill>
                            <a:srgbClr val="1F2A40"/>
                          </a:solidFill>
                          <a:latin typeface="Calibri"/>
                        </a:rPr>
                        <a:t>1585</a:t>
                      </a:r>
                    </a:p>
                  </a:txBody>
                  <a:tcPr>
                    <a:solidFill>
                      <a:srgbClr val="F7F8FA"/>
                    </a:solidFill>
                  </a:tcPr>
                </a:tc>
                <a:tc>
                  <a:txBody>
                    <a:bodyPr/>
                    <a:lstStyle/>
                    <a:p>
                      <a:pPr algn="l"/>
                      <a:r>
                        <a:rPr sz="1000" b="0" i="0">
                          <a:solidFill>
                            <a:srgbClr val="1F2A40"/>
                          </a:solidFill>
                          <a:latin typeface="Calibri"/>
                        </a:rPr>
                        <a:t>0.025</a:t>
                      </a:r>
                    </a:p>
                  </a:txBody>
                  <a:tcPr>
                    <a:solidFill>
                      <a:srgbClr val="F7F8FA"/>
                    </a:solidFill>
                  </a:tcPr>
                </a:tc>
                <a:extLst>
                  <a:ext uri="{0D108BD9-81ED-4DB2-BD59-A6C34878D82A}">
                    <a16:rowId xmlns:a16="http://schemas.microsoft.com/office/drawing/2014/main" val="10006"/>
                  </a:ext>
                </a:extLst>
              </a:tr>
            </a:tbl>
          </a:graphicData>
        </a:graphic>
      </p:graphicFrame>
      <p:sp>
        <p:nvSpPr>
          <p:cNvPr id="14" name="TextBox 13"/>
          <p:cNvSpPr txBox="1"/>
          <p:nvPr/>
        </p:nvSpPr>
        <p:spPr>
          <a:xfrm>
            <a:off x="640080" y="6080760"/>
            <a:ext cx="11064240" cy="274320"/>
          </a:xfrm>
          <a:prstGeom prst="rect">
            <a:avLst/>
          </a:prstGeom>
          <a:noFill/>
        </p:spPr>
        <p:txBody>
          <a:bodyPr wrap="square">
            <a:spAutoFit/>
          </a:bodyPr>
          <a:lstStyle/>
          <a:p>
            <a:pPr algn="l"/>
            <a:r>
              <a:rPr sz="1000" b="0" i="1">
                <a:solidFill>
                  <a:srgbClr val="6B7282"/>
                </a:solidFill>
                <a:latin typeface="Calibri"/>
              </a:rPr>
              <a:t>Posture, Repetition, and Force reach chi-square significance; age (OR 3.58) and job duration (OR 2.89) are the strongest individual predictors, alongside income, workload, and fatigue.</a:t>
            </a:r>
          </a:p>
        </p:txBody>
      </p:sp>
      <p:sp>
        <p:nvSpPr>
          <p:cNvPr id="15" name="TextBox 14"/>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7/10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07  MODEL PERFORMANCE</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Best Model per Factor</a:t>
            </a:r>
          </a:p>
        </p:txBody>
      </p:sp>
      <p:graphicFrame>
        <p:nvGraphicFramePr>
          <p:cNvPr id="6" name="Table 5"/>
          <p:cNvGraphicFramePr>
            <a:graphicFrameLocks noGrp="1"/>
          </p:cNvGraphicFramePr>
          <p:nvPr/>
        </p:nvGraphicFramePr>
        <p:xfrm>
          <a:off x="640080" y="1737360"/>
          <a:ext cx="10789920" cy="3108960"/>
        </p:xfrm>
        <a:graphic>
          <a:graphicData uri="http://schemas.openxmlformats.org/drawingml/2006/table">
            <a:tbl>
              <a:tblPr firstRow="1" bandRow="1">
                <a:tableStyleId>{5C22544A-7EE6-4342-B048-85BDC9FD1C3A}</a:tableStyleId>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gridCol w="1798320">
                  <a:extLst>
                    <a:ext uri="{9D8B030D-6E8A-4147-A177-3AD203B41FA5}">
                      <a16:colId xmlns:a16="http://schemas.microsoft.com/office/drawing/2014/main" val="20003"/>
                    </a:ext>
                  </a:extLst>
                </a:gridCol>
                <a:gridCol w="1798320">
                  <a:extLst>
                    <a:ext uri="{9D8B030D-6E8A-4147-A177-3AD203B41FA5}">
                      <a16:colId xmlns:a16="http://schemas.microsoft.com/office/drawing/2014/main" val="20004"/>
                    </a:ext>
                  </a:extLst>
                </a:gridCol>
                <a:gridCol w="1798320">
                  <a:extLst>
                    <a:ext uri="{9D8B030D-6E8A-4147-A177-3AD203B41FA5}">
                      <a16:colId xmlns:a16="http://schemas.microsoft.com/office/drawing/2014/main" val="20005"/>
                    </a:ext>
                  </a:extLst>
                </a:gridCol>
              </a:tblGrid>
              <a:tr h="444137">
                <a:tc>
                  <a:txBody>
                    <a:bodyPr/>
                    <a:lstStyle/>
                    <a:p>
                      <a:pPr algn="l"/>
                      <a:r>
                        <a:rPr sz="1300" b="1" i="0">
                          <a:solidFill>
                            <a:srgbClr val="FFFFFF"/>
                          </a:solidFill>
                          <a:latin typeface="Calibri"/>
                        </a:rPr>
                        <a:t>Factor</a:t>
                      </a:r>
                    </a:p>
                  </a:txBody>
                  <a:tcPr>
                    <a:solidFill>
                      <a:srgbClr val="0F1F3A"/>
                    </a:solidFill>
                  </a:tcPr>
                </a:tc>
                <a:tc>
                  <a:txBody>
                    <a:bodyPr/>
                    <a:lstStyle/>
                    <a:p>
                      <a:pPr algn="l"/>
                      <a:r>
                        <a:rPr sz="1300" b="1" i="0">
                          <a:solidFill>
                            <a:srgbClr val="FFFFFF"/>
                          </a:solidFill>
                          <a:latin typeface="Calibri"/>
                        </a:rPr>
                        <a:t>Best model</a:t>
                      </a:r>
                    </a:p>
                  </a:txBody>
                  <a:tcPr>
                    <a:solidFill>
                      <a:srgbClr val="0F1F3A"/>
                    </a:solidFill>
                  </a:tcPr>
                </a:tc>
                <a:tc>
                  <a:txBody>
                    <a:bodyPr/>
                    <a:lstStyle/>
                    <a:p>
                      <a:pPr algn="l"/>
                      <a:r>
                        <a:rPr sz="1300" b="1" i="0">
                          <a:solidFill>
                            <a:srgbClr val="FFFFFF"/>
                          </a:solidFill>
                          <a:latin typeface="Calibri"/>
                        </a:rPr>
                        <a:t>Acc.</a:t>
                      </a:r>
                    </a:p>
                  </a:txBody>
                  <a:tcPr>
                    <a:solidFill>
                      <a:srgbClr val="0F1F3A"/>
                    </a:solidFill>
                  </a:tcPr>
                </a:tc>
                <a:tc>
                  <a:txBody>
                    <a:bodyPr/>
                    <a:lstStyle/>
                    <a:p>
                      <a:pPr algn="l"/>
                      <a:r>
                        <a:rPr sz="1300" b="1" i="0">
                          <a:solidFill>
                            <a:srgbClr val="FFFFFF"/>
                          </a:solidFill>
                          <a:latin typeface="Calibri"/>
                        </a:rPr>
                        <a:t>F1 macro</a:t>
                      </a:r>
                    </a:p>
                  </a:txBody>
                  <a:tcPr>
                    <a:solidFill>
                      <a:srgbClr val="0F1F3A"/>
                    </a:solidFill>
                  </a:tcPr>
                </a:tc>
                <a:tc>
                  <a:txBody>
                    <a:bodyPr/>
                    <a:lstStyle/>
                    <a:p>
                      <a:pPr algn="l"/>
                      <a:r>
                        <a:rPr sz="1300" b="1" i="0">
                          <a:solidFill>
                            <a:srgbClr val="FFFFFF"/>
                          </a:solidFill>
                          <a:latin typeface="Calibri"/>
                        </a:rPr>
                        <a:t>AUC macro</a:t>
                      </a:r>
                    </a:p>
                  </a:txBody>
                  <a:tcPr>
                    <a:solidFill>
                      <a:srgbClr val="0F1F3A"/>
                    </a:solidFill>
                  </a:tcPr>
                </a:tc>
                <a:tc>
                  <a:txBody>
                    <a:bodyPr/>
                    <a:lstStyle/>
                    <a:p>
                      <a:pPr algn="l"/>
                      <a:r>
                        <a:rPr sz="1300" b="1" i="0">
                          <a:solidFill>
                            <a:srgbClr val="FFFFFF"/>
                          </a:solidFill>
                          <a:latin typeface="Calibri"/>
                        </a:rPr>
                        <a:t>Features</a:t>
                      </a:r>
                    </a:p>
                  </a:txBody>
                  <a:tcPr>
                    <a:solidFill>
                      <a:srgbClr val="0F1F3A"/>
                    </a:solidFill>
                  </a:tcPr>
                </a:tc>
                <a:extLst>
                  <a:ext uri="{0D108BD9-81ED-4DB2-BD59-A6C34878D82A}">
                    <a16:rowId xmlns:a16="http://schemas.microsoft.com/office/drawing/2014/main" val="10000"/>
                  </a:ext>
                </a:extLst>
              </a:tr>
              <a:tr h="444137">
                <a:tc>
                  <a:txBody>
                    <a:bodyPr/>
                    <a:lstStyle/>
                    <a:p>
                      <a:pPr algn="l"/>
                      <a:r>
                        <a:rPr sz="1300" b="0" i="0">
                          <a:solidFill>
                            <a:srgbClr val="1F2A40"/>
                          </a:solidFill>
                          <a:latin typeface="Calibri"/>
                        </a:rPr>
                        <a:t>Force</a:t>
                      </a:r>
                    </a:p>
                  </a:txBody>
                  <a:tcPr>
                    <a:solidFill>
                      <a:srgbClr val="FFFFFF"/>
                    </a:solidFill>
                  </a:tcPr>
                </a:tc>
                <a:tc>
                  <a:txBody>
                    <a:bodyPr/>
                    <a:lstStyle/>
                    <a:p>
                      <a:pPr algn="l"/>
                      <a:r>
                        <a:rPr sz="1300" b="0" i="0">
                          <a:solidFill>
                            <a:srgbClr val="1F2A40"/>
                          </a:solidFill>
                          <a:latin typeface="Calibri"/>
                        </a:rPr>
                        <a:t>HistGradientBoosting</a:t>
                      </a:r>
                    </a:p>
                  </a:txBody>
                  <a:tcPr>
                    <a:solidFill>
                      <a:srgbClr val="FFFFFF"/>
                    </a:solidFill>
                  </a:tcPr>
                </a:tc>
                <a:tc>
                  <a:txBody>
                    <a:bodyPr/>
                    <a:lstStyle/>
                    <a:p>
                      <a:pPr algn="l"/>
                      <a:r>
                        <a:rPr sz="1300" b="0" i="0">
                          <a:solidFill>
                            <a:srgbClr val="1F2A40"/>
                          </a:solidFill>
                          <a:latin typeface="Calibri"/>
                        </a:rPr>
                        <a:t>62%</a:t>
                      </a:r>
                    </a:p>
                  </a:txBody>
                  <a:tcPr>
                    <a:solidFill>
                      <a:srgbClr val="FFFFFF"/>
                    </a:solidFill>
                  </a:tcPr>
                </a:tc>
                <a:tc>
                  <a:txBody>
                    <a:bodyPr/>
                    <a:lstStyle/>
                    <a:p>
                      <a:pPr algn="l"/>
                      <a:r>
                        <a:rPr sz="1300" b="0" i="0">
                          <a:solidFill>
                            <a:srgbClr val="1F2A40"/>
                          </a:solidFill>
                          <a:latin typeface="Calibri"/>
                        </a:rPr>
                        <a:t>57%</a:t>
                      </a:r>
                    </a:p>
                  </a:txBody>
                  <a:tcPr>
                    <a:solidFill>
                      <a:srgbClr val="FFFFFF"/>
                    </a:solidFill>
                  </a:tcPr>
                </a:tc>
                <a:tc>
                  <a:txBody>
                    <a:bodyPr/>
                    <a:lstStyle/>
                    <a:p>
                      <a:pPr algn="l"/>
                      <a:r>
                        <a:rPr sz="1300" b="0" i="0">
                          <a:solidFill>
                            <a:srgbClr val="1F2A40"/>
                          </a:solidFill>
                          <a:latin typeface="Calibri"/>
                        </a:rPr>
                        <a:t>71%</a:t>
                      </a:r>
                    </a:p>
                  </a:txBody>
                  <a:tcPr>
                    <a:solidFill>
                      <a:srgbClr val="FFFFFF"/>
                    </a:solidFill>
                  </a:tcPr>
                </a:tc>
                <a:tc>
                  <a:txBody>
                    <a:bodyPr/>
                    <a:lstStyle/>
                    <a:p>
                      <a:pPr algn="l"/>
                      <a:r>
                        <a:rPr sz="1300" b="0" i="0">
                          <a:solidFill>
                            <a:srgbClr val="1F2A40"/>
                          </a:solidFill>
                          <a:latin typeface="Calibri"/>
                        </a:rPr>
                        <a:t>42</a:t>
                      </a:r>
                    </a:p>
                  </a:txBody>
                  <a:tcPr>
                    <a:solidFill>
                      <a:srgbClr val="FFFFFF"/>
                    </a:solidFill>
                  </a:tcPr>
                </a:tc>
                <a:extLst>
                  <a:ext uri="{0D108BD9-81ED-4DB2-BD59-A6C34878D82A}">
                    <a16:rowId xmlns:a16="http://schemas.microsoft.com/office/drawing/2014/main" val="10001"/>
                  </a:ext>
                </a:extLst>
              </a:tr>
              <a:tr h="444137">
                <a:tc>
                  <a:txBody>
                    <a:bodyPr/>
                    <a:lstStyle/>
                    <a:p>
                      <a:pPr algn="l"/>
                      <a:r>
                        <a:rPr sz="1300" b="0" i="0">
                          <a:solidFill>
                            <a:srgbClr val="1F2A40"/>
                          </a:solidFill>
                          <a:latin typeface="Calibri"/>
                        </a:rPr>
                        <a:t>Repetition</a:t>
                      </a:r>
                    </a:p>
                  </a:txBody>
                  <a:tcPr>
                    <a:solidFill>
                      <a:srgbClr val="F7F8FA"/>
                    </a:solidFill>
                  </a:tcPr>
                </a:tc>
                <a:tc>
                  <a:txBody>
                    <a:bodyPr/>
                    <a:lstStyle/>
                    <a:p>
                      <a:pPr algn="l"/>
                      <a:r>
                        <a:rPr sz="1300" b="0" i="0">
                          <a:solidFill>
                            <a:srgbClr val="1F2A40"/>
                          </a:solidFill>
                          <a:latin typeface="Calibri"/>
                        </a:rPr>
                        <a:t>Random Forest</a:t>
                      </a:r>
                    </a:p>
                  </a:txBody>
                  <a:tcPr>
                    <a:solidFill>
                      <a:srgbClr val="F7F8FA"/>
                    </a:solidFill>
                  </a:tcPr>
                </a:tc>
                <a:tc>
                  <a:txBody>
                    <a:bodyPr/>
                    <a:lstStyle/>
                    <a:p>
                      <a:pPr algn="l"/>
                      <a:r>
                        <a:rPr sz="1300" b="0" i="0">
                          <a:solidFill>
                            <a:srgbClr val="1F2A40"/>
                          </a:solidFill>
                          <a:latin typeface="Calibri"/>
                        </a:rPr>
                        <a:t>62%</a:t>
                      </a:r>
                    </a:p>
                  </a:txBody>
                  <a:tcPr>
                    <a:solidFill>
                      <a:srgbClr val="F7F8FA"/>
                    </a:solidFill>
                  </a:tcPr>
                </a:tc>
                <a:tc>
                  <a:txBody>
                    <a:bodyPr/>
                    <a:lstStyle/>
                    <a:p>
                      <a:pPr algn="l"/>
                      <a:r>
                        <a:rPr sz="1300" b="0" i="0">
                          <a:solidFill>
                            <a:srgbClr val="1F2A40"/>
                          </a:solidFill>
                          <a:latin typeface="Calibri"/>
                        </a:rPr>
                        <a:t>57%</a:t>
                      </a:r>
                    </a:p>
                  </a:txBody>
                  <a:tcPr>
                    <a:solidFill>
                      <a:srgbClr val="F7F8FA"/>
                    </a:solidFill>
                  </a:tcPr>
                </a:tc>
                <a:tc>
                  <a:txBody>
                    <a:bodyPr/>
                    <a:lstStyle/>
                    <a:p>
                      <a:pPr algn="l"/>
                      <a:r>
                        <a:rPr sz="1300" b="0" i="0">
                          <a:solidFill>
                            <a:srgbClr val="1F2A40"/>
                          </a:solidFill>
                          <a:latin typeface="Calibri"/>
                        </a:rPr>
                        <a:t>73%</a:t>
                      </a:r>
                    </a:p>
                  </a:txBody>
                  <a:tcPr>
                    <a:solidFill>
                      <a:srgbClr val="F7F8FA"/>
                    </a:solidFill>
                  </a:tcPr>
                </a:tc>
                <a:tc>
                  <a:txBody>
                    <a:bodyPr/>
                    <a:lstStyle/>
                    <a:p>
                      <a:pPr algn="l"/>
                      <a:r>
                        <a:rPr sz="1300" b="0" i="0">
                          <a:solidFill>
                            <a:srgbClr val="1F2A40"/>
                          </a:solidFill>
                          <a:latin typeface="Calibri"/>
                        </a:rPr>
                        <a:t>41</a:t>
                      </a:r>
                    </a:p>
                  </a:txBody>
                  <a:tcPr>
                    <a:solidFill>
                      <a:srgbClr val="F7F8FA"/>
                    </a:solidFill>
                  </a:tcPr>
                </a:tc>
                <a:extLst>
                  <a:ext uri="{0D108BD9-81ED-4DB2-BD59-A6C34878D82A}">
                    <a16:rowId xmlns:a16="http://schemas.microsoft.com/office/drawing/2014/main" val="10002"/>
                  </a:ext>
                </a:extLst>
              </a:tr>
              <a:tr h="444137">
                <a:tc>
                  <a:txBody>
                    <a:bodyPr/>
                    <a:lstStyle/>
                    <a:p>
                      <a:pPr algn="l"/>
                      <a:r>
                        <a:rPr sz="1300" b="0" i="0">
                          <a:solidFill>
                            <a:srgbClr val="1F2A40"/>
                          </a:solidFill>
                          <a:latin typeface="Calibri"/>
                        </a:rPr>
                        <a:t>Duration</a:t>
                      </a:r>
                    </a:p>
                  </a:txBody>
                  <a:tcPr>
                    <a:solidFill>
                      <a:srgbClr val="FFFFFF"/>
                    </a:solidFill>
                  </a:tcPr>
                </a:tc>
                <a:tc>
                  <a:txBody>
                    <a:bodyPr/>
                    <a:lstStyle/>
                    <a:p>
                      <a:pPr algn="l"/>
                      <a:r>
                        <a:rPr sz="1300" b="0" i="0">
                          <a:solidFill>
                            <a:srgbClr val="1F2A40"/>
                          </a:solidFill>
                          <a:latin typeface="Calibri"/>
                        </a:rPr>
                        <a:t>Random Forest</a:t>
                      </a:r>
                    </a:p>
                  </a:txBody>
                  <a:tcPr>
                    <a:solidFill>
                      <a:srgbClr val="FFFFFF"/>
                    </a:solidFill>
                  </a:tcPr>
                </a:tc>
                <a:tc>
                  <a:txBody>
                    <a:bodyPr/>
                    <a:lstStyle/>
                    <a:p>
                      <a:pPr algn="l"/>
                      <a:r>
                        <a:rPr sz="1300" b="0" i="0">
                          <a:solidFill>
                            <a:srgbClr val="1F2A40"/>
                          </a:solidFill>
                          <a:latin typeface="Calibri"/>
                        </a:rPr>
                        <a:t>61%</a:t>
                      </a:r>
                    </a:p>
                  </a:txBody>
                  <a:tcPr>
                    <a:solidFill>
                      <a:srgbClr val="FFFFFF"/>
                    </a:solidFill>
                  </a:tcPr>
                </a:tc>
                <a:tc>
                  <a:txBody>
                    <a:bodyPr/>
                    <a:lstStyle/>
                    <a:p>
                      <a:pPr algn="l"/>
                      <a:r>
                        <a:rPr sz="1300" b="0" i="0">
                          <a:solidFill>
                            <a:srgbClr val="1F2A40"/>
                          </a:solidFill>
                          <a:latin typeface="Calibri"/>
                        </a:rPr>
                        <a:t>58%</a:t>
                      </a:r>
                    </a:p>
                  </a:txBody>
                  <a:tcPr>
                    <a:solidFill>
                      <a:srgbClr val="FFFFFF"/>
                    </a:solidFill>
                  </a:tcPr>
                </a:tc>
                <a:tc>
                  <a:txBody>
                    <a:bodyPr/>
                    <a:lstStyle/>
                    <a:p>
                      <a:pPr algn="l"/>
                      <a:r>
                        <a:rPr sz="1300" b="0" i="0">
                          <a:solidFill>
                            <a:srgbClr val="1F2A40"/>
                          </a:solidFill>
                          <a:latin typeface="Calibri"/>
                        </a:rPr>
                        <a:t>76%</a:t>
                      </a:r>
                    </a:p>
                  </a:txBody>
                  <a:tcPr>
                    <a:solidFill>
                      <a:srgbClr val="FFFFFF"/>
                    </a:solidFill>
                  </a:tcPr>
                </a:tc>
                <a:tc>
                  <a:txBody>
                    <a:bodyPr/>
                    <a:lstStyle/>
                    <a:p>
                      <a:pPr algn="l"/>
                      <a:r>
                        <a:rPr sz="1300" b="0" i="0">
                          <a:solidFill>
                            <a:srgbClr val="1F2A40"/>
                          </a:solidFill>
                          <a:latin typeface="Calibri"/>
                        </a:rPr>
                        <a:t>42</a:t>
                      </a:r>
                    </a:p>
                  </a:txBody>
                  <a:tcPr>
                    <a:solidFill>
                      <a:srgbClr val="FFFFFF"/>
                    </a:solidFill>
                  </a:tcPr>
                </a:tc>
                <a:extLst>
                  <a:ext uri="{0D108BD9-81ED-4DB2-BD59-A6C34878D82A}">
                    <a16:rowId xmlns:a16="http://schemas.microsoft.com/office/drawing/2014/main" val="10003"/>
                  </a:ext>
                </a:extLst>
              </a:tr>
              <a:tr h="444137">
                <a:tc>
                  <a:txBody>
                    <a:bodyPr/>
                    <a:lstStyle/>
                    <a:p>
                      <a:pPr algn="l"/>
                      <a:r>
                        <a:rPr sz="1300" b="0" i="0">
                          <a:solidFill>
                            <a:srgbClr val="1F2A40"/>
                          </a:solidFill>
                          <a:latin typeface="Calibri"/>
                        </a:rPr>
                        <a:t>Vibration</a:t>
                      </a:r>
                    </a:p>
                  </a:txBody>
                  <a:tcPr>
                    <a:solidFill>
                      <a:srgbClr val="F7F8FA"/>
                    </a:solidFill>
                  </a:tcPr>
                </a:tc>
                <a:tc>
                  <a:txBody>
                    <a:bodyPr/>
                    <a:lstStyle/>
                    <a:p>
                      <a:pPr algn="l"/>
                      <a:r>
                        <a:rPr sz="1300" b="0" i="0">
                          <a:solidFill>
                            <a:srgbClr val="1F2A40"/>
                          </a:solidFill>
                          <a:latin typeface="Calibri"/>
                        </a:rPr>
                        <a:t>Extra Trees</a:t>
                      </a:r>
                    </a:p>
                  </a:txBody>
                  <a:tcPr>
                    <a:solidFill>
                      <a:srgbClr val="F7F8FA"/>
                    </a:solidFill>
                  </a:tcPr>
                </a:tc>
                <a:tc>
                  <a:txBody>
                    <a:bodyPr/>
                    <a:lstStyle/>
                    <a:p>
                      <a:pPr algn="l"/>
                      <a:r>
                        <a:rPr sz="1300" b="0" i="0">
                          <a:solidFill>
                            <a:srgbClr val="1F2A40"/>
                          </a:solidFill>
                          <a:latin typeface="Calibri"/>
                        </a:rPr>
                        <a:t>58%</a:t>
                      </a:r>
                    </a:p>
                  </a:txBody>
                  <a:tcPr>
                    <a:solidFill>
                      <a:srgbClr val="F7F8FA"/>
                    </a:solidFill>
                  </a:tcPr>
                </a:tc>
                <a:tc>
                  <a:txBody>
                    <a:bodyPr/>
                    <a:lstStyle/>
                    <a:p>
                      <a:pPr algn="l"/>
                      <a:r>
                        <a:rPr sz="1300" b="0" i="0">
                          <a:solidFill>
                            <a:srgbClr val="1F2A40"/>
                          </a:solidFill>
                          <a:latin typeface="Calibri"/>
                        </a:rPr>
                        <a:t>57%</a:t>
                      </a:r>
                    </a:p>
                  </a:txBody>
                  <a:tcPr>
                    <a:solidFill>
                      <a:srgbClr val="F7F8FA"/>
                    </a:solidFill>
                  </a:tcPr>
                </a:tc>
                <a:tc>
                  <a:txBody>
                    <a:bodyPr/>
                    <a:lstStyle/>
                    <a:p>
                      <a:pPr algn="l"/>
                      <a:r>
                        <a:rPr sz="1300" b="0" i="0">
                          <a:solidFill>
                            <a:srgbClr val="1F2A40"/>
                          </a:solidFill>
                          <a:latin typeface="Calibri"/>
                        </a:rPr>
                        <a:t>72%</a:t>
                      </a:r>
                    </a:p>
                  </a:txBody>
                  <a:tcPr>
                    <a:solidFill>
                      <a:srgbClr val="F7F8FA"/>
                    </a:solidFill>
                  </a:tcPr>
                </a:tc>
                <a:tc>
                  <a:txBody>
                    <a:bodyPr/>
                    <a:lstStyle/>
                    <a:p>
                      <a:pPr algn="l"/>
                      <a:r>
                        <a:rPr sz="1300" b="0" i="0">
                          <a:solidFill>
                            <a:srgbClr val="1F2A40"/>
                          </a:solidFill>
                          <a:latin typeface="Calibri"/>
                        </a:rPr>
                        <a:t>41</a:t>
                      </a:r>
                    </a:p>
                  </a:txBody>
                  <a:tcPr>
                    <a:solidFill>
                      <a:srgbClr val="F7F8FA"/>
                    </a:solidFill>
                  </a:tcPr>
                </a:tc>
                <a:extLst>
                  <a:ext uri="{0D108BD9-81ED-4DB2-BD59-A6C34878D82A}">
                    <a16:rowId xmlns:a16="http://schemas.microsoft.com/office/drawing/2014/main" val="10004"/>
                  </a:ext>
                </a:extLst>
              </a:tr>
              <a:tr h="444137">
                <a:tc>
                  <a:txBody>
                    <a:bodyPr/>
                    <a:lstStyle/>
                    <a:p>
                      <a:pPr algn="l"/>
                      <a:r>
                        <a:rPr sz="1300" b="0" i="0">
                          <a:solidFill>
                            <a:srgbClr val="1F2A40"/>
                          </a:solidFill>
                          <a:latin typeface="Calibri"/>
                        </a:rPr>
                        <a:t>Contact Stress</a:t>
                      </a:r>
                    </a:p>
                  </a:txBody>
                  <a:tcPr>
                    <a:solidFill>
                      <a:srgbClr val="FFFFFF"/>
                    </a:solidFill>
                  </a:tcPr>
                </a:tc>
                <a:tc>
                  <a:txBody>
                    <a:bodyPr/>
                    <a:lstStyle/>
                    <a:p>
                      <a:pPr algn="l"/>
                      <a:r>
                        <a:rPr sz="1300" b="0" i="0">
                          <a:solidFill>
                            <a:srgbClr val="1F2A40"/>
                          </a:solidFill>
                          <a:latin typeface="Calibri"/>
                        </a:rPr>
                        <a:t>Random Forest</a:t>
                      </a:r>
                    </a:p>
                  </a:txBody>
                  <a:tcPr>
                    <a:solidFill>
                      <a:srgbClr val="FFFFFF"/>
                    </a:solidFill>
                  </a:tcPr>
                </a:tc>
                <a:tc>
                  <a:txBody>
                    <a:bodyPr/>
                    <a:lstStyle/>
                    <a:p>
                      <a:pPr algn="l"/>
                      <a:r>
                        <a:rPr sz="1300" b="0" i="0">
                          <a:solidFill>
                            <a:srgbClr val="1F2A40"/>
                          </a:solidFill>
                          <a:latin typeface="Calibri"/>
                        </a:rPr>
                        <a:t>60%</a:t>
                      </a:r>
                    </a:p>
                  </a:txBody>
                  <a:tcPr>
                    <a:solidFill>
                      <a:srgbClr val="FFFFFF"/>
                    </a:solidFill>
                  </a:tcPr>
                </a:tc>
                <a:tc>
                  <a:txBody>
                    <a:bodyPr/>
                    <a:lstStyle/>
                    <a:p>
                      <a:pPr algn="l"/>
                      <a:r>
                        <a:rPr sz="1300" b="0" i="0">
                          <a:solidFill>
                            <a:srgbClr val="1F2A40"/>
                          </a:solidFill>
                          <a:latin typeface="Calibri"/>
                        </a:rPr>
                        <a:t>59%</a:t>
                      </a:r>
                    </a:p>
                  </a:txBody>
                  <a:tcPr>
                    <a:solidFill>
                      <a:srgbClr val="FFFFFF"/>
                    </a:solidFill>
                  </a:tcPr>
                </a:tc>
                <a:tc>
                  <a:txBody>
                    <a:bodyPr/>
                    <a:lstStyle/>
                    <a:p>
                      <a:pPr algn="l"/>
                      <a:r>
                        <a:rPr sz="1300" b="0" i="0">
                          <a:solidFill>
                            <a:srgbClr val="1F2A40"/>
                          </a:solidFill>
                          <a:latin typeface="Calibri"/>
                        </a:rPr>
                        <a:t>74%</a:t>
                      </a:r>
                    </a:p>
                  </a:txBody>
                  <a:tcPr>
                    <a:solidFill>
                      <a:srgbClr val="FFFFFF"/>
                    </a:solidFill>
                  </a:tcPr>
                </a:tc>
                <a:tc>
                  <a:txBody>
                    <a:bodyPr/>
                    <a:lstStyle/>
                    <a:p>
                      <a:pPr algn="l"/>
                      <a:r>
                        <a:rPr sz="1300" b="0" i="0">
                          <a:solidFill>
                            <a:srgbClr val="1F2A40"/>
                          </a:solidFill>
                          <a:latin typeface="Calibri"/>
                        </a:rPr>
                        <a:t>42</a:t>
                      </a:r>
                    </a:p>
                  </a:txBody>
                  <a:tcPr>
                    <a:solidFill>
                      <a:srgbClr val="FFFFFF"/>
                    </a:solidFill>
                  </a:tcPr>
                </a:tc>
                <a:extLst>
                  <a:ext uri="{0D108BD9-81ED-4DB2-BD59-A6C34878D82A}">
                    <a16:rowId xmlns:a16="http://schemas.microsoft.com/office/drawing/2014/main" val="10005"/>
                  </a:ext>
                </a:extLst>
              </a:tr>
              <a:tr h="444138">
                <a:tc>
                  <a:txBody>
                    <a:bodyPr/>
                    <a:lstStyle/>
                    <a:p>
                      <a:pPr algn="l"/>
                      <a:r>
                        <a:rPr sz="1300" b="0" i="0">
                          <a:solidFill>
                            <a:srgbClr val="1F2A40"/>
                          </a:solidFill>
                          <a:latin typeface="Calibri"/>
                        </a:rPr>
                        <a:t>Posture</a:t>
                      </a:r>
                    </a:p>
                  </a:txBody>
                  <a:tcPr>
                    <a:solidFill>
                      <a:srgbClr val="F7F8FA"/>
                    </a:solidFill>
                  </a:tcPr>
                </a:tc>
                <a:tc>
                  <a:txBody>
                    <a:bodyPr/>
                    <a:lstStyle/>
                    <a:p>
                      <a:pPr algn="l"/>
                      <a:r>
                        <a:rPr sz="1300" b="0" i="0">
                          <a:solidFill>
                            <a:srgbClr val="1F2A40"/>
                          </a:solidFill>
                          <a:latin typeface="Calibri"/>
                        </a:rPr>
                        <a:t>HistGradientBoosting</a:t>
                      </a:r>
                    </a:p>
                  </a:txBody>
                  <a:tcPr>
                    <a:solidFill>
                      <a:srgbClr val="F7F8FA"/>
                    </a:solidFill>
                  </a:tcPr>
                </a:tc>
                <a:tc>
                  <a:txBody>
                    <a:bodyPr/>
                    <a:lstStyle/>
                    <a:p>
                      <a:pPr algn="l"/>
                      <a:r>
                        <a:rPr sz="1300" b="0" i="0">
                          <a:solidFill>
                            <a:srgbClr val="1F2A40"/>
                          </a:solidFill>
                          <a:latin typeface="Calibri"/>
                        </a:rPr>
                        <a:t>97%</a:t>
                      </a:r>
                    </a:p>
                  </a:txBody>
                  <a:tcPr>
                    <a:solidFill>
                      <a:srgbClr val="F7F8FA"/>
                    </a:solidFill>
                  </a:tcPr>
                </a:tc>
                <a:tc>
                  <a:txBody>
                    <a:bodyPr/>
                    <a:lstStyle/>
                    <a:p>
                      <a:pPr algn="l"/>
                      <a:r>
                        <a:rPr sz="1300" b="0" i="0">
                          <a:solidFill>
                            <a:srgbClr val="1F2A40"/>
                          </a:solidFill>
                          <a:latin typeface="Calibri"/>
                        </a:rPr>
                        <a:t>95%</a:t>
                      </a:r>
                    </a:p>
                  </a:txBody>
                  <a:tcPr>
                    <a:solidFill>
                      <a:srgbClr val="F7F8FA"/>
                    </a:solidFill>
                  </a:tcPr>
                </a:tc>
                <a:tc>
                  <a:txBody>
                    <a:bodyPr/>
                    <a:lstStyle/>
                    <a:p>
                      <a:pPr algn="l"/>
                      <a:r>
                        <a:rPr sz="1300" b="0" i="0">
                          <a:solidFill>
                            <a:srgbClr val="1F2A40"/>
                          </a:solidFill>
                          <a:latin typeface="Calibri"/>
                        </a:rPr>
                        <a:t>98%</a:t>
                      </a:r>
                    </a:p>
                  </a:txBody>
                  <a:tcPr>
                    <a:solidFill>
                      <a:srgbClr val="F7F8FA"/>
                    </a:solidFill>
                  </a:tcPr>
                </a:tc>
                <a:tc>
                  <a:txBody>
                    <a:bodyPr/>
                    <a:lstStyle/>
                    <a:p>
                      <a:pPr algn="l"/>
                      <a:r>
                        <a:rPr sz="1300" b="0" i="0">
                          <a:solidFill>
                            <a:srgbClr val="1F2A40"/>
                          </a:solidFill>
                          <a:latin typeface="Calibri"/>
                        </a:rPr>
                        <a:t>63</a:t>
                      </a:r>
                    </a:p>
                  </a:txBody>
                  <a:tcPr>
                    <a:solidFill>
                      <a:srgbClr val="F7F8F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640080" y="5029200"/>
            <a:ext cx="10789920" cy="1280160"/>
          </a:xfrm>
          <a:prstGeom prst="rect">
            <a:avLst/>
          </a:prstGeom>
          <a:noFill/>
        </p:spPr>
        <p:txBody>
          <a:bodyPr wrap="square">
            <a:spAutoFit/>
          </a:bodyPr>
          <a:lstStyle/>
          <a:p>
            <a:pPr algn="l"/>
            <a:r>
              <a:rPr sz="1300" b="0" i="0">
                <a:solidFill>
                  <a:srgbClr val="1F2A40"/>
                </a:solidFill>
                <a:latin typeface="Calibri"/>
              </a:rPr>
              <a:t>The five survey-derived factors land at 58-62% CV accuracy with macro AUC 71-76%, modest but honest on n = 182. Posture jumps to 97% / 98% because it is the only factor that receives real observation inputs (11 RULA components + 8 QEC scores) on top of the survey features; the observation-vs-self-report gap is the story here.</a:t>
            </a:r>
          </a:p>
        </p:txBody>
      </p:sp>
      <p:sp>
        <p:nvSpPr>
          <p:cNvPr id="8" name="TextBox 7"/>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8/10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08  DELIVERABLE</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Interactive Web Application</a:t>
            </a:r>
          </a:p>
        </p:txBody>
      </p:sp>
      <p:pic>
        <p:nvPicPr>
          <p:cNvPr id="6" name="Picture 5" descr="web_01_home.png"/>
          <p:cNvPicPr>
            <a:picLocks noChangeAspect="1"/>
          </p:cNvPicPr>
          <p:nvPr/>
        </p:nvPicPr>
        <p:blipFill>
          <a:blip r:embed="rId2"/>
          <a:stretch>
            <a:fillRect/>
          </a:stretch>
        </p:blipFill>
        <p:spPr>
          <a:xfrm>
            <a:off x="1569567" y="1664208"/>
            <a:ext cx="2926080" cy="2011680"/>
          </a:xfrm>
          <a:prstGeom prst="rect">
            <a:avLst/>
          </a:prstGeom>
          <a:ln w="6350">
            <a:solidFill>
              <a:srgbClr val="E0E3E9"/>
            </a:solidFill>
          </a:ln>
        </p:spPr>
      </p:pic>
      <p:sp>
        <p:nvSpPr>
          <p:cNvPr id="7" name="TextBox 6"/>
          <p:cNvSpPr txBox="1"/>
          <p:nvPr/>
        </p:nvSpPr>
        <p:spPr>
          <a:xfrm>
            <a:off x="1569567" y="3702691"/>
            <a:ext cx="2926080" cy="201168"/>
          </a:xfrm>
          <a:prstGeom prst="rect">
            <a:avLst/>
          </a:prstGeom>
          <a:noFill/>
        </p:spPr>
        <p:txBody>
          <a:bodyPr wrap="none">
            <a:spAutoFit/>
          </a:bodyPr>
          <a:lstStyle/>
          <a:p>
            <a:pPr algn="ctr"/>
            <a:r>
              <a:rPr sz="1000" b="0" i="1">
                <a:solidFill>
                  <a:srgbClr val="6B7282"/>
                </a:solidFill>
                <a:latin typeface="Calibri"/>
              </a:rPr>
              <a:t>Home</a:t>
            </a:r>
          </a:p>
        </p:txBody>
      </p:sp>
      <p:pic>
        <p:nvPicPr>
          <p:cNvPr id="8" name="Picture 7" descr="web_02_assessment_top.png"/>
          <p:cNvPicPr>
            <a:picLocks noChangeAspect="1"/>
          </p:cNvPicPr>
          <p:nvPr/>
        </p:nvPicPr>
        <p:blipFill>
          <a:blip r:embed="rId3"/>
          <a:stretch>
            <a:fillRect/>
          </a:stretch>
        </p:blipFill>
        <p:spPr>
          <a:xfrm>
            <a:off x="4632807" y="1664208"/>
            <a:ext cx="2926080" cy="2011680"/>
          </a:xfrm>
          <a:prstGeom prst="rect">
            <a:avLst/>
          </a:prstGeom>
          <a:ln w="6350">
            <a:solidFill>
              <a:srgbClr val="E0E3E9"/>
            </a:solidFill>
          </a:ln>
        </p:spPr>
      </p:pic>
      <p:sp>
        <p:nvSpPr>
          <p:cNvPr id="9" name="TextBox 8"/>
          <p:cNvSpPr txBox="1"/>
          <p:nvPr/>
        </p:nvSpPr>
        <p:spPr>
          <a:xfrm>
            <a:off x="4632807" y="3702691"/>
            <a:ext cx="2926080" cy="201168"/>
          </a:xfrm>
          <a:prstGeom prst="rect">
            <a:avLst/>
          </a:prstGeom>
          <a:noFill/>
        </p:spPr>
        <p:txBody>
          <a:bodyPr wrap="none">
            <a:spAutoFit/>
          </a:bodyPr>
          <a:lstStyle/>
          <a:p>
            <a:pPr algn="ctr"/>
            <a:r>
              <a:rPr sz="1000" b="0" i="1">
                <a:solidFill>
                  <a:srgbClr val="6B7282"/>
                </a:solidFill>
                <a:latin typeface="Calibri"/>
              </a:rPr>
              <a:t>Assessment  |  demographics</a:t>
            </a:r>
          </a:p>
        </p:txBody>
      </p:sp>
      <p:pic>
        <p:nvPicPr>
          <p:cNvPr id="10" name="Picture 9" descr="web_03_assessment_nmq.png"/>
          <p:cNvPicPr>
            <a:picLocks noChangeAspect="1"/>
          </p:cNvPicPr>
          <p:nvPr/>
        </p:nvPicPr>
        <p:blipFill>
          <a:blip r:embed="rId4"/>
          <a:stretch>
            <a:fillRect/>
          </a:stretch>
        </p:blipFill>
        <p:spPr>
          <a:xfrm>
            <a:off x="7696047" y="1664208"/>
            <a:ext cx="2926080" cy="2011680"/>
          </a:xfrm>
          <a:prstGeom prst="rect">
            <a:avLst/>
          </a:prstGeom>
          <a:ln w="6350">
            <a:solidFill>
              <a:srgbClr val="E0E3E9"/>
            </a:solidFill>
          </a:ln>
        </p:spPr>
      </p:pic>
      <p:sp>
        <p:nvSpPr>
          <p:cNvPr id="11" name="TextBox 10"/>
          <p:cNvSpPr txBox="1"/>
          <p:nvPr/>
        </p:nvSpPr>
        <p:spPr>
          <a:xfrm>
            <a:off x="7696047" y="3702691"/>
            <a:ext cx="2926080" cy="201168"/>
          </a:xfrm>
          <a:prstGeom prst="rect">
            <a:avLst/>
          </a:prstGeom>
          <a:noFill/>
        </p:spPr>
        <p:txBody>
          <a:bodyPr wrap="none">
            <a:spAutoFit/>
          </a:bodyPr>
          <a:lstStyle/>
          <a:p>
            <a:pPr algn="ctr"/>
            <a:r>
              <a:rPr sz="1000" b="0" i="1">
                <a:solidFill>
                  <a:srgbClr val="6B7282"/>
                </a:solidFill>
                <a:latin typeface="Calibri"/>
              </a:rPr>
              <a:t>Assessment  |  NMQ 12-month pain</a:t>
            </a:r>
          </a:p>
        </p:txBody>
      </p:sp>
      <p:pic>
        <p:nvPicPr>
          <p:cNvPr id="12" name="Picture 11" descr="web_06_results.png"/>
          <p:cNvPicPr>
            <a:picLocks noChangeAspect="1"/>
          </p:cNvPicPr>
          <p:nvPr/>
        </p:nvPicPr>
        <p:blipFill>
          <a:blip r:embed="rId5"/>
          <a:stretch>
            <a:fillRect/>
          </a:stretch>
        </p:blipFill>
        <p:spPr>
          <a:xfrm>
            <a:off x="1569567" y="4160520"/>
            <a:ext cx="2926080" cy="2011680"/>
          </a:xfrm>
          <a:prstGeom prst="rect">
            <a:avLst/>
          </a:prstGeom>
          <a:ln w="6350">
            <a:solidFill>
              <a:srgbClr val="E0E3E9"/>
            </a:solidFill>
          </a:ln>
        </p:spPr>
      </p:pic>
      <p:sp>
        <p:nvSpPr>
          <p:cNvPr id="13" name="TextBox 12"/>
          <p:cNvSpPr txBox="1"/>
          <p:nvPr/>
        </p:nvSpPr>
        <p:spPr>
          <a:xfrm>
            <a:off x="1569567" y="6199003"/>
            <a:ext cx="2926080" cy="201168"/>
          </a:xfrm>
          <a:prstGeom prst="rect">
            <a:avLst/>
          </a:prstGeom>
          <a:noFill/>
        </p:spPr>
        <p:txBody>
          <a:bodyPr wrap="none">
            <a:spAutoFit/>
          </a:bodyPr>
          <a:lstStyle/>
          <a:p>
            <a:pPr algn="ctr"/>
            <a:r>
              <a:rPr sz="1000" b="0" i="1">
                <a:solidFill>
                  <a:srgbClr val="6B7282"/>
                </a:solidFill>
                <a:latin typeface="Calibri"/>
              </a:rPr>
              <a:t>Results  |  per-factor risk</a:t>
            </a:r>
          </a:p>
        </p:txBody>
      </p:sp>
      <p:pic>
        <p:nvPicPr>
          <p:cNvPr id="14" name="Picture 13" descr="web_07_methodology.png"/>
          <p:cNvPicPr>
            <a:picLocks noChangeAspect="1"/>
          </p:cNvPicPr>
          <p:nvPr/>
        </p:nvPicPr>
        <p:blipFill>
          <a:blip r:embed="rId6"/>
          <a:stretch>
            <a:fillRect/>
          </a:stretch>
        </p:blipFill>
        <p:spPr>
          <a:xfrm>
            <a:off x="4632807" y="4160520"/>
            <a:ext cx="2926080" cy="2011680"/>
          </a:xfrm>
          <a:prstGeom prst="rect">
            <a:avLst/>
          </a:prstGeom>
          <a:ln w="6350">
            <a:solidFill>
              <a:srgbClr val="E0E3E9"/>
            </a:solidFill>
          </a:ln>
        </p:spPr>
      </p:pic>
      <p:sp>
        <p:nvSpPr>
          <p:cNvPr id="15" name="TextBox 14"/>
          <p:cNvSpPr txBox="1"/>
          <p:nvPr/>
        </p:nvSpPr>
        <p:spPr>
          <a:xfrm>
            <a:off x="4632807" y="6199003"/>
            <a:ext cx="2926080" cy="201168"/>
          </a:xfrm>
          <a:prstGeom prst="rect">
            <a:avLst/>
          </a:prstGeom>
          <a:noFill/>
        </p:spPr>
        <p:txBody>
          <a:bodyPr wrap="none">
            <a:spAutoFit/>
          </a:bodyPr>
          <a:lstStyle/>
          <a:p>
            <a:pPr algn="ctr"/>
            <a:r>
              <a:rPr sz="1000" b="0" i="1">
                <a:solidFill>
                  <a:srgbClr val="6B7282"/>
                </a:solidFill>
                <a:latin typeface="Calibri"/>
              </a:rPr>
              <a:t>Methodology</a:t>
            </a:r>
          </a:p>
        </p:txBody>
      </p:sp>
      <p:pic>
        <p:nvPicPr>
          <p:cNvPr id="16" name="Picture 15" descr="web_08_about.png"/>
          <p:cNvPicPr>
            <a:picLocks noChangeAspect="1"/>
          </p:cNvPicPr>
          <p:nvPr/>
        </p:nvPicPr>
        <p:blipFill>
          <a:blip r:embed="rId7"/>
          <a:stretch>
            <a:fillRect/>
          </a:stretch>
        </p:blipFill>
        <p:spPr>
          <a:xfrm>
            <a:off x="7696047" y="4160520"/>
            <a:ext cx="2926080" cy="2011680"/>
          </a:xfrm>
          <a:prstGeom prst="rect">
            <a:avLst/>
          </a:prstGeom>
          <a:ln w="6350">
            <a:solidFill>
              <a:srgbClr val="E0E3E9"/>
            </a:solidFill>
          </a:ln>
        </p:spPr>
      </p:pic>
      <p:sp>
        <p:nvSpPr>
          <p:cNvPr id="17" name="TextBox 16"/>
          <p:cNvSpPr txBox="1"/>
          <p:nvPr/>
        </p:nvSpPr>
        <p:spPr>
          <a:xfrm>
            <a:off x="7696047" y="6199003"/>
            <a:ext cx="2926080" cy="201168"/>
          </a:xfrm>
          <a:prstGeom prst="rect">
            <a:avLst/>
          </a:prstGeom>
          <a:noFill/>
        </p:spPr>
        <p:txBody>
          <a:bodyPr wrap="none">
            <a:spAutoFit/>
          </a:bodyPr>
          <a:lstStyle/>
          <a:p>
            <a:pPr algn="ctr"/>
            <a:r>
              <a:rPr sz="1000" b="0" i="1">
                <a:solidFill>
                  <a:srgbClr val="6B7282"/>
                </a:solidFill>
                <a:latin typeface="Calibri"/>
              </a:rPr>
              <a:t>About</a:t>
            </a:r>
          </a:p>
        </p:txBody>
      </p:sp>
      <p:sp>
        <p:nvSpPr>
          <p:cNvPr id="18" name="TextBox 17"/>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9/10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384048"/>
            <a:ext cx="320040"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02920"/>
            <a:ext cx="10789920" cy="274320"/>
          </a:xfrm>
          <a:prstGeom prst="rect">
            <a:avLst/>
          </a:prstGeom>
          <a:noFill/>
        </p:spPr>
        <p:txBody>
          <a:bodyPr wrap="none">
            <a:spAutoFit/>
          </a:bodyPr>
          <a:lstStyle/>
          <a:p>
            <a:r>
              <a:rPr sz="1000" b="1" i="0">
                <a:solidFill>
                  <a:srgbClr val="0F766E"/>
                </a:solidFill>
                <a:latin typeface="Calibri"/>
              </a:rPr>
              <a:t>09  CONCLUSIONS</a:t>
            </a:r>
          </a:p>
        </p:txBody>
      </p:sp>
      <p:sp>
        <p:nvSpPr>
          <p:cNvPr id="5" name="TextBox 4"/>
          <p:cNvSpPr txBox="1"/>
          <p:nvPr/>
        </p:nvSpPr>
        <p:spPr>
          <a:xfrm>
            <a:off x="640080" y="777240"/>
            <a:ext cx="10789920" cy="822960"/>
          </a:xfrm>
          <a:prstGeom prst="rect">
            <a:avLst/>
          </a:prstGeom>
          <a:noFill/>
        </p:spPr>
        <p:txBody>
          <a:bodyPr wrap="none">
            <a:spAutoFit/>
          </a:bodyPr>
          <a:lstStyle/>
          <a:p>
            <a:r>
              <a:rPr sz="3200" b="1" i="0">
                <a:solidFill>
                  <a:srgbClr val="0F1F3A"/>
                </a:solidFill>
                <a:latin typeface="Calibri"/>
              </a:rPr>
              <a:t>Conclusions &amp; Future Work</a:t>
            </a:r>
          </a:p>
        </p:txBody>
      </p:sp>
      <p:sp>
        <p:nvSpPr>
          <p:cNvPr id="6" name="TextBox 5"/>
          <p:cNvSpPr txBox="1"/>
          <p:nvPr/>
        </p:nvSpPr>
        <p:spPr>
          <a:xfrm>
            <a:off x="640080" y="1691640"/>
            <a:ext cx="5760720" cy="365760"/>
          </a:xfrm>
          <a:prstGeom prst="rect">
            <a:avLst/>
          </a:prstGeom>
          <a:noFill/>
        </p:spPr>
        <p:txBody>
          <a:bodyPr wrap="square">
            <a:spAutoFit/>
          </a:bodyPr>
          <a:lstStyle/>
          <a:p>
            <a:pPr algn="l"/>
            <a:r>
              <a:rPr sz="1500" b="1" i="0">
                <a:solidFill>
                  <a:srgbClr val="0F1F3A"/>
                </a:solidFill>
                <a:latin typeface="Calibri"/>
              </a:rPr>
              <a:t>Key contributions</a:t>
            </a:r>
          </a:p>
        </p:txBody>
      </p:sp>
      <p:sp>
        <p:nvSpPr>
          <p:cNvPr id="7" name="TextBox 6"/>
          <p:cNvSpPr txBox="1"/>
          <p:nvPr/>
        </p:nvSpPr>
        <p:spPr>
          <a:xfrm>
            <a:off x="640080" y="2103120"/>
            <a:ext cx="5760720" cy="2743200"/>
          </a:xfrm>
          <a:prstGeom prst="rect">
            <a:avLst/>
          </a:prstGeom>
          <a:noFill/>
        </p:spPr>
        <p:txBody>
          <a:bodyPr wrap="square">
            <a:spAutoFit/>
          </a:bodyPr>
          <a:lstStyle/>
          <a:p>
            <a:pPr algn="l">
              <a:spcAft>
                <a:spcPts val="600"/>
              </a:spcAft>
            </a:pPr>
            <a:r>
              <a:rPr sz="1200" b="1" i="0" dirty="0">
                <a:solidFill>
                  <a:srgbClr val="0F766E"/>
                </a:solidFill>
                <a:latin typeface="Calibri"/>
              </a:rPr>
              <a:t>•   </a:t>
            </a:r>
            <a:r>
              <a:rPr sz="1200" b="0" i="0" dirty="0">
                <a:solidFill>
                  <a:srgbClr val="1F2A40"/>
                </a:solidFill>
                <a:latin typeface="Calibri"/>
              </a:rPr>
              <a:t>Two-stage pipeline: independently auditable by domain experts and ML reviewers.</a:t>
            </a:r>
          </a:p>
          <a:p>
            <a:pPr algn="l">
              <a:spcAft>
                <a:spcPts val="600"/>
              </a:spcAft>
            </a:pPr>
            <a:r>
              <a:rPr sz="1200" b="1" i="0" dirty="0">
                <a:solidFill>
                  <a:srgbClr val="0F766E"/>
                </a:solidFill>
                <a:latin typeface="Calibri"/>
              </a:rPr>
              <a:t>•   </a:t>
            </a:r>
            <a:r>
              <a:rPr sz="1200" b="0" i="0" dirty="0">
                <a:solidFill>
                  <a:srgbClr val="1F2A40"/>
                </a:solidFill>
                <a:latin typeface="Calibri"/>
              </a:rPr>
              <a:t>Six per-factor classifiers with 5-fold CV metrics.</a:t>
            </a:r>
          </a:p>
          <a:p>
            <a:pPr algn="l">
              <a:spcAft>
                <a:spcPts val="600"/>
              </a:spcAft>
            </a:pPr>
            <a:r>
              <a:rPr sz="1200" b="1" i="0" dirty="0">
                <a:solidFill>
                  <a:srgbClr val="0F766E"/>
                </a:solidFill>
                <a:latin typeface="Calibri"/>
              </a:rPr>
              <a:t>•   </a:t>
            </a:r>
            <a:r>
              <a:rPr sz="1200" b="0" i="0" dirty="0">
                <a:solidFill>
                  <a:srgbClr val="1F2A40"/>
                </a:solidFill>
                <a:latin typeface="Calibri"/>
              </a:rPr>
              <a:t>Two methodological corrections documented (Repetition </a:t>
            </a:r>
            <a:r>
              <a:rPr sz="1200" b="0" i="0" dirty="0" err="1">
                <a:solidFill>
                  <a:srgbClr val="1F2A40"/>
                </a:solidFill>
                <a:latin typeface="Calibri"/>
              </a:rPr>
              <a:t>qcut</a:t>
            </a:r>
            <a:r>
              <a:rPr sz="1200" b="0" i="0" dirty="0">
                <a:solidFill>
                  <a:srgbClr val="1F2A40"/>
                </a:solidFill>
                <a:latin typeface="Calibri"/>
              </a:rPr>
              <a:t>, Duration leakage).</a:t>
            </a:r>
          </a:p>
          <a:p>
            <a:pPr algn="l">
              <a:spcAft>
                <a:spcPts val="600"/>
              </a:spcAft>
            </a:pPr>
            <a:r>
              <a:rPr sz="1200" b="1" i="0" dirty="0">
                <a:solidFill>
                  <a:srgbClr val="0F766E"/>
                </a:solidFill>
                <a:latin typeface="Calibri"/>
              </a:rPr>
              <a:t>•   </a:t>
            </a:r>
            <a:r>
              <a:rPr sz="1200" b="0" i="0" dirty="0">
                <a:solidFill>
                  <a:srgbClr val="1F2A40"/>
                </a:solidFill>
                <a:latin typeface="Calibri"/>
              </a:rPr>
              <a:t>Multi-page </a:t>
            </a:r>
            <a:r>
              <a:rPr sz="1200" b="0" i="0" dirty="0" err="1">
                <a:solidFill>
                  <a:srgbClr val="1F2A40"/>
                </a:solidFill>
                <a:latin typeface="Calibri"/>
              </a:rPr>
              <a:t>Streamlit</a:t>
            </a:r>
            <a:r>
              <a:rPr sz="1200" b="0" i="0" dirty="0">
                <a:solidFill>
                  <a:srgbClr val="1F2A40"/>
                </a:solidFill>
                <a:latin typeface="Calibri"/>
              </a:rPr>
              <a:t> web app for real-time screening.</a:t>
            </a:r>
          </a:p>
        </p:txBody>
      </p:sp>
      <p:sp>
        <p:nvSpPr>
          <p:cNvPr id="8" name="TextBox 7"/>
          <p:cNvSpPr txBox="1"/>
          <p:nvPr/>
        </p:nvSpPr>
        <p:spPr>
          <a:xfrm>
            <a:off x="6492240" y="1691640"/>
            <a:ext cx="5212080" cy="365760"/>
          </a:xfrm>
          <a:prstGeom prst="rect">
            <a:avLst/>
          </a:prstGeom>
          <a:noFill/>
        </p:spPr>
        <p:txBody>
          <a:bodyPr wrap="square">
            <a:spAutoFit/>
          </a:bodyPr>
          <a:lstStyle/>
          <a:p>
            <a:pPr algn="l"/>
            <a:r>
              <a:rPr sz="1500" b="1" i="0">
                <a:solidFill>
                  <a:srgbClr val="0F1F3A"/>
                </a:solidFill>
                <a:latin typeface="Calibri"/>
              </a:rPr>
              <a:t>Platform-level recommendations</a:t>
            </a:r>
          </a:p>
        </p:txBody>
      </p:sp>
      <p:sp>
        <p:nvSpPr>
          <p:cNvPr id="9" name="TextBox 8"/>
          <p:cNvSpPr txBox="1"/>
          <p:nvPr/>
        </p:nvSpPr>
        <p:spPr>
          <a:xfrm>
            <a:off x="6492240" y="2103120"/>
            <a:ext cx="5212080" cy="2743200"/>
          </a:xfrm>
          <a:prstGeom prst="rect">
            <a:avLst/>
          </a:prstGeom>
          <a:noFill/>
        </p:spPr>
        <p:txBody>
          <a:bodyPr wrap="square">
            <a:spAutoFit/>
          </a:bodyPr>
          <a:lstStyle/>
          <a:p>
            <a:pPr algn="l">
              <a:spcAft>
                <a:spcPts val="600"/>
              </a:spcAft>
            </a:pPr>
            <a:r>
              <a:rPr sz="1200" b="1" i="0">
                <a:solidFill>
                  <a:srgbClr val="0F766E"/>
                </a:solidFill>
                <a:latin typeface="Calibri"/>
              </a:rPr>
              <a:t>•   </a:t>
            </a:r>
            <a:r>
              <a:rPr sz="1200" b="0" i="0">
                <a:solidFill>
                  <a:srgbClr val="1F2A40"/>
                </a:solidFill>
                <a:latin typeface="Calibri"/>
              </a:rPr>
              <a:t>Rider-app symptom check-in every 5 shifts, feeding back into screening.</a:t>
            </a:r>
          </a:p>
          <a:p>
            <a:pPr algn="l">
              <a:spcAft>
                <a:spcPts val="600"/>
              </a:spcAft>
            </a:pPr>
            <a:r>
              <a:rPr sz="1300" b="1" i="0">
                <a:solidFill>
                  <a:srgbClr val="0F766E"/>
                </a:solidFill>
                <a:latin typeface="Calibri"/>
              </a:rPr>
              <a:t>•   </a:t>
            </a:r>
            <a:r>
              <a:rPr sz="1300" b="0" i="0">
                <a:solidFill>
                  <a:srgbClr val="1F2A40"/>
                </a:solidFill>
                <a:latin typeface="Calibri"/>
              </a:rPr>
              <a:t>30-minute ergonomic onboarding for new riders (bike, posture, lifting).</a:t>
            </a:r>
          </a:p>
          <a:p>
            <a:pPr algn="l">
              <a:spcAft>
                <a:spcPts val="600"/>
              </a:spcAft>
            </a:pPr>
            <a:r>
              <a:rPr sz="1200" b="1" i="0">
                <a:solidFill>
                  <a:srgbClr val="0F766E"/>
                </a:solidFill>
                <a:latin typeface="Calibri"/>
              </a:rPr>
              <a:t>•   </a:t>
            </a:r>
            <a:r>
              <a:rPr sz="1200" b="0" i="0">
                <a:solidFill>
                  <a:srgbClr val="1F2A40"/>
                </a:solidFill>
                <a:latin typeface="Calibri"/>
              </a:rPr>
              <a:t>Physiotherapy partnership for riders flagged High on 2+ factors.</a:t>
            </a:r>
          </a:p>
          <a:p>
            <a:pPr algn="l">
              <a:spcAft>
                <a:spcPts val="600"/>
              </a:spcAft>
            </a:pPr>
            <a:r>
              <a:rPr sz="1200" b="1" i="0">
                <a:solidFill>
                  <a:srgbClr val="0F766E"/>
                </a:solidFill>
                <a:latin typeface="Calibri"/>
              </a:rPr>
              <a:t>•   </a:t>
            </a:r>
            <a:r>
              <a:rPr sz="1200" b="0" i="0">
                <a:solidFill>
                  <a:srgbClr val="1F2A40"/>
                </a:solidFill>
                <a:latin typeface="Calibri"/>
              </a:rPr>
              <a:t>Internal rider-health dashboard alongside delivery-time KPIs.</a:t>
            </a:r>
          </a:p>
        </p:txBody>
      </p:sp>
      <p:sp>
        <p:nvSpPr>
          <p:cNvPr id="10" name="Rectangle 9"/>
          <p:cNvSpPr/>
          <p:nvPr/>
        </p:nvSpPr>
        <p:spPr>
          <a:xfrm>
            <a:off x="685800" y="3941064"/>
            <a:ext cx="11064240" cy="1810512"/>
          </a:xfrm>
          <a:prstGeom prst="rect">
            <a:avLst/>
          </a:prstGeom>
          <a:solidFill>
            <a:srgbClr val="F7F8FA"/>
          </a:solidFill>
          <a:ln w="9525">
            <a:solidFill>
              <a:srgbClr val="E0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822960" y="3995928"/>
            <a:ext cx="10789920" cy="365760"/>
          </a:xfrm>
          <a:prstGeom prst="rect">
            <a:avLst/>
          </a:prstGeom>
          <a:noFill/>
        </p:spPr>
        <p:txBody>
          <a:bodyPr wrap="square">
            <a:spAutoFit/>
          </a:bodyPr>
          <a:lstStyle/>
          <a:p>
            <a:pPr algn="l"/>
            <a:r>
              <a:rPr sz="1100" b="1" i="0" dirty="0">
                <a:solidFill>
                  <a:srgbClr val="0F766E"/>
                </a:solidFill>
                <a:latin typeface="Calibri"/>
              </a:rPr>
              <a:t>Future work</a:t>
            </a:r>
          </a:p>
        </p:txBody>
      </p:sp>
      <p:sp>
        <p:nvSpPr>
          <p:cNvPr id="12" name="TextBox 11"/>
          <p:cNvSpPr txBox="1"/>
          <p:nvPr/>
        </p:nvSpPr>
        <p:spPr>
          <a:xfrm>
            <a:off x="822960" y="4191129"/>
            <a:ext cx="10972800" cy="1448730"/>
          </a:xfrm>
          <a:prstGeom prst="rect">
            <a:avLst/>
          </a:prstGeom>
          <a:noFill/>
        </p:spPr>
        <p:txBody>
          <a:bodyPr wrap="square">
            <a:spAutoFit/>
          </a:bodyPr>
          <a:lstStyle/>
          <a:p>
            <a:pPr algn="l">
              <a:lnSpc>
                <a:spcPct val="150000"/>
              </a:lnSpc>
            </a:pPr>
            <a:r>
              <a:rPr sz="1200" b="1" i="0" dirty="0">
                <a:solidFill>
                  <a:srgbClr val="0F766E"/>
                </a:solidFill>
                <a:latin typeface="Calibri"/>
              </a:rPr>
              <a:t>•   </a:t>
            </a:r>
            <a:r>
              <a:rPr sz="1200" b="0" i="0" dirty="0">
                <a:solidFill>
                  <a:srgbClr val="1F2A40"/>
                </a:solidFill>
                <a:latin typeface="Calibri"/>
              </a:rPr>
              <a:t>Longitudinal follow-up on the same riders over multiple shifts.</a:t>
            </a:r>
          </a:p>
          <a:p>
            <a:pPr algn="l">
              <a:lnSpc>
                <a:spcPct val="150000"/>
              </a:lnSpc>
            </a:pPr>
            <a:r>
              <a:rPr sz="1200" b="1" i="0" dirty="0">
                <a:solidFill>
                  <a:srgbClr val="0F766E"/>
                </a:solidFill>
                <a:latin typeface="Calibri"/>
              </a:rPr>
              <a:t>•   </a:t>
            </a:r>
            <a:r>
              <a:rPr sz="1200" b="0" i="0" dirty="0">
                <a:solidFill>
                  <a:srgbClr val="1F2A40"/>
                </a:solidFill>
                <a:latin typeface="Calibri"/>
              </a:rPr>
              <a:t>Direct per-rider RULA observations (no rank matching).</a:t>
            </a:r>
          </a:p>
          <a:p>
            <a:pPr algn="l">
              <a:lnSpc>
                <a:spcPct val="150000"/>
              </a:lnSpc>
            </a:pPr>
            <a:r>
              <a:rPr sz="1200" b="1" i="0" dirty="0">
                <a:solidFill>
                  <a:srgbClr val="0F766E"/>
                </a:solidFill>
                <a:latin typeface="Calibri"/>
              </a:rPr>
              <a:t>•   </a:t>
            </a:r>
            <a:r>
              <a:rPr sz="1200" b="0" i="0" dirty="0">
                <a:solidFill>
                  <a:srgbClr val="1F2A40"/>
                </a:solidFill>
                <a:latin typeface="Calibri"/>
              </a:rPr>
              <a:t>Wearable sensors for Vibration and Duration.</a:t>
            </a:r>
          </a:p>
          <a:p>
            <a:pPr algn="l">
              <a:lnSpc>
                <a:spcPct val="150000"/>
              </a:lnSpc>
            </a:pPr>
            <a:r>
              <a:rPr sz="1200" b="1" i="0" dirty="0">
                <a:solidFill>
                  <a:srgbClr val="0F766E"/>
                </a:solidFill>
                <a:latin typeface="Calibri"/>
              </a:rPr>
              <a:t>•   </a:t>
            </a:r>
            <a:r>
              <a:rPr sz="1200" b="0" i="0" dirty="0">
                <a:solidFill>
                  <a:srgbClr val="1F2A40"/>
                </a:solidFill>
                <a:latin typeface="Calibri"/>
              </a:rPr>
              <a:t>Larger, multi-city sample beyond Chennai / Chengalpattu.</a:t>
            </a:r>
          </a:p>
          <a:p>
            <a:pPr algn="l">
              <a:lnSpc>
                <a:spcPct val="150000"/>
              </a:lnSpc>
            </a:pPr>
            <a:r>
              <a:rPr sz="1200" b="1" i="0" dirty="0">
                <a:solidFill>
                  <a:srgbClr val="0F766E"/>
                </a:solidFill>
                <a:latin typeface="Calibri"/>
              </a:rPr>
              <a:t>•   </a:t>
            </a:r>
            <a:r>
              <a:rPr sz="1200" b="0" i="0" dirty="0">
                <a:solidFill>
                  <a:srgbClr val="1F2A40"/>
                </a:solidFill>
                <a:latin typeface="Calibri"/>
              </a:rPr>
              <a:t>Screening integrated into the </a:t>
            </a:r>
            <a:r>
              <a:rPr sz="1200" b="0" i="0" dirty="0" err="1">
                <a:solidFill>
                  <a:srgbClr val="1F2A40"/>
                </a:solidFill>
                <a:latin typeface="Calibri"/>
              </a:rPr>
              <a:t>Blinkit</a:t>
            </a:r>
            <a:r>
              <a:rPr sz="1200" b="0" i="0" dirty="0">
                <a:solidFill>
                  <a:srgbClr val="1F2A40"/>
                </a:solidFill>
                <a:latin typeface="Calibri"/>
              </a:rPr>
              <a:t> / </a:t>
            </a:r>
            <a:r>
              <a:rPr sz="1200" b="0" i="0" dirty="0" err="1">
                <a:solidFill>
                  <a:srgbClr val="1F2A40"/>
                </a:solidFill>
                <a:latin typeface="Calibri"/>
              </a:rPr>
              <a:t>Zepto</a:t>
            </a:r>
            <a:r>
              <a:rPr sz="1200" b="0" i="0" dirty="0">
                <a:solidFill>
                  <a:srgbClr val="1F2A40"/>
                </a:solidFill>
                <a:latin typeface="Calibri"/>
              </a:rPr>
              <a:t> rider app.</a:t>
            </a:r>
          </a:p>
        </p:txBody>
      </p:sp>
      <p:sp>
        <p:nvSpPr>
          <p:cNvPr id="13" name="TextBox 12"/>
          <p:cNvSpPr txBox="1"/>
          <p:nvPr/>
        </p:nvSpPr>
        <p:spPr>
          <a:xfrm>
            <a:off x="640080" y="6446520"/>
            <a:ext cx="10789920" cy="274320"/>
          </a:xfrm>
          <a:prstGeom prst="rect">
            <a:avLst/>
          </a:prstGeom>
          <a:noFill/>
        </p:spPr>
        <p:txBody>
          <a:bodyPr wrap="none">
            <a:spAutoFit/>
          </a:bodyPr>
          <a:lstStyle/>
          <a:p>
            <a:r>
              <a:rPr sz="1000" b="0" i="0">
                <a:solidFill>
                  <a:srgbClr val="6B7282"/>
                </a:solidFill>
                <a:latin typeface="Calibri"/>
              </a:rPr>
              <a:t>A Predictive ML Framework for Ergonomic Risk in Last-Mile Quick-Commerce Delivery Operations   |   Slide 10/10</a:t>
            </a:r>
          </a:p>
        </p:txBody>
      </p:sp>
      <p:sp>
        <p:nvSpPr>
          <p:cNvPr id="14" name="TextBox 13"/>
          <p:cNvSpPr txBox="1"/>
          <p:nvPr/>
        </p:nvSpPr>
        <p:spPr>
          <a:xfrm>
            <a:off x="6492240" y="4617720"/>
            <a:ext cx="5212080" cy="274320"/>
          </a:xfrm>
          <a:prstGeom prst="rect">
            <a:avLst/>
          </a:prstGeom>
          <a:noFill/>
        </p:spPr>
        <p:txBody>
          <a:bodyPr wrap="square">
            <a:spAutoFit/>
          </a:bodyPr>
          <a:lstStyle/>
          <a:p>
            <a:r>
              <a:rPr sz="900" i="1">
                <a:solidFill>
                  <a:srgbClr val="6B7282"/>
                </a:solidFill>
                <a:latin typeface="Calibri"/>
              </a:rPr>
              <a:t>Backing numbers: 49% of riders work &gt; 8 h/day · 84% at RULA grand score 5+ · age OR 3.58 · workload and fatigue significant LR predictors.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40080" y="640080"/>
            <a:ext cx="822960" cy="1097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868680"/>
            <a:ext cx="3456524" cy="276999"/>
          </a:xfrm>
          <a:prstGeom prst="rect">
            <a:avLst/>
          </a:prstGeom>
          <a:noFill/>
        </p:spPr>
        <p:txBody>
          <a:bodyPr wrap="none">
            <a:spAutoFit/>
          </a:bodyPr>
          <a:lstStyle/>
          <a:p>
            <a:r>
              <a:rPr sz="1200" b="1" i="0" dirty="0">
                <a:solidFill>
                  <a:srgbClr val="0F766E"/>
                </a:solidFill>
                <a:latin typeface="Calibri"/>
              </a:rPr>
              <a:t>THANK YOU  |  QUESTIONS</a:t>
            </a:r>
          </a:p>
        </p:txBody>
      </p:sp>
      <p:sp>
        <p:nvSpPr>
          <p:cNvPr id="5" name="TextBox 4"/>
          <p:cNvSpPr txBox="1"/>
          <p:nvPr/>
        </p:nvSpPr>
        <p:spPr>
          <a:xfrm>
            <a:off x="640080" y="1554480"/>
            <a:ext cx="10789920" cy="2743200"/>
          </a:xfrm>
          <a:prstGeom prst="rect">
            <a:avLst/>
          </a:prstGeom>
          <a:noFill/>
        </p:spPr>
        <p:txBody>
          <a:bodyPr wrap="square">
            <a:spAutoFit/>
          </a:bodyPr>
          <a:lstStyle/>
          <a:p>
            <a:pPr>
              <a:spcAft>
                <a:spcPts val="400"/>
              </a:spcAft>
            </a:pPr>
            <a:r>
              <a:rPr sz="3600" b="1" i="0" dirty="0">
                <a:solidFill>
                  <a:srgbClr val="0F1F3A"/>
                </a:solidFill>
                <a:latin typeface="Calibri"/>
              </a:rPr>
              <a:t>Questions and Discussion</a:t>
            </a:r>
          </a:p>
          <a:p>
            <a:pPr>
              <a:spcAft>
                <a:spcPts val="400"/>
              </a:spcAft>
            </a:pPr>
            <a:endParaRPr sz="3600" b="1" i="0" dirty="0">
              <a:solidFill>
                <a:srgbClr val="0F1F3A"/>
              </a:solidFill>
              <a:latin typeface="Calibri"/>
            </a:endParaRPr>
          </a:p>
          <a:p>
            <a:pPr>
              <a:spcAft>
                <a:spcPts val="400"/>
              </a:spcAft>
            </a:pPr>
            <a:endParaRPr sz="3600" b="1" i="0" dirty="0">
              <a:solidFill>
                <a:srgbClr val="0F1F3A"/>
              </a:solidFill>
              <a:latin typeface="Calibri"/>
            </a:endParaRPr>
          </a:p>
        </p:txBody>
      </p:sp>
      <p:sp>
        <p:nvSpPr>
          <p:cNvPr id="6" name="Rectangle 5"/>
          <p:cNvSpPr/>
          <p:nvPr/>
        </p:nvSpPr>
        <p:spPr>
          <a:xfrm>
            <a:off x="640080" y="4297680"/>
            <a:ext cx="2743200" cy="18288"/>
          </a:xfrm>
          <a:prstGeom prst="rect">
            <a:avLst/>
          </a:prstGeom>
          <a:solidFill>
            <a:srgbClr val="0F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6400800"/>
            <a:ext cx="1402948" cy="261610"/>
          </a:xfrm>
          <a:prstGeom prst="rect">
            <a:avLst/>
          </a:prstGeom>
          <a:noFill/>
        </p:spPr>
        <p:txBody>
          <a:bodyPr wrap="none">
            <a:spAutoFit/>
          </a:bodyPr>
          <a:lstStyle/>
          <a:p>
            <a:r>
              <a:rPr sz="1100" b="0" i="1" dirty="0">
                <a:solidFill>
                  <a:srgbClr val="6B7282"/>
                </a:solidFill>
                <a:latin typeface="Calibri"/>
              </a:rPr>
              <a:t>Aila Vishnu Vardhan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35</TotalTime>
  <Words>1735</Words>
  <Application>Microsoft Office PowerPoint</Application>
  <PresentationFormat>Widescreen</PresentationFormat>
  <Paragraphs>319</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Ergonomic Risk in Last-Mile Quick-Commerce Delivery — IIITDM-SIES Review</dc:title>
  <dc:subject/>
  <dc:creator>AILA VISHNU VARDHAN</dc:creator>
  <cp:keywords/>
  <dc:description/>
  <cp:lastModifiedBy>Vishnu vardhan</cp:lastModifiedBy>
  <cp:revision>12</cp:revision>
  <dcterms:created xsi:type="dcterms:W3CDTF">2013-01-27T09:14:16Z</dcterms:created>
  <dcterms:modified xsi:type="dcterms:W3CDTF">2026-07-13T11:20:22Z</dcterms:modified>
  <cp:category/>
</cp:coreProperties>
</file>