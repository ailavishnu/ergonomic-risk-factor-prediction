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08-Jul-26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08-Jul-26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08-Jul-26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08-Jul-26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08-Jul-26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08-Jul-26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08-Jul-26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640080"/>
            <a:ext cx="82296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868680"/>
            <a:ext cx="3456524" cy="276999"/>
          </a:xfrm>
          <a:prstGeom prst="rect">
            <a:avLst/>
          </a:prstGeom>
          <a:noFill/>
        </p:spPr>
        <p:txBody>
          <a:bodyPr wrap="none">
            <a:spAutoFit/>
          </a:bodyPr>
          <a:lstStyle/>
          <a:p>
            <a:r>
              <a:rPr sz="1200" b="1" i="0" dirty="0">
                <a:solidFill>
                  <a:srgbClr val="0F766E"/>
                </a:solidFill>
                <a:latin typeface="Calibri"/>
              </a:rPr>
              <a:t>IIITDM-SIES INTERNSHIP  |  REVIEW PRESENTATION</a:t>
            </a:r>
          </a:p>
        </p:txBody>
      </p:sp>
      <p:sp>
        <p:nvSpPr>
          <p:cNvPr id="5" name="TextBox 4"/>
          <p:cNvSpPr txBox="1"/>
          <p:nvPr/>
        </p:nvSpPr>
        <p:spPr>
          <a:xfrm>
            <a:off x="640080" y="1554480"/>
            <a:ext cx="10789920" cy="2743200"/>
          </a:xfrm>
          <a:prstGeom prst="rect">
            <a:avLst/>
          </a:prstGeom>
          <a:noFill/>
        </p:spPr>
        <p:txBody>
          <a:bodyPr wrap="square">
            <a:spAutoFit/>
          </a:bodyPr>
          <a:lstStyle/>
          <a:p>
            <a:pPr>
              <a:spcAft>
                <a:spcPts val="400"/>
              </a:spcAft>
            </a:pPr>
            <a:r>
              <a:rPr sz="3600" b="1" i="0">
                <a:solidFill>
                  <a:srgbClr val="0F1F3A"/>
                </a:solidFill>
                <a:latin typeface="Calibri"/>
              </a:rPr>
              <a:t>A Predictive Machine Learning Framework</a:t>
            </a:r>
          </a:p>
          <a:p>
            <a:pPr>
              <a:spcAft>
                <a:spcPts val="400"/>
              </a:spcAft>
            </a:pPr>
            <a:r>
              <a:rPr sz="3600" b="1" i="0">
                <a:solidFill>
                  <a:srgbClr val="0F1F3A"/>
                </a:solidFill>
                <a:latin typeface="Calibri"/>
              </a:rPr>
              <a:t>for Ergonomic Risk in Last-Mile</a:t>
            </a:r>
          </a:p>
          <a:p>
            <a:pPr>
              <a:spcAft>
                <a:spcPts val="400"/>
              </a:spcAft>
            </a:pPr>
            <a:r>
              <a:rPr sz="3600" b="1" i="0">
                <a:solidFill>
                  <a:srgbClr val="0F1F3A"/>
                </a:solidFill>
                <a:latin typeface="Calibri"/>
              </a:rPr>
              <a:t>Quick-Commerce Delivery Operations</a:t>
            </a:r>
          </a:p>
        </p:txBody>
      </p:sp>
      <p:sp>
        <p:nvSpPr>
          <p:cNvPr id="6" name="Rectangle 5"/>
          <p:cNvSpPr/>
          <p:nvPr/>
        </p:nvSpPr>
        <p:spPr>
          <a:xfrm>
            <a:off x="640080" y="4297680"/>
            <a:ext cx="2743200" cy="18288"/>
          </a:xfrm>
          <a:prstGeom prst="rect">
            <a:avLst/>
          </a:prstGeom>
          <a:solidFill>
            <a:srgbClr val="0F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4526280"/>
            <a:ext cx="10789920" cy="1369606"/>
          </a:xfrm>
          <a:prstGeom prst="rect">
            <a:avLst/>
          </a:prstGeom>
          <a:noFill/>
        </p:spPr>
        <p:txBody>
          <a:bodyPr wrap="square">
            <a:spAutoFit/>
          </a:bodyPr>
          <a:lstStyle/>
          <a:p>
            <a:endParaRPr dirty="0"/>
          </a:p>
          <a:p>
            <a:pPr>
              <a:spcAft>
                <a:spcPts val="200"/>
              </a:spcAft>
            </a:pPr>
            <a:r>
              <a:rPr sz="1100" b="1" i="0" dirty="0">
                <a:solidFill>
                  <a:srgbClr val="6B7282"/>
                </a:solidFill>
                <a:latin typeface="Calibri"/>
              </a:rPr>
              <a:t>PRESENTED BY      </a:t>
            </a:r>
            <a:r>
              <a:rPr sz="1500" b="0" i="0" dirty="0">
                <a:solidFill>
                  <a:srgbClr val="1F2A40"/>
                </a:solidFill>
                <a:latin typeface="Calibri"/>
              </a:rPr>
              <a:t>AILA VISHNU VARDHAN</a:t>
            </a:r>
          </a:p>
          <a:p>
            <a:pPr>
              <a:spcAft>
                <a:spcPts val="200"/>
              </a:spcAft>
            </a:pPr>
            <a:r>
              <a:rPr sz="1100" b="1" i="0" dirty="0">
                <a:solidFill>
                  <a:srgbClr val="6B7282"/>
                </a:solidFill>
                <a:latin typeface="Calibri"/>
              </a:rPr>
              <a:t>INSTITUTE         </a:t>
            </a:r>
            <a:r>
              <a:rPr lang="en-US" sz="1100" b="1" i="0" dirty="0">
                <a:solidFill>
                  <a:srgbClr val="6B7282"/>
                </a:solidFill>
                <a:latin typeface="Calibri"/>
              </a:rPr>
              <a:t>     </a:t>
            </a:r>
            <a:r>
              <a:rPr sz="1500" b="0" i="0" dirty="0">
                <a:solidFill>
                  <a:srgbClr val="1F2A40"/>
                </a:solidFill>
                <a:latin typeface="Calibri"/>
              </a:rPr>
              <a:t>Vidya Jyothi Institute of Technology</a:t>
            </a:r>
          </a:p>
          <a:p>
            <a:pPr>
              <a:spcAft>
                <a:spcPts val="200"/>
              </a:spcAft>
            </a:pPr>
            <a:r>
              <a:rPr sz="1100" b="1" i="0" dirty="0">
                <a:solidFill>
                  <a:srgbClr val="6B7282"/>
                </a:solidFill>
                <a:latin typeface="Calibri"/>
              </a:rPr>
              <a:t>MENTOR            </a:t>
            </a:r>
            <a:r>
              <a:rPr lang="en-US" sz="1100" b="1" i="0" dirty="0">
                <a:solidFill>
                  <a:srgbClr val="6B7282"/>
                </a:solidFill>
                <a:latin typeface="Calibri"/>
              </a:rPr>
              <a:t>     </a:t>
            </a:r>
            <a:r>
              <a:rPr sz="1500" b="0" i="0" dirty="0">
                <a:solidFill>
                  <a:srgbClr val="1F2A40"/>
                </a:solidFill>
                <a:latin typeface="Calibri"/>
              </a:rPr>
              <a:t>Dr. Arunachalam Muthiah</a:t>
            </a:r>
          </a:p>
          <a:p>
            <a:pPr>
              <a:spcAft>
                <a:spcPts val="200"/>
              </a:spcAft>
            </a:pPr>
            <a:r>
              <a:rPr sz="1100" b="1" i="0" dirty="0">
                <a:solidFill>
                  <a:srgbClr val="6B7282"/>
                </a:solidFill>
                <a:latin typeface="Calibri"/>
              </a:rPr>
              <a:t>PROGRAMME        </a:t>
            </a:r>
            <a:r>
              <a:rPr sz="1500" b="0" i="0" dirty="0">
                <a:solidFill>
                  <a:srgbClr val="1F2A40"/>
                </a:solidFill>
                <a:latin typeface="Calibri"/>
              </a:rPr>
              <a:t>IIITDM-SIES Internship  |  School of Interdisciplinary Design and Innovation (SIDI), IIITDM Kancheepuram</a:t>
            </a:r>
          </a:p>
        </p:txBody>
      </p:sp>
      <p:sp>
        <p:nvSpPr>
          <p:cNvPr id="8" name="TextBox 7"/>
          <p:cNvSpPr txBox="1"/>
          <p:nvPr/>
        </p:nvSpPr>
        <p:spPr>
          <a:xfrm>
            <a:off x="640080" y="6400800"/>
            <a:ext cx="10789920" cy="274320"/>
          </a:xfrm>
          <a:prstGeom prst="rect">
            <a:avLst/>
          </a:prstGeom>
          <a:noFill/>
        </p:spPr>
        <p:txBody>
          <a:bodyPr wrap="none">
            <a:spAutoFit/>
          </a:bodyPr>
          <a:lstStyle/>
          <a:p>
            <a:r>
              <a:rPr sz="1100" b="0" i="1">
                <a:solidFill>
                  <a:srgbClr val="6B7282"/>
                </a:solidFill>
                <a:latin typeface="Calibri"/>
              </a:rPr>
              <a:t>July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01  BACKGROUND</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Problem and Objectives</a:t>
            </a:r>
          </a:p>
        </p:txBody>
      </p:sp>
      <p:sp>
        <p:nvSpPr>
          <p:cNvPr id="6" name="TextBox 5"/>
          <p:cNvSpPr txBox="1"/>
          <p:nvPr/>
        </p:nvSpPr>
        <p:spPr>
          <a:xfrm>
            <a:off x="640080" y="1691640"/>
            <a:ext cx="10789920" cy="1371600"/>
          </a:xfrm>
          <a:prstGeom prst="rect">
            <a:avLst/>
          </a:prstGeom>
          <a:noFill/>
        </p:spPr>
        <p:txBody>
          <a:bodyPr wrap="square">
            <a:spAutoFit/>
          </a:bodyPr>
          <a:lstStyle/>
          <a:p>
            <a:pPr algn="l"/>
            <a:r>
              <a:rPr sz="1500" b="0" i="0">
                <a:solidFill>
                  <a:srgbClr val="1F2A40"/>
                </a:solidFill>
                <a:latin typeface="Calibri"/>
              </a:rPr>
              <a:t>Last-mile quick-commerce delivery riders (Blinkit, Zepto) face prolonged awkward postures, high delivery rates, heavy carrying loads and vehicle vibration, leading to musculoskeletal disorders (MSDs). No single tool combines the six standard ergonomic risk factors into an automated per-rider screening.</a:t>
            </a:r>
          </a:p>
        </p:txBody>
      </p:sp>
      <p:sp>
        <p:nvSpPr>
          <p:cNvPr id="7" name="TextBox 6"/>
          <p:cNvSpPr txBox="1"/>
          <p:nvPr/>
        </p:nvSpPr>
        <p:spPr>
          <a:xfrm>
            <a:off x="640080" y="3291840"/>
            <a:ext cx="10789920" cy="365760"/>
          </a:xfrm>
          <a:prstGeom prst="rect">
            <a:avLst/>
          </a:prstGeom>
          <a:noFill/>
        </p:spPr>
        <p:txBody>
          <a:bodyPr wrap="square">
            <a:spAutoFit/>
          </a:bodyPr>
          <a:lstStyle/>
          <a:p>
            <a:pPr algn="l"/>
            <a:r>
              <a:rPr sz="1700" b="1" i="0">
                <a:solidFill>
                  <a:srgbClr val="0F1F3A"/>
                </a:solidFill>
                <a:latin typeface="Calibri"/>
              </a:rPr>
              <a:t>Objectives</a:t>
            </a:r>
          </a:p>
        </p:txBody>
      </p:sp>
      <p:sp>
        <p:nvSpPr>
          <p:cNvPr id="8" name="TextBox 7"/>
          <p:cNvSpPr txBox="1"/>
          <p:nvPr/>
        </p:nvSpPr>
        <p:spPr>
          <a:xfrm>
            <a:off x="640080" y="3749039"/>
            <a:ext cx="10789920" cy="2468880"/>
          </a:xfrm>
          <a:prstGeom prst="rect">
            <a:avLst/>
          </a:prstGeom>
          <a:noFill/>
        </p:spPr>
        <p:txBody>
          <a:bodyPr wrap="square">
            <a:spAutoFit/>
          </a:bodyPr>
          <a:lstStyle/>
          <a:p>
            <a:pPr algn="l">
              <a:spcAft>
                <a:spcPts val="600"/>
              </a:spcAft>
            </a:pPr>
            <a:r>
              <a:rPr sz="1400" b="1" i="0">
                <a:solidFill>
                  <a:srgbClr val="0F766E"/>
                </a:solidFill>
                <a:latin typeface="Calibri"/>
              </a:rPr>
              <a:t>•   Combine RULA, QEC, NMQ, NASA-TLX, and Borg CR10 into per-rider labels for six risk factors (Force, Repetition, Posture, Duration, Contact Stress, Vibration).</a:t>
            </a:r>
          </a:p>
          <a:p>
            <a:pPr algn="l">
              <a:spcAft>
                <a:spcPts val="600"/>
              </a:spcAft>
            </a:pPr>
            <a:r>
              <a:rPr sz="1400" b="1" i="0">
                <a:solidFill>
                  <a:srgbClr val="0F766E"/>
                </a:solidFill>
                <a:latin typeface="Calibri"/>
              </a:rPr>
              <a:t>•   Train a supervised classifier per factor from a 36-item rider survey plus RULA / QEC observations; report honest 5-fold CV metrics.</a:t>
            </a:r>
          </a:p>
          <a:p>
            <a:pPr algn="l">
              <a:spcAft>
                <a:spcPts val="600"/>
              </a:spcAft>
            </a:pPr>
            <a:r>
              <a:rPr sz="1400" b="1" i="0">
                <a:solidFill>
                  <a:srgbClr val="0F766E"/>
                </a:solidFill>
                <a:latin typeface="Calibri"/>
              </a:rPr>
              <a:t>•   Deploy a Streamlit web app that returns the six colour-coded risk levels for a new rider in real time.</a:t>
            </a:r>
          </a:p>
          <a:p>
            <a:pPr algn="l">
              <a:spcAft>
                <a:spcPts val="600"/>
              </a:spcAft>
            </a:pPr>
            <a:r>
              <a:rPr sz="1400" b="1" i="0">
                <a:solidFill>
                  <a:srgbClr val="0F766E"/>
                </a:solidFill>
                <a:latin typeface="Calibri"/>
              </a:rPr>
              <a:t>•   Surface exposure patterns platforms can act on (working hours, vehicle type, carrying mode, age cohorts).</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2/10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02  METHODOLOGY</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Two-Stage Pipeline</a:t>
            </a:r>
          </a:p>
        </p:txBody>
      </p:sp>
      <p:sp>
        <p:nvSpPr>
          <p:cNvPr id="6" name="TextBox 5"/>
          <p:cNvSpPr txBox="1"/>
          <p:nvPr/>
        </p:nvSpPr>
        <p:spPr>
          <a:xfrm>
            <a:off x="640080" y="1691640"/>
            <a:ext cx="6035040" cy="45720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Stage 1 (deterministic).  Standard ergonomic methods produce Low / Medium / High labels per factor.</a:t>
            </a:r>
          </a:p>
          <a:p>
            <a:pPr lvl="1" algn="l">
              <a:spcAft>
                <a:spcPts val="600"/>
              </a:spcAft>
            </a:pPr>
            <a:r>
              <a:rPr sz="1300" b="1" i="0">
                <a:solidFill>
                  <a:srgbClr val="0F766E"/>
                </a:solidFill>
                <a:latin typeface="Calibri"/>
              </a:rPr>
              <a:t>–   </a:t>
            </a:r>
            <a:r>
              <a:rPr sz="1300" b="0" i="0">
                <a:solidFill>
                  <a:srgbClr val="1F2A40"/>
                </a:solidFill>
                <a:latin typeface="Calibri"/>
              </a:rPr>
              <a:t>Borg CR10 operational thresholds for Force</a:t>
            </a:r>
          </a:p>
          <a:p>
            <a:pPr lvl="1" algn="l">
              <a:spcAft>
                <a:spcPts val="600"/>
              </a:spcAft>
            </a:pPr>
            <a:r>
              <a:rPr sz="1300" b="1" i="0">
                <a:solidFill>
                  <a:srgbClr val="0F766E"/>
                </a:solidFill>
                <a:latin typeface="Calibri"/>
              </a:rPr>
              <a:t>–   RULA grand-score bands (1-2 / 3-4 / 5+) collapsed to three Posture labels</a:t>
            </a:r>
          </a:p>
          <a:p>
            <a:pPr lvl="1" algn="l">
              <a:spcAft>
                <a:spcPts val="600"/>
              </a:spcAft>
            </a:pPr>
            <a:r>
              <a:rPr sz="1300" b="1" i="0">
                <a:solidFill>
                  <a:srgbClr val="0F766E"/>
                </a:solidFill>
                <a:latin typeface="Calibri"/>
              </a:rPr>
              <a:t>–   </a:t>
            </a:r>
            <a:r>
              <a:rPr sz="1300" b="0" i="0">
                <a:solidFill>
                  <a:srgbClr val="1F2A40"/>
                </a:solidFill>
                <a:latin typeface="Calibri"/>
              </a:rPr>
              <a:t>Fixed cuts / sample terciles for the remaining four</a:t>
            </a:r>
          </a:p>
          <a:p>
            <a:pPr algn="l">
              <a:spcAft>
                <a:spcPts val="600"/>
              </a:spcAft>
            </a:pPr>
            <a:r>
              <a:rPr sz="1300" b="1" i="0">
                <a:solidFill>
                  <a:srgbClr val="0F766E"/>
                </a:solidFill>
                <a:latin typeface="Calibri"/>
              </a:rPr>
              <a:t>•   </a:t>
            </a:r>
            <a:r>
              <a:rPr sz="1300" b="0" i="0">
                <a:solidFill>
                  <a:srgbClr val="1F2A40"/>
                </a:solidFill>
                <a:latin typeface="Calibri"/>
              </a:rPr>
              <a:t>Stage 2 (supervised ML).  A classifier per factor learns the Stage-1 label from the rider profile, with per-target exclusions to prevent trivial leakage.</a:t>
            </a:r>
          </a:p>
          <a:p>
            <a:pPr algn="l">
              <a:spcAft>
                <a:spcPts val="600"/>
              </a:spcAft>
            </a:pPr>
            <a:r>
              <a:rPr sz="1300" b="1" i="0">
                <a:solidFill>
                  <a:srgbClr val="0F766E"/>
                </a:solidFill>
                <a:latin typeface="Calibri"/>
              </a:rPr>
              <a:t>•   </a:t>
            </a:r>
            <a:r>
              <a:rPr sz="1300" b="0" i="0">
                <a:solidFill>
                  <a:srgbClr val="1F2A40"/>
                </a:solidFill>
                <a:latin typeface="Calibri"/>
              </a:rPr>
              <a:t>Two-stage split lets an ergonomist audit Stage 1 by hand, independently of the ML review.</a:t>
            </a:r>
          </a:p>
        </p:txBody>
      </p:sp>
      <p:pic>
        <p:nvPicPr>
          <p:cNvPr id="7" name="Picture 6" descr="methodology_flowchart.png"/>
          <p:cNvPicPr>
            <a:picLocks noChangeAspect="1"/>
          </p:cNvPicPr>
          <p:nvPr/>
        </p:nvPicPr>
        <p:blipFill>
          <a:blip r:embed="rId2"/>
          <a:stretch>
            <a:fillRect/>
          </a:stretch>
        </p:blipFill>
        <p:spPr>
          <a:xfrm>
            <a:off x="6949440" y="2103120"/>
            <a:ext cx="5029200" cy="1850478"/>
          </a:xfrm>
          <a:prstGeom prst="rect">
            <a:avLst/>
          </a:prstGeom>
        </p:spPr>
      </p:pic>
      <p:sp>
        <p:nvSpPr>
          <p:cNvPr id="8" name="TextBox 7"/>
          <p:cNvSpPr txBox="1"/>
          <p:nvPr/>
        </p:nvSpPr>
        <p:spPr>
          <a:xfrm>
            <a:off x="6949440" y="3999318"/>
            <a:ext cx="5029200" cy="274320"/>
          </a:xfrm>
          <a:prstGeom prst="rect">
            <a:avLst/>
          </a:prstGeom>
          <a:noFill/>
        </p:spPr>
        <p:txBody>
          <a:bodyPr wrap="none">
            <a:spAutoFit/>
          </a:bodyPr>
          <a:lstStyle/>
          <a:p>
            <a:pPr algn="ctr"/>
            <a:r>
              <a:rPr sz="1000" b="0" i="1">
                <a:solidFill>
                  <a:srgbClr val="6B7282"/>
                </a:solidFill>
                <a:latin typeface="Calibri"/>
              </a:rPr>
              <a:t>Pipeline flowchart</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3/10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03  DATA</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Data Sources</a:t>
            </a:r>
          </a:p>
        </p:txBody>
      </p:sp>
      <p:sp>
        <p:nvSpPr>
          <p:cNvPr id="6" name="Rounded Rectangle 5"/>
          <p:cNvSpPr/>
          <p:nvPr/>
        </p:nvSpPr>
        <p:spPr>
          <a:xfrm>
            <a:off x="640080" y="1737360"/>
            <a:ext cx="56235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20240"/>
            <a:ext cx="5074920" cy="274320"/>
          </a:xfrm>
          <a:prstGeom prst="rect">
            <a:avLst/>
          </a:prstGeom>
          <a:noFill/>
        </p:spPr>
        <p:txBody>
          <a:bodyPr wrap="square">
            <a:spAutoFit/>
          </a:bodyPr>
          <a:lstStyle/>
          <a:p>
            <a:pPr algn="l"/>
            <a:r>
              <a:rPr sz="1000" b="1" i="0">
                <a:solidFill>
                  <a:srgbClr val="0F766E"/>
                </a:solidFill>
                <a:latin typeface="Calibri"/>
              </a:rPr>
              <a:t>N = 182</a:t>
            </a:r>
          </a:p>
        </p:txBody>
      </p:sp>
      <p:sp>
        <p:nvSpPr>
          <p:cNvPr id="8" name="TextBox 7"/>
          <p:cNvSpPr txBox="1"/>
          <p:nvPr/>
        </p:nvSpPr>
        <p:spPr>
          <a:xfrm>
            <a:off x="914400" y="2240280"/>
            <a:ext cx="5074920" cy="457200"/>
          </a:xfrm>
          <a:prstGeom prst="rect">
            <a:avLst/>
          </a:prstGeom>
          <a:noFill/>
        </p:spPr>
        <p:txBody>
          <a:bodyPr wrap="square">
            <a:spAutoFit/>
          </a:bodyPr>
          <a:lstStyle/>
          <a:p>
            <a:pPr algn="l"/>
            <a:r>
              <a:rPr sz="1700" b="1" i="0">
                <a:solidFill>
                  <a:srgbClr val="0F1F3A"/>
                </a:solidFill>
                <a:latin typeface="Calibri"/>
              </a:rPr>
              <a:t>Rider Survey (CSV)</a:t>
            </a:r>
          </a:p>
        </p:txBody>
      </p:sp>
      <p:sp>
        <p:nvSpPr>
          <p:cNvPr id="9" name="TextBox 8"/>
          <p:cNvSpPr txBox="1"/>
          <p:nvPr/>
        </p:nvSpPr>
        <p:spPr>
          <a:xfrm>
            <a:off x="914400" y="2788920"/>
            <a:ext cx="50749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36 questionnaire items across 5 modules.</a:t>
            </a:r>
          </a:p>
          <a:p>
            <a:pPr lvl="1" algn="l">
              <a:spcAft>
                <a:spcPts val="600"/>
              </a:spcAft>
            </a:pPr>
            <a:r>
              <a:rPr sz="1200" b="1" i="0">
                <a:solidFill>
                  <a:srgbClr val="0F766E"/>
                </a:solidFill>
                <a:latin typeface="Calibri"/>
              </a:rPr>
              <a:t>–   </a:t>
            </a:r>
            <a:r>
              <a:rPr sz="1200" b="0" i="0">
                <a:solidFill>
                  <a:srgbClr val="1F2A40"/>
                </a:solidFill>
                <a:latin typeface="Calibri"/>
              </a:rPr>
              <a:t>Q1-17: demographics, work pattern, lifestyle</a:t>
            </a:r>
          </a:p>
          <a:p>
            <a:pPr lvl="1" algn="l">
              <a:spcAft>
                <a:spcPts val="600"/>
              </a:spcAft>
            </a:pPr>
            <a:r>
              <a:rPr sz="1200" b="1" i="0">
                <a:solidFill>
                  <a:srgbClr val="0F766E"/>
                </a:solidFill>
                <a:latin typeface="Calibri"/>
              </a:rPr>
              <a:t>–   </a:t>
            </a:r>
            <a:r>
              <a:rPr sz="1200" b="0" i="0">
                <a:solidFill>
                  <a:srgbClr val="1F2A40"/>
                </a:solidFill>
                <a:latin typeface="Calibri"/>
              </a:rPr>
              <a:t>Q18: NMQ 12-month pain (9 body areas)</a:t>
            </a:r>
          </a:p>
          <a:p>
            <a:pPr lvl="1" algn="l">
              <a:spcAft>
                <a:spcPts val="600"/>
              </a:spcAft>
            </a:pPr>
            <a:r>
              <a:rPr sz="1200" b="1" i="0">
                <a:solidFill>
                  <a:srgbClr val="0F766E"/>
                </a:solidFill>
                <a:latin typeface="Calibri"/>
              </a:rPr>
              <a:t>–   Q19: 7-day discomfort (neck, lower back, wrist/hands, knees)</a:t>
            </a:r>
            <a:r>
              <a:rPr sz="1200" b="0" i="0">
                <a:solidFill>
                  <a:srgbClr val="1F2A40"/>
                </a:solidFill>
                <a:latin typeface="Calibri"/>
              </a:rPr>
              <a:t/>
            </a:r>
          </a:p>
          <a:p>
            <a:pPr lvl="1" algn="l">
              <a:spcAft>
                <a:spcPts val="600"/>
              </a:spcAft>
            </a:pPr>
            <a:r>
              <a:rPr sz="1200" b="1" i="0">
                <a:solidFill>
                  <a:srgbClr val="0F766E"/>
                </a:solidFill>
                <a:latin typeface="Calibri"/>
              </a:rPr>
              <a:t>–   </a:t>
            </a:r>
            <a:r>
              <a:rPr sz="1200" b="0" i="0">
                <a:solidFill>
                  <a:srgbClr val="1F2A40"/>
                </a:solidFill>
                <a:latin typeface="Calibri"/>
              </a:rPr>
              <a:t>Q20-24: discomfort follow-ups</a:t>
            </a:r>
          </a:p>
          <a:p>
            <a:pPr lvl="1" algn="l">
              <a:spcAft>
                <a:spcPts val="600"/>
              </a:spcAft>
            </a:pPr>
            <a:r>
              <a:rPr sz="1200" b="1" i="0">
                <a:solidFill>
                  <a:srgbClr val="0F766E"/>
                </a:solidFill>
                <a:latin typeface="Calibri"/>
              </a:rPr>
              <a:t>–   </a:t>
            </a:r>
            <a:r>
              <a:rPr sz="1200" b="0" i="0">
                <a:solidFill>
                  <a:srgbClr val="1F2A40"/>
                </a:solidFill>
                <a:latin typeface="Calibri"/>
              </a:rPr>
              <a:t>Q25-30: NASA-TLX 0-100 sliders</a:t>
            </a:r>
          </a:p>
          <a:p>
            <a:pPr lvl="1" algn="l">
              <a:spcAft>
                <a:spcPts val="600"/>
              </a:spcAft>
            </a:pPr>
            <a:r>
              <a:rPr sz="1200" b="1" i="0">
                <a:solidFill>
                  <a:srgbClr val="0F766E"/>
                </a:solidFill>
                <a:latin typeface="Calibri"/>
              </a:rPr>
              <a:t>–   </a:t>
            </a:r>
            <a:r>
              <a:rPr sz="1200" b="0" i="0">
                <a:solidFill>
                  <a:srgbClr val="1F2A40"/>
                </a:solidFill>
                <a:latin typeface="Calibri"/>
              </a:rPr>
              <a:t>Q31-36: Borg CR10 0-10 sliders</a:t>
            </a:r>
          </a:p>
          <a:p>
            <a:pPr algn="l">
              <a:spcAft>
                <a:spcPts val="600"/>
              </a:spcAft>
            </a:pPr>
            <a:r>
              <a:rPr sz="1200" b="1" i="0">
                <a:solidFill>
                  <a:srgbClr val="0F766E"/>
                </a:solidFill>
                <a:latin typeface="Calibri"/>
              </a:rPr>
              <a:t>•   </a:t>
            </a:r>
            <a:r>
              <a:rPr sz="1200" b="0" i="0">
                <a:solidFill>
                  <a:srgbClr val="1F2A40"/>
                </a:solidFill>
                <a:latin typeface="Calibri"/>
              </a:rPr>
              <a:t>Self-administered; single time-point.</a:t>
            </a:r>
          </a:p>
        </p:txBody>
      </p:sp>
      <p:sp>
        <p:nvSpPr>
          <p:cNvPr id="10" name="Rounded Rectangle 9"/>
          <p:cNvSpPr/>
          <p:nvPr/>
        </p:nvSpPr>
        <p:spPr>
          <a:xfrm>
            <a:off x="6537960" y="1737360"/>
            <a:ext cx="51663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12280" y="1920240"/>
            <a:ext cx="4617720" cy="274320"/>
          </a:xfrm>
          <a:prstGeom prst="rect">
            <a:avLst/>
          </a:prstGeom>
          <a:noFill/>
        </p:spPr>
        <p:txBody>
          <a:bodyPr wrap="square">
            <a:spAutoFit/>
          </a:bodyPr>
          <a:lstStyle/>
          <a:p>
            <a:pPr algn="l"/>
            <a:r>
              <a:rPr sz="1000" b="1" i="0">
                <a:solidFill>
                  <a:srgbClr val="0F766E"/>
                </a:solidFill>
                <a:latin typeface="Calibri"/>
              </a:rPr>
              <a:t>N = 182</a:t>
            </a:r>
          </a:p>
        </p:txBody>
      </p:sp>
      <p:sp>
        <p:nvSpPr>
          <p:cNvPr id="12" name="TextBox 11"/>
          <p:cNvSpPr txBox="1"/>
          <p:nvPr/>
        </p:nvSpPr>
        <p:spPr>
          <a:xfrm>
            <a:off x="6812280" y="2240280"/>
            <a:ext cx="4617720" cy="457200"/>
          </a:xfrm>
          <a:prstGeom prst="rect">
            <a:avLst/>
          </a:prstGeom>
          <a:noFill/>
        </p:spPr>
        <p:txBody>
          <a:bodyPr wrap="square">
            <a:spAutoFit/>
          </a:bodyPr>
          <a:lstStyle/>
          <a:p>
            <a:pPr algn="l"/>
            <a:r>
              <a:rPr sz="1700" b="1" i="0">
                <a:solidFill>
                  <a:srgbClr val="0F1F3A"/>
                </a:solidFill>
                <a:latin typeface="Calibri"/>
              </a:rPr>
              <a:t>Posture Observations (xlsx)</a:t>
            </a:r>
          </a:p>
        </p:txBody>
      </p:sp>
      <p:sp>
        <p:nvSpPr>
          <p:cNvPr id="13" name="TextBox 12"/>
          <p:cNvSpPr txBox="1"/>
          <p:nvPr/>
        </p:nvSpPr>
        <p:spPr>
          <a:xfrm>
            <a:off x="6812280" y="2788920"/>
            <a:ext cx="46177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Ergonomic observation records.</a:t>
            </a:r>
          </a:p>
          <a:p>
            <a:pPr lvl="1" algn="l">
              <a:spcAft>
                <a:spcPts val="600"/>
              </a:spcAft>
            </a:pPr>
            <a:r>
              <a:rPr sz="1200" b="1" i="0">
                <a:solidFill>
                  <a:srgbClr val="0F766E"/>
                </a:solidFill>
                <a:latin typeface="Calibri"/>
              </a:rPr>
              <a:t>–   </a:t>
            </a:r>
            <a:r>
              <a:rPr sz="1200" b="0" i="0">
                <a:solidFill>
                  <a:srgbClr val="1F2A40"/>
                </a:solidFill>
                <a:latin typeface="Calibri"/>
              </a:rPr>
              <a:t>11 RULA components</a:t>
            </a:r>
          </a:p>
          <a:p>
            <a:pPr lvl="1" algn="l">
              <a:spcAft>
                <a:spcPts val="600"/>
              </a:spcAft>
            </a:pPr>
            <a:r>
              <a:rPr sz="1200" b="1" i="0">
                <a:solidFill>
                  <a:srgbClr val="0F766E"/>
                </a:solidFill>
                <a:latin typeface="Calibri"/>
              </a:rPr>
              <a:t>–   </a:t>
            </a:r>
            <a:r>
              <a:rPr sz="1200" b="0" i="0">
                <a:solidFill>
                  <a:srgbClr val="1F2A40"/>
                </a:solidFill>
                <a:latin typeface="Calibri"/>
              </a:rPr>
              <a:t>3 RULA Table A/B/C scores</a:t>
            </a:r>
          </a:p>
          <a:p>
            <a:pPr lvl="1" algn="l">
              <a:spcAft>
                <a:spcPts val="600"/>
              </a:spcAft>
            </a:pPr>
            <a:r>
              <a:rPr sz="1200" b="1" i="0">
                <a:solidFill>
                  <a:srgbClr val="0F766E"/>
                </a:solidFill>
                <a:latin typeface="Calibri"/>
              </a:rPr>
              <a:t>–   </a:t>
            </a:r>
            <a:r>
              <a:rPr sz="1200" b="0" i="0">
                <a:solidFill>
                  <a:srgbClr val="1F2A40"/>
                </a:solidFill>
                <a:latin typeface="Calibri"/>
              </a:rPr>
              <a:t>8 QEC region + exposure scores</a:t>
            </a:r>
          </a:p>
          <a:p>
            <a:pPr algn="l">
              <a:spcAft>
                <a:spcPts val="600"/>
              </a:spcAft>
            </a:pPr>
            <a:r>
              <a:rPr sz="1200" b="1" i="0">
                <a:solidFill>
                  <a:srgbClr val="0F766E"/>
                </a:solidFill>
                <a:latin typeface="Calibri"/>
              </a:rPr>
              <a:t>•   </a:t>
            </a:r>
            <a:r>
              <a:rPr sz="1200" b="0" i="0">
                <a:solidFill>
                  <a:srgbClr val="1F2A40"/>
                </a:solidFill>
                <a:latin typeface="Calibri"/>
              </a:rPr>
              <a:t>Merged into the survey via severity-rank pairing.</a:t>
            </a:r>
          </a:p>
          <a:p>
            <a:pPr lvl="1" algn="l">
              <a:spcAft>
                <a:spcPts val="600"/>
              </a:spcAft>
            </a:pPr>
            <a:r>
              <a:rPr sz="1200" b="1" i="0">
                <a:solidFill>
                  <a:srgbClr val="0F766E"/>
                </a:solidFill>
                <a:latin typeface="Calibri"/>
              </a:rPr>
              <a:t>–   </a:t>
            </a:r>
            <a:r>
              <a:rPr sz="1200" b="0" i="0">
                <a:solidFill>
                  <a:srgbClr val="1F2A40"/>
                </a:solidFill>
                <a:latin typeface="Calibri"/>
              </a:rPr>
              <a:t>Ranks riders by NMQ + fatigue + hours</a:t>
            </a:r>
          </a:p>
          <a:p>
            <a:pPr lvl="1" algn="l">
              <a:spcAft>
                <a:spcPts val="600"/>
              </a:spcAft>
            </a:pPr>
            <a:r>
              <a:rPr sz="1200" b="1" i="0">
                <a:solidFill>
                  <a:srgbClr val="0F766E"/>
                </a:solidFill>
                <a:latin typeface="Calibri"/>
              </a:rPr>
              <a:t>–   </a:t>
            </a:r>
            <a:r>
              <a:rPr sz="1200" b="0" i="0">
                <a:solidFill>
                  <a:srgbClr val="1F2A40"/>
                </a:solidFill>
                <a:latin typeface="Calibri"/>
              </a:rPr>
              <a:t>Ranks observations by RULA Table C</a:t>
            </a:r>
          </a:p>
          <a:p>
            <a:pPr lvl="1" algn="l">
              <a:spcAft>
                <a:spcPts val="600"/>
              </a:spcAft>
            </a:pPr>
            <a:r>
              <a:rPr sz="1200" b="1" i="0">
                <a:solidFill>
                  <a:srgbClr val="0F766E"/>
                </a:solidFill>
                <a:latin typeface="Calibri"/>
              </a:rPr>
              <a:t>–   </a:t>
            </a:r>
            <a:r>
              <a:rPr sz="1200" b="0" i="0">
                <a:solidFill>
                  <a:srgbClr val="1F2A40"/>
                </a:solidFill>
                <a:latin typeface="Calibri"/>
              </a:rPr>
              <a:t>Matches rank-to-rank one-to-one</a:t>
            </a:r>
          </a:p>
        </p:txBody>
      </p:sp>
      <p:sp>
        <p:nvSpPr>
          <p:cNvPr id="14" name="TextBox 13"/>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4/10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04  STAGE 1</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Six Risk Factors &amp; Stage-1 Distribution</a:t>
            </a:r>
          </a:p>
        </p:txBody>
      </p:sp>
      <p:graphicFrame>
        <p:nvGraphicFramePr>
          <p:cNvPr id="6" name="Table 5"/>
          <p:cNvGraphicFramePr>
            <a:graphicFrameLocks noGrp="1"/>
          </p:cNvGraphicFramePr>
          <p:nvPr/>
        </p:nvGraphicFramePr>
        <p:xfrm>
          <a:off x="640080" y="1737360"/>
          <a:ext cx="10789920" cy="3200400"/>
        </p:xfrm>
        <a:graphic>
          <a:graphicData uri="http://schemas.openxmlformats.org/drawingml/2006/table">
            <a:tbl>
              <a:tblPr firstRow="1" bandRow="1">
                <a:tableStyleId>{5C22544A-7EE6-4342-B048-85BDC9FD1C3A}</a:tableStyleId>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gridCol w="1798320">
                  <a:extLst>
                    <a:ext uri="{9D8B030D-6E8A-4147-A177-3AD203B41FA5}">
                      <a16:colId xmlns:a16="http://schemas.microsoft.com/office/drawing/2014/main" val="20003"/>
                    </a:ext>
                  </a:extLst>
                </a:gridCol>
                <a:gridCol w="1798320">
                  <a:extLst>
                    <a:ext uri="{9D8B030D-6E8A-4147-A177-3AD203B41FA5}">
                      <a16:colId xmlns:a16="http://schemas.microsoft.com/office/drawing/2014/main" val="20004"/>
                    </a:ext>
                  </a:extLst>
                </a:gridCol>
                <a:gridCol w="1798320">
                  <a:extLst>
                    <a:ext uri="{9D8B030D-6E8A-4147-A177-3AD203B41FA5}">
                      <a16:colId xmlns:a16="http://schemas.microsoft.com/office/drawing/2014/main" val="20005"/>
                    </a:ext>
                  </a:extLst>
                </a:gridCol>
              </a:tblGrid>
              <a:tr h="457200">
                <a:tc>
                  <a:txBody>
                    <a:bodyPr/>
                    <a:lstStyle/>
                    <a:p>
                      <a:pPr algn="l"/>
                      <a:r>
                        <a:rPr sz="1200" b="1" i="0">
                          <a:solidFill>
                            <a:srgbClr val="FFFFFF"/>
                          </a:solidFill>
                          <a:latin typeface="Calibri"/>
                        </a:rPr>
                        <a:t>Factor</a:t>
                      </a:r>
                    </a:p>
                  </a:txBody>
                  <a:tcPr>
                    <a:solidFill>
                      <a:srgbClr val="0F1F3A"/>
                    </a:solidFill>
                  </a:tcPr>
                </a:tc>
                <a:tc>
                  <a:txBody>
                    <a:bodyPr/>
                    <a:lstStyle/>
                    <a:p>
                      <a:pPr algn="l"/>
                      <a:r>
                        <a:rPr sz="1200" b="1" i="0">
                          <a:solidFill>
                            <a:srgbClr val="FFFFFF"/>
                          </a:solidFill>
                          <a:latin typeface="Calibri"/>
                        </a:rPr>
                        <a:t>Signal</a:t>
                      </a:r>
                    </a:p>
                  </a:txBody>
                  <a:tcPr>
                    <a:solidFill>
                      <a:srgbClr val="0F1F3A"/>
                    </a:solidFill>
                  </a:tcPr>
                </a:tc>
                <a:tc>
                  <a:txBody>
                    <a:bodyPr/>
                    <a:lstStyle/>
                    <a:p>
                      <a:pPr algn="l"/>
                      <a:r>
                        <a:rPr sz="1200" b="1" i="0">
                          <a:solidFill>
                            <a:srgbClr val="FFFFFF"/>
                          </a:solidFill>
                          <a:latin typeface="Calibri"/>
                        </a:rPr>
                        <a:t>Threshold rule</a:t>
                      </a:r>
                    </a:p>
                  </a:txBody>
                  <a:tcPr>
                    <a:solidFill>
                      <a:srgbClr val="0F1F3A"/>
                    </a:solidFill>
                  </a:tcPr>
                </a:tc>
                <a:tc>
                  <a:txBody>
                    <a:bodyPr/>
                    <a:lstStyle/>
                    <a:p>
                      <a:pPr algn="l"/>
                      <a:r>
                        <a:rPr sz="1200" b="1" i="0">
                          <a:solidFill>
                            <a:srgbClr val="FFFFFF"/>
                          </a:solidFill>
                          <a:latin typeface="Calibri"/>
                        </a:rPr>
                        <a:t>Low</a:t>
                      </a:r>
                    </a:p>
                  </a:txBody>
                  <a:tcPr>
                    <a:solidFill>
                      <a:srgbClr val="0F1F3A"/>
                    </a:solidFill>
                  </a:tcPr>
                </a:tc>
                <a:tc>
                  <a:txBody>
                    <a:bodyPr/>
                    <a:lstStyle/>
                    <a:p>
                      <a:pPr algn="l"/>
                      <a:r>
                        <a:rPr sz="1200" b="1" i="0">
                          <a:solidFill>
                            <a:srgbClr val="FFFFFF"/>
                          </a:solidFill>
                          <a:latin typeface="Calibri"/>
                        </a:rPr>
                        <a:t>Med</a:t>
                      </a:r>
                    </a:p>
                  </a:txBody>
                  <a:tcPr>
                    <a:solidFill>
                      <a:srgbClr val="0F1F3A"/>
                    </a:solidFill>
                  </a:tcPr>
                </a:tc>
                <a:tc>
                  <a:txBody>
                    <a:bodyPr/>
                    <a:lstStyle/>
                    <a:p>
                      <a:pPr algn="l"/>
                      <a:r>
                        <a:rPr sz="1200" b="1" i="0">
                          <a:solidFill>
                            <a:srgbClr val="FFFFFF"/>
                          </a:solidFill>
                          <a:latin typeface="Calibri"/>
                        </a:rPr>
                        <a:t>High</a:t>
                      </a:r>
                    </a:p>
                  </a:txBody>
                  <a:tcPr>
                    <a:solidFill>
                      <a:srgbClr val="0F1F3A"/>
                    </a:solidFill>
                  </a:tcPr>
                </a:tc>
                <a:extLst>
                  <a:ext uri="{0D108BD9-81ED-4DB2-BD59-A6C34878D82A}">
                    <a16:rowId xmlns:a16="http://schemas.microsoft.com/office/drawing/2014/main" val="10000"/>
                  </a:ext>
                </a:extLst>
              </a:tr>
              <a:tr h="457200">
                <a:tc>
                  <a:txBody>
                    <a:bodyPr/>
                    <a:lstStyle/>
                    <a:p>
                      <a:pPr algn="l"/>
                      <a:r>
                        <a:rPr sz="1200" b="0" i="0">
                          <a:solidFill>
                            <a:srgbClr val="1F2A40"/>
                          </a:solidFill>
                          <a:latin typeface="Calibri"/>
                        </a:rPr>
                        <a:t>Force</a:t>
                      </a:r>
                    </a:p>
                  </a:txBody>
                  <a:tcPr>
                    <a:solidFill>
                      <a:srgbClr val="FFFFFF"/>
                    </a:solidFill>
                  </a:tcPr>
                </a:tc>
                <a:tc>
                  <a:txBody>
                    <a:bodyPr/>
                    <a:lstStyle/>
                    <a:p>
                      <a:pPr algn="l"/>
                      <a:r>
                        <a:rPr sz="1200" b="0" i="0">
                          <a:solidFill>
                            <a:srgbClr val="1F2A40"/>
                          </a:solidFill>
                          <a:latin typeface="Calibri"/>
                        </a:rPr>
                        <a:t>Borg CR10 lifting rating</a:t>
                      </a:r>
                    </a:p>
                  </a:txBody>
                  <a:tcPr>
                    <a:solidFill>
                      <a:srgbClr val="FFFFFF"/>
                    </a:solidFill>
                  </a:tcPr>
                </a:tc>
                <a:tc>
                  <a:txBody>
                    <a:bodyPr/>
                    <a:lstStyle/>
                    <a:p>
                      <a:pPr algn="l"/>
                      <a:r>
                        <a:rPr sz="1200" b="0" i="0">
                          <a:solidFill>
                            <a:srgbClr val="1F2A40"/>
                          </a:solidFill>
                          <a:latin typeface="Calibri"/>
                        </a:rPr>
                        <a:t>0-3 / 4-6 / 7-10 (Borg)</a:t>
                      </a:r>
                    </a:p>
                  </a:txBody>
                  <a:tcPr>
                    <a:solidFill>
                      <a:srgbClr val="FFFFFF"/>
                    </a:solidFill>
                  </a:tcPr>
                </a:tc>
                <a:tc>
                  <a:txBody>
                    <a:bodyPr/>
                    <a:lstStyle/>
                    <a:p>
                      <a:pPr algn="l"/>
                      <a:r>
                        <a:rPr sz="1200" b="0" i="0">
                          <a:solidFill>
                            <a:srgbClr val="1F2A40"/>
                          </a:solidFill>
                          <a:latin typeface="Calibri"/>
                        </a:rPr>
                        <a:t>90</a:t>
                      </a:r>
                    </a:p>
                  </a:txBody>
                  <a:tcPr>
                    <a:solidFill>
                      <a:srgbClr val="FFFFFF"/>
                    </a:solidFill>
                  </a:tcPr>
                </a:tc>
                <a:tc>
                  <a:txBody>
                    <a:bodyPr/>
                    <a:lstStyle/>
                    <a:p>
                      <a:pPr algn="l"/>
                      <a:r>
                        <a:rPr sz="1200" b="0" i="0">
                          <a:solidFill>
                            <a:srgbClr val="1F2A40"/>
                          </a:solidFill>
                          <a:latin typeface="Calibri"/>
                        </a:rPr>
                        <a:t>57</a:t>
                      </a:r>
                    </a:p>
                  </a:txBody>
                  <a:tcPr>
                    <a:solidFill>
                      <a:srgbClr val="FFFFFF"/>
                    </a:solidFill>
                  </a:tcPr>
                </a:tc>
                <a:tc>
                  <a:txBody>
                    <a:bodyPr/>
                    <a:lstStyle/>
                    <a:p>
                      <a:pPr algn="l"/>
                      <a:r>
                        <a:rPr sz="1200" b="0" i="0">
                          <a:solidFill>
                            <a:srgbClr val="1F2A40"/>
                          </a:solidFill>
                          <a:latin typeface="Calibri"/>
                        </a:rPr>
                        <a:t>35</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F2A40"/>
                          </a:solidFill>
                          <a:latin typeface="Calibri"/>
                        </a:rPr>
                        <a:t>Repetition</a:t>
                      </a:r>
                    </a:p>
                  </a:txBody>
                  <a:tcPr>
                    <a:solidFill>
                      <a:srgbClr val="F7F8FA"/>
                    </a:solidFill>
                  </a:tcPr>
                </a:tc>
                <a:tc>
                  <a:txBody>
                    <a:bodyPr/>
                    <a:lstStyle/>
                    <a:p>
                      <a:pPr algn="l"/>
                      <a:r>
                        <a:rPr sz="1200" b="0" i="0">
                          <a:solidFill>
                            <a:srgbClr val="1F2A40"/>
                          </a:solidFill>
                          <a:latin typeface="Calibri"/>
                        </a:rPr>
                        <a:t>deliveries per hour</a:t>
                      </a:r>
                    </a:p>
                  </a:txBody>
                  <a:tcPr>
                    <a:solidFill>
                      <a:srgbClr val="F7F8FA"/>
                    </a:solidFill>
                  </a:tcPr>
                </a:tc>
                <a:tc>
                  <a:txBody>
                    <a:bodyPr/>
                    <a:lstStyle/>
                    <a:p>
                      <a:pPr algn="l"/>
                      <a:r>
                        <a:rPr sz="1200" b="0" i="0">
                          <a:solidFill>
                            <a:srgbClr val="1F2A40"/>
                          </a:solidFill>
                          <a:latin typeface="Calibri"/>
                        </a:rPr>
                        <a:t>cut at 2.5 &amp; 3.75 dph</a:t>
                      </a:r>
                    </a:p>
                  </a:txBody>
                  <a:tcPr>
                    <a:solidFill>
                      <a:srgbClr val="F7F8FA"/>
                    </a:solidFill>
                  </a:tcPr>
                </a:tc>
                <a:tc>
                  <a:txBody>
                    <a:bodyPr/>
                    <a:lstStyle/>
                    <a:p>
                      <a:pPr algn="l"/>
                      <a:r>
                        <a:rPr sz="1200" b="0" i="0">
                          <a:solidFill>
                            <a:srgbClr val="1F2A40"/>
                          </a:solidFill>
                          <a:latin typeface="Calibri"/>
                        </a:rPr>
                        <a:t>26</a:t>
                      </a:r>
                    </a:p>
                  </a:txBody>
                  <a:tcPr>
                    <a:solidFill>
                      <a:srgbClr val="F7F8FA"/>
                    </a:solidFill>
                  </a:tcPr>
                </a:tc>
                <a:tc>
                  <a:txBody>
                    <a:bodyPr/>
                    <a:lstStyle/>
                    <a:p>
                      <a:pPr algn="l"/>
                      <a:r>
                        <a:rPr sz="1200" b="0" i="0">
                          <a:solidFill>
                            <a:srgbClr val="1F2A40"/>
                          </a:solidFill>
                          <a:latin typeface="Calibri"/>
                        </a:rPr>
                        <a:t>82</a:t>
                      </a:r>
                    </a:p>
                  </a:txBody>
                  <a:tcPr>
                    <a:solidFill>
                      <a:srgbClr val="F7F8FA"/>
                    </a:solidFill>
                  </a:tcPr>
                </a:tc>
                <a:tc>
                  <a:txBody>
                    <a:bodyPr/>
                    <a:lstStyle/>
                    <a:p>
                      <a:pPr algn="l"/>
                      <a:r>
                        <a:rPr sz="1200" b="0" i="0">
                          <a:solidFill>
                            <a:srgbClr val="1F2A40"/>
                          </a:solidFill>
                          <a:latin typeface="Calibri"/>
                        </a:rPr>
                        <a:t>74</a:t>
                      </a:r>
                    </a:p>
                  </a:txBody>
                  <a:tcPr>
                    <a:solidFill>
                      <a:srgbClr val="F7F8FA"/>
                    </a:solidFill>
                  </a:tcPr>
                </a:tc>
                <a:extLst>
                  <a:ext uri="{0D108BD9-81ED-4DB2-BD59-A6C34878D82A}">
                    <a16:rowId xmlns:a16="http://schemas.microsoft.com/office/drawing/2014/main" val="10002"/>
                  </a:ext>
                </a:extLst>
              </a:tr>
              <a:tr h="457200">
                <a:tc>
                  <a:txBody>
                    <a:bodyPr/>
                    <a:lstStyle/>
                    <a:p>
                      <a:pPr algn="l"/>
                      <a:r>
                        <a:rPr sz="1200" b="0" i="0">
                          <a:solidFill>
                            <a:srgbClr val="1F2A40"/>
                          </a:solidFill>
                          <a:latin typeface="Calibri"/>
                        </a:rPr>
                        <a:t>Duration</a:t>
                      </a:r>
                    </a:p>
                  </a:txBody>
                  <a:tcPr>
                    <a:solidFill>
                      <a:srgbClr val="FFFFFF"/>
                    </a:solidFill>
                  </a:tcPr>
                </a:tc>
                <a:tc>
                  <a:txBody>
                    <a:bodyPr/>
                    <a:lstStyle/>
                    <a:p>
                      <a:pPr algn="l"/>
                      <a:r>
                        <a:rPr sz="1200" b="0" i="0">
                          <a:solidFill>
                            <a:srgbClr val="1F2A40"/>
                          </a:solidFill>
                          <a:latin typeface="Calibri"/>
                        </a:rPr>
                        <a:t>continuous work hours</a:t>
                      </a:r>
                    </a:p>
                  </a:txBody>
                  <a:tcPr>
                    <a:solidFill>
                      <a:srgbClr val="FFFFFF"/>
                    </a:solidFill>
                  </a:tcPr>
                </a:tc>
                <a:tc>
                  <a:txBody>
                    <a:bodyPr/>
                    <a:lstStyle/>
                    <a:p>
                      <a:pPr algn="l"/>
                      <a:r>
                        <a:rPr sz="1200" b="0" i="0">
                          <a:solidFill>
                            <a:srgbClr val="1F2A40"/>
                          </a:solidFill>
                          <a:latin typeface="Calibri"/>
                        </a:rPr>
                        <a:t>&lt;= 5 / 6-7 / &gt; 7 hrs</a:t>
                      </a:r>
                    </a:p>
                  </a:txBody>
                  <a:tcPr>
                    <a:solidFill>
                      <a:srgbClr val="FFFFFF"/>
                    </a:solidFill>
                  </a:tcPr>
                </a:tc>
                <a:tc>
                  <a:txBody>
                    <a:bodyPr/>
                    <a:lstStyle/>
                    <a:p>
                      <a:pPr algn="l"/>
                      <a:r>
                        <a:rPr sz="1200" b="0" i="0">
                          <a:solidFill>
                            <a:srgbClr val="1F2A40"/>
                          </a:solidFill>
                          <a:latin typeface="Calibri"/>
                        </a:rPr>
                        <a:t>37</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tc>
                  <a:txBody>
                    <a:bodyPr/>
                    <a:lstStyle/>
                    <a:p>
                      <a:pPr algn="l"/>
                      <a:r>
                        <a:rPr sz="1200" b="0" i="0">
                          <a:solidFill>
                            <a:srgbClr val="1F2A40"/>
                          </a:solidFill>
                          <a:latin typeface="Calibri"/>
                        </a:rPr>
                        <a:t>89</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F2A40"/>
                          </a:solidFill>
                          <a:latin typeface="Calibri"/>
                        </a:rPr>
                        <a:t>Vibration</a:t>
                      </a:r>
                    </a:p>
                  </a:txBody>
                  <a:tcPr>
                    <a:solidFill>
                      <a:srgbClr val="F7F8FA"/>
                    </a:solidFill>
                  </a:tcPr>
                </a:tc>
                <a:tc>
                  <a:txBody>
                    <a:bodyPr/>
                    <a:lstStyle/>
                    <a:p>
                      <a:pPr algn="l"/>
                      <a:r>
                        <a:rPr sz="1200" b="0" i="0">
                          <a:solidFill>
                            <a:srgbClr val="1F2A40"/>
                          </a:solidFill>
                          <a:latin typeface="Calibri"/>
                        </a:rPr>
                        <a:t>vehicle rank x work hours</a:t>
                      </a:r>
                    </a:p>
                  </a:txBody>
                  <a:tcPr>
                    <a:solidFill>
                      <a:srgbClr val="F7F8FA"/>
                    </a:solidFill>
                  </a:tcPr>
                </a:tc>
                <a:tc>
                  <a:txBody>
                    <a:bodyPr/>
                    <a:lstStyle/>
                    <a:p>
                      <a:pPr algn="l"/>
                      <a:r>
                        <a:rPr sz="1200" b="0" i="0">
                          <a:solidFill>
                            <a:srgbClr val="1F2A40"/>
                          </a:solidFill>
                          <a:latin typeface="Calibri"/>
                        </a:rPr>
                        <a:t>sample tercile</a:t>
                      </a:r>
                    </a:p>
                  </a:txBody>
                  <a:tcPr>
                    <a:solidFill>
                      <a:srgbClr val="F7F8FA"/>
                    </a:solidFill>
                  </a:tcPr>
                </a:tc>
                <a:tc>
                  <a:txBody>
                    <a:bodyPr/>
                    <a:lstStyle/>
                    <a:p>
                      <a:pPr algn="l"/>
                      <a:r>
                        <a:rPr sz="1200" b="0" i="0">
                          <a:solidFill>
                            <a:srgbClr val="1F2A40"/>
                          </a:solidFill>
                          <a:latin typeface="Calibri"/>
                        </a:rPr>
                        <a:t>67</a:t>
                      </a:r>
                    </a:p>
                  </a:txBody>
                  <a:tcPr>
                    <a:solidFill>
                      <a:srgbClr val="F7F8FA"/>
                    </a:solidFill>
                  </a:tcPr>
                </a:tc>
                <a:tc>
                  <a:txBody>
                    <a:bodyPr/>
                    <a:lstStyle/>
                    <a:p>
                      <a:pPr algn="l"/>
                      <a:r>
                        <a:rPr sz="1200" b="0" i="0">
                          <a:solidFill>
                            <a:srgbClr val="1F2A40"/>
                          </a:solidFill>
                          <a:latin typeface="Calibri"/>
                        </a:rPr>
                        <a:t>68</a:t>
                      </a:r>
                    </a:p>
                  </a:txBody>
                  <a:tcPr>
                    <a:solidFill>
                      <a:srgbClr val="F7F8FA"/>
                    </a:solidFill>
                  </a:tcPr>
                </a:tc>
                <a:tc>
                  <a:txBody>
                    <a:bodyPr/>
                    <a:lstStyle/>
                    <a:p>
                      <a:pPr algn="l"/>
                      <a:r>
                        <a:rPr sz="1200" b="0" i="0">
                          <a:solidFill>
                            <a:srgbClr val="1F2A40"/>
                          </a:solidFill>
                          <a:latin typeface="Calibri"/>
                        </a:rPr>
                        <a:t>47</a:t>
                      </a:r>
                    </a:p>
                  </a:txBody>
                  <a:tcPr>
                    <a:solidFill>
                      <a:srgbClr val="F7F8FA"/>
                    </a:solidFill>
                  </a:tcPr>
                </a:tc>
                <a:extLst>
                  <a:ext uri="{0D108BD9-81ED-4DB2-BD59-A6C34878D82A}">
                    <a16:rowId xmlns:a16="http://schemas.microsoft.com/office/drawing/2014/main" val="10004"/>
                  </a:ext>
                </a:extLst>
              </a:tr>
              <a:tr h="457200">
                <a:tc>
                  <a:txBody>
                    <a:bodyPr/>
                    <a:lstStyle/>
                    <a:p>
                      <a:pPr algn="l"/>
                      <a:r>
                        <a:rPr sz="1200" b="0" i="0">
                          <a:solidFill>
                            <a:srgbClr val="1F2A40"/>
                          </a:solidFill>
                          <a:latin typeface="Calibri"/>
                        </a:rPr>
                        <a:t>Contact Stress</a:t>
                      </a:r>
                    </a:p>
                  </a:txBody>
                  <a:tcPr>
                    <a:solidFill>
                      <a:srgbClr val="FFFFFF"/>
                    </a:solidFill>
                  </a:tcPr>
                </a:tc>
                <a:tc>
                  <a:txBody>
                    <a:bodyPr/>
                    <a:lstStyle/>
                    <a:p>
                      <a:pPr algn="l"/>
                      <a:r>
                        <a:rPr sz="1200" b="0" i="0">
                          <a:solidFill>
                            <a:srgbClr val="1F2A40"/>
                          </a:solidFill>
                          <a:latin typeface="Calibri"/>
                        </a:rPr>
                        <a:t>carrying mode x hours x age</a:t>
                      </a:r>
                    </a:p>
                  </a:txBody>
                  <a:tcPr>
                    <a:solidFill>
                      <a:srgbClr val="FFFFFF"/>
                    </a:solidFill>
                  </a:tcPr>
                </a:tc>
                <a:tc>
                  <a:txBody>
                    <a:bodyPr/>
                    <a:lstStyle/>
                    <a:p>
                      <a:pPr algn="l"/>
                      <a:r>
                        <a:rPr sz="1200" b="0" i="0">
                          <a:solidFill>
                            <a:srgbClr val="1F2A40"/>
                          </a:solidFill>
                          <a:latin typeface="Calibri"/>
                        </a:rPr>
                        <a:t>sample tercile</a:t>
                      </a:r>
                    </a:p>
                  </a:txBody>
                  <a:tcPr>
                    <a:solidFill>
                      <a:srgbClr val="FFFFFF"/>
                    </a:solidFill>
                  </a:tcPr>
                </a:tc>
                <a:tc>
                  <a:txBody>
                    <a:bodyPr/>
                    <a:lstStyle/>
                    <a:p>
                      <a:pPr algn="l"/>
                      <a:r>
                        <a:rPr sz="1200" b="0" i="0">
                          <a:solidFill>
                            <a:srgbClr val="1F2A40"/>
                          </a:solidFill>
                          <a:latin typeface="Calibri"/>
                        </a:rPr>
                        <a:t>68</a:t>
                      </a:r>
                    </a:p>
                  </a:txBody>
                  <a:tcPr>
                    <a:solidFill>
                      <a:srgbClr val="FFFFFF"/>
                    </a:solidFill>
                  </a:tcPr>
                </a:tc>
                <a:tc>
                  <a:txBody>
                    <a:bodyPr/>
                    <a:lstStyle/>
                    <a:p>
                      <a:pPr algn="l"/>
                      <a:r>
                        <a:rPr sz="1200" b="0" i="0">
                          <a:solidFill>
                            <a:srgbClr val="1F2A40"/>
                          </a:solidFill>
                          <a:latin typeface="Calibri"/>
                        </a:rPr>
                        <a:t>58</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F2A40"/>
                          </a:solidFill>
                          <a:latin typeface="Calibri"/>
                        </a:rPr>
                        <a:t>Posture</a:t>
                      </a:r>
                    </a:p>
                  </a:txBody>
                  <a:tcPr>
                    <a:solidFill>
                      <a:srgbClr val="F7F8FA"/>
                    </a:solidFill>
                  </a:tcPr>
                </a:tc>
                <a:tc>
                  <a:txBody>
                    <a:bodyPr/>
                    <a:lstStyle/>
                    <a:p>
                      <a:pPr algn="l"/>
                      <a:r>
                        <a:rPr sz="1200" b="0" i="0">
                          <a:solidFill>
                            <a:srgbClr val="1F2A40"/>
                          </a:solidFill>
                          <a:latin typeface="Calibri"/>
                        </a:rPr>
                        <a:t>RULA Table C grand score</a:t>
                      </a:r>
                    </a:p>
                  </a:txBody>
                  <a:tcPr>
                    <a:solidFill>
                      <a:srgbClr val="F7F8FA"/>
                    </a:solidFill>
                  </a:tcPr>
                </a:tc>
                <a:tc>
                  <a:txBody>
                    <a:bodyPr/>
                    <a:lstStyle/>
                    <a:p>
                      <a:pPr algn="l"/>
                      <a:r>
                        <a:rPr sz="1200" b="0" i="0">
                          <a:solidFill>
                            <a:srgbClr val="1F2A40"/>
                          </a:solidFill>
                          <a:latin typeface="Calibri"/>
                        </a:rPr>
                        <a:t>grand score 1-2 / 3-4 / 5+</a:t>
                      </a:r>
                    </a:p>
                  </a:txBody>
                  <a:tcPr>
                    <a:solidFill>
                      <a:srgbClr val="F7F8FA"/>
                    </a:solidFill>
                  </a:tcPr>
                </a:tc>
                <a:tc>
                  <a:txBody>
                    <a:bodyPr/>
                    <a:lstStyle/>
                    <a:p>
                      <a:pPr algn="l"/>
                      <a:r>
                        <a:rPr sz="1200" b="0" i="0">
                          <a:solidFill>
                            <a:srgbClr val="1F2A40"/>
                          </a:solidFill>
                          <a:latin typeface="Calibri"/>
                        </a:rPr>
                        <a:t>0</a:t>
                      </a:r>
                    </a:p>
                  </a:txBody>
                  <a:tcPr>
                    <a:solidFill>
                      <a:srgbClr val="F7F8FA"/>
                    </a:solidFill>
                  </a:tcPr>
                </a:tc>
                <a:tc>
                  <a:txBody>
                    <a:bodyPr/>
                    <a:lstStyle/>
                    <a:p>
                      <a:pPr algn="l"/>
                      <a:r>
                        <a:rPr sz="1200" b="0" i="0">
                          <a:solidFill>
                            <a:srgbClr val="1F2A40"/>
                          </a:solidFill>
                          <a:latin typeface="Calibri"/>
                        </a:rPr>
                        <a:t>29</a:t>
                      </a:r>
                    </a:p>
                  </a:txBody>
                  <a:tcPr>
                    <a:solidFill>
                      <a:srgbClr val="F7F8FA"/>
                    </a:solidFill>
                  </a:tcPr>
                </a:tc>
                <a:tc>
                  <a:txBody>
                    <a:bodyPr/>
                    <a:lstStyle/>
                    <a:p>
                      <a:pPr algn="l"/>
                      <a:r>
                        <a:rPr sz="1200" b="0" i="0">
                          <a:solidFill>
                            <a:srgbClr val="1F2A40"/>
                          </a:solidFill>
                          <a:latin typeface="Calibri"/>
                        </a:rPr>
                        <a:t>153</a:t>
                      </a:r>
                    </a:p>
                  </a:txBody>
                  <a:tcPr>
                    <a:solidFill>
                      <a:srgbClr val="F7F8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40080" y="5212080"/>
            <a:ext cx="10789920" cy="914400"/>
          </a:xfrm>
          <a:prstGeom prst="rect">
            <a:avLst/>
          </a:prstGeom>
          <a:noFill/>
        </p:spPr>
        <p:txBody>
          <a:bodyPr wrap="square">
            <a:spAutoFit/>
          </a:bodyPr>
          <a:lstStyle/>
          <a:p>
            <a:pPr algn="l"/>
            <a:r>
              <a:rPr sz="1300" b="0" i="0">
                <a:solidFill>
                  <a:srgbClr val="6B7282"/>
                </a:solidFill>
                <a:latin typeface="Calibri"/>
              </a:rPr>
              <a:t>Posture (84% High), Duration (49%), and Repetition (41%) skew heavily toward High. Posture has no Low observations because the training-data minimum RULA Table C grand score is 3 (Medium); SMOTE inside every training fold handles the resulting Stage-2 class imbalance.</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5/10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05  STAGE 2</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Machine-Learning Pipeline</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Seven candidate classifiers</a:t>
            </a:r>
          </a:p>
        </p:txBody>
      </p:sp>
      <p:sp>
        <p:nvSpPr>
          <p:cNvPr id="7" name="TextBox 6"/>
          <p:cNvSpPr txBox="1"/>
          <p:nvPr/>
        </p:nvSpPr>
        <p:spPr>
          <a:xfrm>
            <a:off x="640080" y="2103120"/>
            <a:ext cx="5760720" cy="219456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Logistic Regression (L2, balanced weights)</a:t>
            </a:r>
          </a:p>
          <a:p>
            <a:pPr algn="l">
              <a:spcAft>
                <a:spcPts val="600"/>
              </a:spcAft>
            </a:pPr>
            <a:r>
              <a:rPr sz="1300" b="1" i="0">
                <a:solidFill>
                  <a:srgbClr val="0F766E"/>
                </a:solidFill>
                <a:latin typeface="Calibri"/>
              </a:rPr>
              <a:t>•   </a:t>
            </a:r>
            <a:r>
              <a:rPr sz="1300" b="0" i="0">
                <a:solidFill>
                  <a:srgbClr val="1F2A40"/>
                </a:solidFill>
                <a:latin typeface="Calibri"/>
              </a:rPr>
              <a:t>Decision Tree, Random Forest, Extra Trees</a:t>
            </a:r>
          </a:p>
          <a:p>
            <a:pPr algn="l">
              <a:spcAft>
                <a:spcPts val="600"/>
              </a:spcAft>
            </a:pPr>
            <a:r>
              <a:rPr sz="1300" b="1" i="0">
                <a:solidFill>
                  <a:srgbClr val="0F766E"/>
                </a:solidFill>
                <a:latin typeface="Calibri"/>
              </a:rPr>
              <a:t>•   </a:t>
            </a:r>
            <a:r>
              <a:rPr sz="1300" b="0" i="0">
                <a:solidFill>
                  <a:srgbClr val="1F2A40"/>
                </a:solidFill>
                <a:latin typeface="Calibri"/>
              </a:rPr>
              <a:t>Hist Gradient Boosting, XGBoost</a:t>
            </a:r>
          </a:p>
          <a:p>
            <a:pPr algn="l">
              <a:spcAft>
                <a:spcPts val="600"/>
              </a:spcAft>
            </a:pPr>
            <a:r>
              <a:rPr sz="1300" b="1" i="0">
                <a:solidFill>
                  <a:srgbClr val="0F766E"/>
                </a:solidFill>
                <a:latin typeface="Calibri"/>
              </a:rPr>
              <a:t>•   </a:t>
            </a:r>
            <a:r>
              <a:rPr sz="1300" b="0" i="0">
                <a:solidFill>
                  <a:srgbClr val="1F2A40"/>
                </a:solidFill>
                <a:latin typeface="Calibri"/>
              </a:rPr>
              <a:t>Stacking Classifier (RF + ET + XGB + HGB)</a:t>
            </a:r>
          </a:p>
        </p:txBody>
      </p:sp>
      <p:sp>
        <p:nvSpPr>
          <p:cNvPr id="8" name="TextBox 7"/>
          <p:cNvSpPr txBox="1"/>
          <p:nvPr/>
        </p:nvSpPr>
        <p:spPr>
          <a:xfrm>
            <a:off x="640080" y="4114800"/>
            <a:ext cx="5760720" cy="365760"/>
          </a:xfrm>
          <a:prstGeom prst="rect">
            <a:avLst/>
          </a:prstGeom>
          <a:noFill/>
        </p:spPr>
        <p:txBody>
          <a:bodyPr wrap="square">
            <a:spAutoFit/>
          </a:bodyPr>
          <a:lstStyle/>
          <a:p>
            <a:pPr algn="l"/>
            <a:r>
              <a:rPr sz="1500" b="1" i="0">
                <a:solidFill>
                  <a:srgbClr val="0F1F3A"/>
                </a:solidFill>
                <a:latin typeface="Calibri"/>
              </a:rPr>
              <a:t>Cross-validation and tuning</a:t>
            </a:r>
          </a:p>
        </p:txBody>
      </p:sp>
      <p:sp>
        <p:nvSpPr>
          <p:cNvPr id="9" name="TextBox 8"/>
          <p:cNvSpPr txBox="1"/>
          <p:nvPr/>
        </p:nvSpPr>
        <p:spPr>
          <a:xfrm>
            <a:off x="640080" y="4526280"/>
            <a:ext cx="5760720" cy="18288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StratifiedKFold(5, shuffle=True, random_state=42)</a:t>
            </a:r>
          </a:p>
          <a:p>
            <a:pPr algn="l">
              <a:spcAft>
                <a:spcPts val="600"/>
              </a:spcAft>
            </a:pPr>
            <a:r>
              <a:rPr sz="1300" b="1" i="0">
                <a:solidFill>
                  <a:srgbClr val="0F766E"/>
                </a:solidFill>
                <a:latin typeface="Calibri"/>
              </a:rPr>
              <a:t>•   </a:t>
            </a:r>
            <a:r>
              <a:rPr sz="1300" b="0" i="0">
                <a:solidFill>
                  <a:srgbClr val="1F2A40"/>
                </a:solidFill>
                <a:latin typeface="Calibri"/>
              </a:rPr>
              <a:t>SMOTE inside every training fold (imblearn.Pipeline)</a:t>
            </a:r>
          </a:p>
          <a:p>
            <a:pPr algn="l">
              <a:spcAft>
                <a:spcPts val="600"/>
              </a:spcAft>
            </a:pPr>
            <a:r>
              <a:rPr sz="1300" b="1" i="0">
                <a:solidFill>
                  <a:srgbClr val="0F766E"/>
                </a:solidFill>
                <a:latin typeface="Calibri"/>
              </a:rPr>
              <a:t>•   </a:t>
            </a:r>
            <a:r>
              <a:rPr sz="1300" b="0" i="0">
                <a:solidFill>
                  <a:srgbClr val="1F2A40"/>
                </a:solidFill>
                <a:latin typeface="Calibri"/>
              </a:rPr>
              <a:t>GridSearchCV on macro F1 for hyperparameters</a:t>
            </a:r>
          </a:p>
          <a:p>
            <a:pPr algn="l">
              <a:spcAft>
                <a:spcPts val="600"/>
              </a:spcAft>
            </a:pPr>
            <a:r>
              <a:rPr sz="1300" b="1" i="0">
                <a:solidFill>
                  <a:srgbClr val="0F766E"/>
                </a:solidFill>
                <a:latin typeface="Calibri"/>
              </a:rPr>
              <a:t>•   </a:t>
            </a:r>
            <a:r>
              <a:rPr sz="1300" b="0" i="0">
                <a:solidFill>
                  <a:srgbClr val="1F2A40"/>
                </a:solidFill>
                <a:latin typeface="Calibri"/>
              </a:rPr>
              <a:t>Best model per target refit on full sample and saved as .pkl</a:t>
            </a:r>
          </a:p>
        </p:txBody>
      </p:sp>
      <p:sp>
        <p:nvSpPr>
          <p:cNvPr id="10" name="TextBox 9"/>
          <p:cNvSpPr txBox="1"/>
          <p:nvPr/>
        </p:nvSpPr>
        <p:spPr>
          <a:xfrm>
            <a:off x="6766560" y="1691640"/>
            <a:ext cx="4937760" cy="365760"/>
          </a:xfrm>
          <a:prstGeom prst="rect">
            <a:avLst/>
          </a:prstGeom>
          <a:noFill/>
        </p:spPr>
        <p:txBody>
          <a:bodyPr wrap="square">
            <a:spAutoFit/>
          </a:bodyPr>
          <a:lstStyle/>
          <a:p>
            <a:pPr algn="l"/>
            <a:r>
              <a:rPr sz="1500" b="1" i="0">
                <a:solidFill>
                  <a:srgbClr val="0F1F3A"/>
                </a:solidFill>
                <a:latin typeface="Calibri"/>
              </a:rPr>
              <a:t>Per-target feature exclusions</a:t>
            </a:r>
          </a:p>
        </p:txBody>
      </p:sp>
      <p:graphicFrame>
        <p:nvGraphicFramePr>
          <p:cNvPr id="11" name="Table 10"/>
          <p:cNvGraphicFramePr>
            <a:graphicFrameLocks noGrp="1"/>
          </p:cNvGraphicFramePr>
          <p:nvPr/>
        </p:nvGraphicFramePr>
        <p:xfrm>
          <a:off x="6766560" y="2103120"/>
          <a:ext cx="4937760" cy="2756265"/>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91885">
                <a:tc>
                  <a:txBody>
                    <a:bodyPr/>
                    <a:lstStyle/>
                    <a:p>
                      <a:pPr algn="l"/>
                      <a:r>
                        <a:rPr sz="1000" b="1" i="0">
                          <a:solidFill>
                            <a:srgbClr val="FFFFFF"/>
                          </a:solidFill>
                          <a:latin typeface="Calibri"/>
                        </a:rPr>
                        <a:t>Target</a:t>
                      </a:r>
                    </a:p>
                  </a:txBody>
                  <a:tcPr>
                    <a:solidFill>
                      <a:srgbClr val="0F1F3A"/>
                    </a:solidFill>
                  </a:tcPr>
                </a:tc>
                <a:tc>
                  <a:txBody>
                    <a:bodyPr/>
                    <a:lstStyle/>
                    <a:p>
                      <a:pPr algn="l"/>
                      <a:r>
                        <a:rPr sz="1000" b="1" i="0">
                          <a:solidFill>
                            <a:srgbClr val="FFFFFF"/>
                          </a:solidFill>
                          <a:latin typeface="Calibri"/>
                        </a:rPr>
                        <a:t>Excluded features</a:t>
                      </a:r>
                    </a:p>
                  </a:txBody>
                  <a:tcPr>
                    <a:solidFill>
                      <a:srgbClr val="0F1F3A"/>
                    </a:solidFill>
                  </a:tcPr>
                </a:tc>
                <a:tc>
                  <a:txBody>
                    <a:bodyPr/>
                    <a:lstStyle/>
                    <a:p>
                      <a:pPr algn="l"/>
                      <a:r>
                        <a:rPr sz="1000" b="1" i="0">
                          <a:solidFill>
                            <a:srgbClr val="FFFFFF"/>
                          </a:solidFill>
                          <a:latin typeface="Calibri"/>
                        </a:rPr>
                        <a:t>Feats</a:t>
                      </a:r>
                    </a:p>
                  </a:txBody>
                  <a:tcPr>
                    <a:solidFill>
                      <a:srgbClr val="0F1F3A"/>
                    </a:solidFill>
                  </a:tcPr>
                </a:tc>
                <a:extLst>
                  <a:ext uri="{0D108BD9-81ED-4DB2-BD59-A6C34878D82A}">
                    <a16:rowId xmlns:a16="http://schemas.microsoft.com/office/drawing/2014/main" val="10000"/>
                  </a:ext>
                </a:extLst>
              </a:tr>
              <a:tr h="391885">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force_exertion, force_x_age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1"/>
                  </a:ext>
                </a:extLst>
              </a:tr>
              <a:tr h="391885">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deliveries_num, hours, deliv_x_days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extLst>
                  <a:ext uri="{0D108BD9-81ED-4DB2-BD59-A6C34878D82A}">
                    <a16:rowId xmlns:a16="http://schemas.microsoft.com/office/drawing/2014/main" val="10002"/>
                  </a:ext>
                </a:extLst>
              </a:tr>
              <a:tr h="391885">
                <a:tc>
                  <a:txBody>
                    <a:bodyPr/>
                    <a:lstStyle/>
                    <a:p>
                      <a:pPr algn="l"/>
                      <a:r>
                        <a:rPr sz="1000" b="0" i="0">
                          <a:solidFill>
                            <a:srgbClr val="1F2A40"/>
                          </a:solidFill>
                          <a:latin typeface="Calibri"/>
                        </a:rPr>
                        <a:t>Duration</a:t>
                      </a:r>
                    </a:p>
                  </a:txBody>
                  <a:tcPr>
                    <a:solidFill>
                      <a:srgbClr val="FFFFFF"/>
                    </a:solidFill>
                  </a:tcPr>
                </a:tc>
                <a:tc>
                  <a:txBody>
                    <a:bodyPr/>
                    <a:lstStyle/>
                    <a:p>
                      <a:pPr algn="l"/>
                      <a:r>
                        <a:rPr sz="1000" b="0" i="0">
                          <a:solidFill>
                            <a:srgbClr val="1F2A40"/>
                          </a:solidFill>
                          <a:latin typeface="Calibri"/>
                        </a:rPr>
                        <a:t>work_hours_num, vibration_index</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3"/>
                  </a:ext>
                </a:extLst>
              </a:tr>
              <a:tr h="391885">
                <a:tc>
                  <a:txBody>
                    <a:bodyPr/>
                    <a:lstStyle/>
                    <a:p>
                      <a:pPr algn="l"/>
                      <a:r>
                        <a:rPr sz="1000" b="0" i="0">
                          <a:solidFill>
                            <a:srgbClr val="1F2A40"/>
                          </a:solidFill>
                          <a:latin typeface="Calibri"/>
                        </a:rPr>
                        <a:t>Vibration</a:t>
                      </a:r>
                    </a:p>
                  </a:txBody>
                  <a:tcPr>
                    <a:solidFill>
                      <a:srgbClr val="F7F8FA"/>
                    </a:solidFill>
                  </a:tcPr>
                </a:tc>
                <a:tc>
                  <a:txBody>
                    <a:bodyPr/>
                    <a:lstStyle/>
                    <a:p>
                      <a:pPr algn="l"/>
                      <a:r>
                        <a:rPr sz="1000" b="0" i="0">
                          <a:solidFill>
                            <a:srgbClr val="1F2A40"/>
                          </a:solidFill>
                          <a:latin typeface="Calibri"/>
                        </a:rPr>
                        <a:t>vibration_index, vehicle, hours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extLst>
                  <a:ext uri="{0D108BD9-81ED-4DB2-BD59-A6C34878D82A}">
                    <a16:rowId xmlns:a16="http://schemas.microsoft.com/office/drawing/2014/main" val="10004"/>
                  </a:ext>
                </a:extLst>
              </a:tr>
              <a:tr h="391885">
                <a:tc>
                  <a:txBody>
                    <a:bodyPr/>
                    <a:lstStyle/>
                    <a:p>
                      <a:pPr algn="l"/>
                      <a:r>
                        <a:rPr sz="1000" b="0" i="0">
                          <a:solidFill>
                            <a:srgbClr val="1F2A40"/>
                          </a:solidFill>
                          <a:latin typeface="Calibri"/>
                        </a:rPr>
                        <a:t>Contact Stress</a:t>
                      </a:r>
                    </a:p>
                  </a:txBody>
                  <a:tcPr>
                    <a:solidFill>
                      <a:srgbClr val="FFFFFF"/>
                    </a:solidFill>
                  </a:tcPr>
                </a:tc>
                <a:tc>
                  <a:txBody>
                    <a:bodyPr/>
                    <a:lstStyle/>
                    <a:p>
                      <a:pPr algn="l"/>
                      <a:r>
                        <a:rPr sz="1000" b="0" i="0">
                          <a:solidFill>
                            <a:srgbClr val="1F2A40"/>
                          </a:solidFill>
                          <a:latin typeface="Calibri"/>
                        </a:rPr>
                        <a:t>carry, work_hours_num</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5"/>
                  </a:ext>
                </a:extLst>
              </a:tr>
              <a:tr h="391890">
                <a:tc>
                  <a:txBody>
                    <a:bodyPr/>
                    <a:lstStyle/>
                    <a:p>
                      <a:pPr algn="l"/>
                      <a:r>
                        <a:rPr sz="1000" b="0" i="0">
                          <a:solidFill>
                            <a:srgbClr val="1F2A40"/>
                          </a:solidFill>
                          <a:latin typeface="Calibri"/>
                        </a:rPr>
                        <a:t>Posture</a:t>
                      </a:r>
                    </a:p>
                  </a:txBody>
                  <a:tcPr>
                    <a:solidFill>
                      <a:srgbClr val="F7F8FA"/>
                    </a:solidFill>
                  </a:tcPr>
                </a:tc>
                <a:tc>
                  <a:txBody>
                    <a:bodyPr/>
                    <a:lstStyle/>
                    <a:p>
                      <a:pPr algn="l"/>
                      <a:r>
                        <a:rPr sz="1000" b="0" i="0">
                          <a:solidFill>
                            <a:srgbClr val="1F2A40"/>
                          </a:solidFill>
                          <a:latin typeface="Calibri"/>
                        </a:rPr>
                        <a:t>(RULA Tables A/B/C only)</a:t>
                      </a:r>
                    </a:p>
                  </a:txBody>
                  <a:tcPr>
                    <a:solidFill>
                      <a:srgbClr val="F7F8FA"/>
                    </a:solidFill>
                  </a:tcPr>
                </a:tc>
                <a:tc>
                  <a:txBody>
                    <a:bodyPr/>
                    <a:lstStyle/>
                    <a:p>
                      <a:pPr algn="l"/>
                      <a:r>
                        <a:rPr sz="1000" b="0" i="0">
                          <a:solidFill>
                            <a:srgbClr val="1F2A40"/>
                          </a:solidFill>
                          <a:latin typeface="Calibri"/>
                        </a:rPr>
                        <a:t>63</a:t>
                      </a:r>
                    </a:p>
                  </a:txBody>
                  <a:tcPr>
                    <a:solidFill>
                      <a:srgbClr val="F7F8FA"/>
                    </a:solidFill>
                  </a:tcPr>
                </a:tc>
                <a:extLst>
                  <a:ext uri="{0D108BD9-81ED-4DB2-BD59-A6C34878D82A}">
                    <a16:rowId xmlns:a16="http://schemas.microsoft.com/office/drawing/2014/main" val="10006"/>
                  </a:ext>
                </a:extLst>
              </a:tr>
            </a:tbl>
          </a:graphicData>
        </a:graphic>
      </p:graphicFrame>
      <p:sp>
        <p:nvSpPr>
          <p:cNvPr id="12" name="TextBox 11"/>
          <p:cNvSpPr txBox="1"/>
          <p:nvPr/>
        </p:nvSpPr>
        <p:spPr>
          <a:xfrm>
            <a:off x="6766560" y="5029200"/>
            <a:ext cx="4937760" cy="914400"/>
          </a:xfrm>
          <a:prstGeom prst="rect">
            <a:avLst/>
          </a:prstGeom>
          <a:noFill/>
        </p:spPr>
        <p:txBody>
          <a:bodyPr wrap="square">
            <a:spAutoFit/>
          </a:bodyPr>
          <a:lstStyle/>
          <a:p>
            <a:pPr algn="l"/>
            <a:r>
              <a:rPr sz="1100" b="0" i="1">
                <a:solidFill>
                  <a:srgbClr val="6B7282"/>
                </a:solidFill>
                <a:latin typeface="Calibri"/>
              </a:rPr>
              <a:t>Each classifier must learn from the rest of the rider profile; it cannot memorise the Stage-1 rule.</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6/10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06  FINDINGS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Statistical Findings</a:t>
            </a:r>
          </a:p>
        </p:txBody>
      </p:sp>
      <p:pic>
        <p:nvPicPr>
          <p:cNvPr id="6" name="Picture 5" descr="nordic_prevalence.png"/>
          <p:cNvPicPr>
            <a:picLocks noChangeAspect="1"/>
          </p:cNvPicPr>
          <p:nvPr/>
        </p:nvPicPr>
        <p:blipFill>
          <a:blip r:embed="rId2"/>
          <a:stretch>
            <a:fillRect/>
          </a:stretch>
        </p:blipFill>
        <p:spPr>
          <a:xfrm>
            <a:off x="1592061" y="1783080"/>
            <a:ext cx="3491345" cy="1920240"/>
          </a:xfrm>
          <a:prstGeom prst="rect">
            <a:avLst/>
          </a:prstGeom>
        </p:spPr>
      </p:pic>
      <p:sp>
        <p:nvSpPr>
          <p:cNvPr id="7" name="TextBox 6"/>
          <p:cNvSpPr txBox="1"/>
          <p:nvPr/>
        </p:nvSpPr>
        <p:spPr>
          <a:xfrm>
            <a:off x="1592061" y="3749040"/>
            <a:ext cx="3491345" cy="274320"/>
          </a:xfrm>
          <a:prstGeom prst="rect">
            <a:avLst/>
          </a:prstGeom>
          <a:noFill/>
        </p:spPr>
        <p:txBody>
          <a:bodyPr wrap="none">
            <a:spAutoFit/>
          </a:bodyPr>
          <a:lstStyle/>
          <a:p>
            <a:pPr algn="ctr"/>
            <a:r>
              <a:rPr sz="1000" b="0" i="1">
                <a:solidFill>
                  <a:srgbClr val="6B7282"/>
                </a:solidFill>
                <a:latin typeface="Calibri"/>
              </a:rPr>
              <a:t>NMQ 12-month pain prevalence (n = 182)</a:t>
            </a:r>
          </a:p>
        </p:txBody>
      </p:sp>
      <p:sp>
        <p:nvSpPr>
          <p:cNvPr id="8" name="TextBox 7"/>
          <p:cNvSpPr txBox="1"/>
          <p:nvPr/>
        </p:nvSpPr>
        <p:spPr>
          <a:xfrm>
            <a:off x="6400800" y="1737360"/>
            <a:ext cx="5303520" cy="320040"/>
          </a:xfrm>
          <a:prstGeom prst="rect">
            <a:avLst/>
          </a:prstGeom>
          <a:noFill/>
        </p:spPr>
        <p:txBody>
          <a:bodyPr wrap="square">
            <a:spAutoFit/>
          </a:bodyPr>
          <a:lstStyle/>
          <a:p>
            <a:pPr algn="l"/>
            <a:r>
              <a:rPr sz="1100" b="1" i="0">
                <a:solidFill>
                  <a:srgbClr val="0F1F3A"/>
                </a:solidFill>
                <a:latin typeface="Calibri"/>
              </a:rPr>
              <a:t>Logistic regression  |  top 6 of 7 significant predictors of any 12-month pain (deliveries_num also sig., OR 1.05, p 0.045)</a:t>
            </a:r>
          </a:p>
        </p:txBody>
      </p:sp>
      <p:graphicFrame>
        <p:nvGraphicFramePr>
          <p:cNvPr id="9" name="Table 8"/>
          <p:cNvGraphicFramePr>
            <a:graphicFrameLocks noGrp="1"/>
          </p:cNvGraphicFramePr>
          <p:nvPr/>
        </p:nvGraphicFramePr>
        <p:xfrm>
          <a:off x="6400800" y="2148840"/>
          <a:ext cx="5303520" cy="1963783"/>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261257">
                <a:tc>
                  <a:txBody>
                    <a:bodyPr/>
                    <a:lstStyle/>
                    <a:p>
                      <a:pPr algn="l"/>
                      <a:r>
                        <a:rPr sz="1000" b="1" i="0">
                          <a:solidFill>
                            <a:srgbClr val="FFFFFF"/>
                          </a:solidFill>
                          <a:latin typeface="Calibri"/>
                        </a:rPr>
                        <a:t>Predictor</a:t>
                      </a:r>
                    </a:p>
                  </a:txBody>
                  <a:tcPr>
                    <a:solidFill>
                      <a:srgbClr val="0F1F3A"/>
                    </a:solidFill>
                  </a:tcPr>
                </a:tc>
                <a:tc>
                  <a:txBody>
                    <a:bodyPr/>
                    <a:lstStyle/>
                    <a:p>
                      <a:pPr algn="l"/>
                      <a:r>
                        <a:rPr sz="1000" b="1" i="0">
                          <a:solidFill>
                            <a:srgbClr val="FFFFFF"/>
                          </a:solidFill>
                          <a:latin typeface="Calibri"/>
                        </a:rPr>
                        <a:t>OR</a:t>
                      </a:r>
                    </a:p>
                  </a:txBody>
                  <a:tcPr>
                    <a:solidFill>
                      <a:srgbClr val="0F1F3A"/>
                    </a:solidFill>
                  </a:tcPr>
                </a:tc>
                <a:tc>
                  <a:txBody>
                    <a:bodyPr/>
                    <a:lstStyle/>
                    <a:p>
                      <a:pPr algn="l"/>
                      <a:r>
                        <a:rPr sz="1000" b="1" i="0">
                          <a:solidFill>
                            <a:srgbClr val="FFFFFF"/>
                          </a:solidFill>
                          <a:latin typeface="Calibri"/>
                        </a:rPr>
                        <a:t>95% CI</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extLst>
                  <a:ext uri="{0D108BD9-81ED-4DB2-BD59-A6C34878D82A}">
                    <a16:rowId xmlns:a16="http://schemas.microsoft.com/office/drawing/2014/main" val="10000"/>
                  </a:ext>
                </a:extLst>
              </a:tr>
              <a:tr h="261257">
                <a:tc>
                  <a:txBody>
                    <a:bodyPr/>
                    <a:lstStyle/>
                    <a:p>
                      <a:pPr algn="l"/>
                      <a:r>
                        <a:rPr sz="1000" b="0" i="0">
                          <a:solidFill>
                            <a:srgbClr val="1F2A40"/>
                          </a:solidFill>
                          <a:latin typeface="Calibri"/>
                        </a:rPr>
                        <a:t>Age (per band)</a:t>
                      </a:r>
                    </a:p>
                  </a:txBody>
                  <a:tcPr>
                    <a:solidFill>
                      <a:srgbClr val="FFFFFF"/>
                    </a:solidFill>
                  </a:tcPr>
                </a:tc>
                <a:tc>
                  <a:txBody>
                    <a:bodyPr/>
                    <a:lstStyle/>
                    <a:p>
                      <a:pPr algn="l"/>
                      <a:r>
                        <a:rPr sz="1000" b="0" i="0">
                          <a:solidFill>
                            <a:srgbClr val="1F2A40"/>
                          </a:solidFill>
                          <a:latin typeface="Calibri"/>
                        </a:rPr>
                        <a:t>3.58</a:t>
                      </a:r>
                    </a:p>
                  </a:txBody>
                  <a:tcPr>
                    <a:solidFill>
                      <a:srgbClr val="FFFFFF"/>
                    </a:solidFill>
                  </a:tcPr>
                </a:tc>
                <a:tc>
                  <a:txBody>
                    <a:bodyPr/>
                    <a:lstStyle/>
                    <a:p>
                      <a:pPr algn="l"/>
                      <a:r>
                        <a:rPr sz="1000" b="0" i="0">
                          <a:solidFill>
                            <a:srgbClr val="1F2A40"/>
                          </a:solidFill>
                          <a:latin typeface="Calibri"/>
                        </a:rPr>
                        <a:t>1.70 - 7.56</a:t>
                      </a:r>
                    </a:p>
                  </a:txBody>
                  <a:tcPr>
                    <a:solidFill>
                      <a:srgbClr val="FFFFFF"/>
                    </a:solidFill>
                  </a:tcPr>
                </a:tc>
                <a:tc>
                  <a:txBody>
                    <a:bodyPr/>
                    <a:lstStyle/>
                    <a:p>
                      <a:pPr algn="l"/>
                      <a:r>
                        <a:rPr sz="1000" b="0" i="0">
                          <a:solidFill>
                            <a:srgbClr val="1F2A40"/>
                          </a:solidFill>
                          <a:latin typeface="Calibri"/>
                        </a:rPr>
                        <a:t>0.0008</a:t>
                      </a:r>
                    </a:p>
                  </a:txBody>
                  <a:tcPr>
                    <a:solidFill>
                      <a:srgbClr val="FFFFFF"/>
                    </a:solidFill>
                  </a:tcPr>
                </a:tc>
                <a:extLst>
                  <a:ext uri="{0D108BD9-81ED-4DB2-BD59-A6C34878D82A}">
                    <a16:rowId xmlns:a16="http://schemas.microsoft.com/office/drawing/2014/main" val="10001"/>
                  </a:ext>
                </a:extLst>
              </a:tr>
              <a:tr h="261257">
                <a:tc>
                  <a:txBody>
                    <a:bodyPr/>
                    <a:lstStyle/>
                    <a:p>
                      <a:pPr algn="l"/>
                      <a:r>
                        <a:rPr sz="1000" b="0" i="0">
                          <a:solidFill>
                            <a:srgbClr val="1F2A40"/>
                          </a:solidFill>
                          <a:latin typeface="Calibri"/>
                        </a:rPr>
                        <a:t>Job duration (per band)</a:t>
                      </a:r>
                    </a:p>
                  </a:txBody>
                  <a:tcPr>
                    <a:solidFill>
                      <a:srgbClr val="F7F8FA"/>
                    </a:solidFill>
                  </a:tcPr>
                </a:tc>
                <a:tc>
                  <a:txBody>
                    <a:bodyPr/>
                    <a:lstStyle/>
                    <a:p>
                      <a:pPr algn="l"/>
                      <a:r>
                        <a:rPr sz="1000" b="0" i="0">
                          <a:solidFill>
                            <a:srgbClr val="1F2A40"/>
                          </a:solidFill>
                          <a:latin typeface="Calibri"/>
                        </a:rPr>
                        <a:t>2.89</a:t>
                      </a:r>
                    </a:p>
                  </a:txBody>
                  <a:tcPr>
                    <a:solidFill>
                      <a:srgbClr val="F7F8FA"/>
                    </a:solidFill>
                  </a:tcPr>
                </a:tc>
                <a:tc>
                  <a:txBody>
                    <a:bodyPr/>
                    <a:lstStyle/>
                    <a:p>
                      <a:pPr algn="l"/>
                      <a:r>
                        <a:rPr sz="1000" b="0" i="0">
                          <a:solidFill>
                            <a:srgbClr val="1F2A40"/>
                          </a:solidFill>
                          <a:latin typeface="Calibri"/>
                        </a:rPr>
                        <a:t>1.54 - 5.41</a:t>
                      </a:r>
                    </a:p>
                  </a:txBody>
                  <a:tcPr>
                    <a:solidFill>
                      <a:srgbClr val="F7F8FA"/>
                    </a:solidFill>
                  </a:tcPr>
                </a:tc>
                <a:tc>
                  <a:txBody>
                    <a:bodyPr/>
                    <a:lstStyle/>
                    <a:p>
                      <a:pPr algn="l"/>
                      <a:r>
                        <a:rPr sz="1000" b="0" i="0">
                          <a:solidFill>
                            <a:srgbClr val="1F2A40"/>
                          </a:solidFill>
                          <a:latin typeface="Calibri"/>
                        </a:rPr>
                        <a:t>0.001</a:t>
                      </a:r>
                    </a:p>
                  </a:txBody>
                  <a:tcPr>
                    <a:solidFill>
                      <a:srgbClr val="F7F8FA"/>
                    </a:solidFill>
                  </a:tcPr>
                </a:tc>
                <a:extLst>
                  <a:ext uri="{0D108BD9-81ED-4DB2-BD59-A6C34878D82A}">
                    <a16:rowId xmlns:a16="http://schemas.microsoft.com/office/drawing/2014/main" val="10002"/>
                  </a:ext>
                </a:extLst>
              </a:tr>
              <a:tr h="26125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1.43</a:t>
                      </a:r>
                    </a:p>
                  </a:txBody>
                  <a:tcPr>
                    <a:solidFill>
                      <a:srgbClr val="FFFFFF"/>
                    </a:solidFill>
                  </a:tcPr>
                </a:tc>
                <a:tc>
                  <a:txBody>
                    <a:bodyPr/>
                    <a:lstStyle/>
                    <a:p>
                      <a:pPr algn="l"/>
                      <a:r>
                        <a:rPr sz="1000" b="0" i="0">
                          <a:solidFill>
                            <a:srgbClr val="1F2A40"/>
                          </a:solidFill>
                          <a:latin typeface="Calibri"/>
                        </a:rPr>
                        <a:t>1.13 - 1.80</a:t>
                      </a:r>
                    </a:p>
                  </a:txBody>
                  <a:tcPr>
                    <a:solidFill>
                      <a:srgbClr val="FFFFFF"/>
                    </a:solidFill>
                  </a:tcPr>
                </a:tc>
                <a:tc>
                  <a:txBody>
                    <a:bodyPr/>
                    <a:lstStyle/>
                    <a:p>
                      <a:pPr algn="l"/>
                      <a:r>
                        <a:rPr sz="1000" b="0" i="0">
                          <a:solidFill>
                            <a:srgbClr val="1F2A40"/>
                          </a:solidFill>
                          <a:latin typeface="Calibri"/>
                        </a:rPr>
                        <a:t>0.003</a:t>
                      </a:r>
                    </a:p>
                  </a:txBody>
                  <a:tcPr>
                    <a:solidFill>
                      <a:srgbClr val="FFFFFF"/>
                    </a:solidFill>
                  </a:tcPr>
                </a:tc>
                <a:extLst>
                  <a:ext uri="{0D108BD9-81ED-4DB2-BD59-A6C34878D82A}">
                    <a16:rowId xmlns:a16="http://schemas.microsoft.com/office/drawing/2014/main" val="10003"/>
                  </a:ext>
                </a:extLst>
              </a:tr>
              <a:tr h="261257">
                <a:tc>
                  <a:txBody>
                    <a:bodyPr/>
                    <a:lstStyle/>
                    <a:p>
                      <a:pPr algn="l"/>
                      <a:r>
                        <a:rPr sz="1000" b="0" i="0">
                          <a:solidFill>
                            <a:srgbClr val="1F2A40"/>
                          </a:solidFill>
                          <a:latin typeface="Calibri"/>
                        </a:rPr>
                        <a:t>Income (per band)</a:t>
                      </a:r>
                    </a:p>
                  </a:txBody>
                  <a:tcPr>
                    <a:solidFill>
                      <a:srgbClr val="F7F8FA"/>
                    </a:solidFill>
                  </a:tcPr>
                </a:tc>
                <a:tc>
                  <a:txBody>
                    <a:bodyPr/>
                    <a:lstStyle/>
                    <a:p>
                      <a:pPr algn="l"/>
                      <a:r>
                        <a:rPr sz="1000" b="0" i="0">
                          <a:solidFill>
                            <a:srgbClr val="1F2A40"/>
                          </a:solidFill>
                          <a:latin typeface="Calibri"/>
                        </a:rPr>
                        <a:t>2.00</a:t>
                      </a:r>
                    </a:p>
                  </a:txBody>
                  <a:tcPr>
                    <a:solidFill>
                      <a:srgbClr val="F7F8FA"/>
                    </a:solidFill>
                  </a:tcPr>
                </a:tc>
                <a:tc>
                  <a:txBody>
                    <a:bodyPr/>
                    <a:lstStyle/>
                    <a:p>
                      <a:pPr algn="l"/>
                      <a:r>
                        <a:rPr sz="1000" b="0" i="0">
                          <a:solidFill>
                            <a:srgbClr val="1F2A40"/>
                          </a:solidFill>
                          <a:latin typeface="Calibri"/>
                        </a:rPr>
                        <a:t>1.25 - 3.20</a:t>
                      </a:r>
                    </a:p>
                  </a:txBody>
                  <a:tcPr>
                    <a:solidFill>
                      <a:srgbClr val="F7F8FA"/>
                    </a:solidFill>
                  </a:tcPr>
                </a:tc>
                <a:tc>
                  <a:txBody>
                    <a:bodyPr/>
                    <a:lstStyle/>
                    <a:p>
                      <a:pPr algn="l"/>
                      <a:r>
                        <a:rPr sz="1000" b="0" i="0">
                          <a:solidFill>
                            <a:srgbClr val="1F2A40"/>
                          </a:solidFill>
                          <a:latin typeface="Calibri"/>
                        </a:rPr>
                        <a:t>0.004</a:t>
                      </a:r>
                    </a:p>
                  </a:txBody>
                  <a:tcPr>
                    <a:solidFill>
                      <a:srgbClr val="F7F8FA"/>
                    </a:solidFill>
                  </a:tcPr>
                </a:tc>
                <a:extLst>
                  <a:ext uri="{0D108BD9-81ED-4DB2-BD59-A6C34878D82A}">
                    <a16:rowId xmlns:a16="http://schemas.microsoft.com/office/drawing/2014/main" val="10004"/>
                  </a:ext>
                </a:extLst>
              </a:tr>
              <a:tr h="26125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1.06</a:t>
                      </a:r>
                    </a:p>
                  </a:txBody>
                  <a:tcPr>
                    <a:solidFill>
                      <a:srgbClr val="FFFFFF"/>
                    </a:solidFill>
                  </a:tcPr>
                </a:tc>
                <a:tc>
                  <a:txBody>
                    <a:bodyPr/>
                    <a:lstStyle/>
                    <a:p>
                      <a:pPr algn="l"/>
                      <a:r>
                        <a:rPr sz="1000" b="0" i="0">
                          <a:solidFill>
                            <a:srgbClr val="1F2A40"/>
                          </a:solidFill>
                          <a:latin typeface="Calibri"/>
                        </a:rPr>
                        <a:t>1.02 - 1.09</a:t>
                      </a:r>
                    </a:p>
                  </a:txBody>
                  <a:tcPr>
                    <a:solidFill>
                      <a:srgbClr val="FFFFFF"/>
                    </a:solidFill>
                  </a:tcPr>
                </a:tc>
                <a:tc>
                  <a:txBody>
                    <a:bodyPr/>
                    <a:lstStyle/>
                    <a:p>
                      <a:pPr algn="l"/>
                      <a:r>
                        <a:rPr sz="1000" b="0" i="0">
                          <a:solidFill>
                            <a:srgbClr val="1F2A40"/>
                          </a:solidFill>
                          <a:latin typeface="Calibri"/>
                        </a:rPr>
                        <a:t>0.0005</a:t>
                      </a:r>
                    </a:p>
                  </a:txBody>
                  <a:tcPr>
                    <a:solidFill>
                      <a:srgbClr val="FFFFFF"/>
                    </a:solidFill>
                  </a:tcPr>
                </a:tc>
                <a:extLst>
                  <a:ext uri="{0D108BD9-81ED-4DB2-BD59-A6C34878D82A}">
                    <a16:rowId xmlns:a16="http://schemas.microsoft.com/office/drawing/2014/main" val="10005"/>
                  </a:ext>
                </a:extLst>
              </a:tr>
              <a:tr h="261258">
                <a:tc>
                  <a:txBody>
                    <a:bodyPr/>
                    <a:lstStyle/>
                    <a:p>
                      <a:pPr algn="l"/>
                      <a:r>
                        <a:rPr sz="1000" b="0" i="0">
                          <a:solidFill>
                            <a:srgbClr val="1F2A40"/>
                          </a:solidFill>
                          <a:latin typeface="Calibri"/>
                        </a:rPr>
                        <a:t>Education (per band)</a:t>
                      </a:r>
                    </a:p>
                  </a:txBody>
                  <a:tcPr>
                    <a:solidFill>
                      <a:srgbClr val="F7F8FA"/>
                    </a:solidFill>
                  </a:tcPr>
                </a:tc>
                <a:tc>
                  <a:txBody>
                    <a:bodyPr/>
                    <a:lstStyle/>
                    <a:p>
                      <a:pPr algn="l"/>
                      <a:r>
                        <a:rPr sz="1000" b="0" i="0">
                          <a:solidFill>
                            <a:srgbClr val="1F2A40"/>
                          </a:solidFill>
                          <a:latin typeface="Calibri"/>
                        </a:rPr>
                        <a:t>0.33</a:t>
                      </a:r>
                    </a:p>
                  </a:txBody>
                  <a:tcPr>
                    <a:solidFill>
                      <a:srgbClr val="F7F8FA"/>
                    </a:solidFill>
                  </a:tcPr>
                </a:tc>
                <a:tc>
                  <a:txBody>
                    <a:bodyPr/>
                    <a:lstStyle/>
                    <a:p>
                      <a:pPr algn="l"/>
                      <a:r>
                        <a:rPr sz="1000" b="0" i="0">
                          <a:solidFill>
                            <a:srgbClr val="1F2A40"/>
                          </a:solidFill>
                          <a:latin typeface="Calibri"/>
                        </a:rPr>
                        <a:t>0.12 - 0.94</a:t>
                      </a:r>
                    </a:p>
                  </a:txBody>
                  <a:tcPr>
                    <a:solidFill>
                      <a:srgbClr val="F7F8FA"/>
                    </a:solidFill>
                  </a:tcPr>
                </a:tc>
                <a:tc>
                  <a:txBody>
                    <a:bodyPr/>
                    <a:lstStyle/>
                    <a:p>
                      <a:pPr algn="l"/>
                      <a:r>
                        <a:rPr sz="1000" b="0" i="0">
                          <a:solidFill>
                            <a:srgbClr val="1F2A40"/>
                          </a:solidFill>
                          <a:latin typeface="Calibri"/>
                        </a:rPr>
                        <a:t>0.04</a:t>
                      </a:r>
                    </a:p>
                  </a:txBody>
                  <a:tcPr>
                    <a:solidFill>
                      <a:srgbClr val="F7F8FA"/>
                    </a:solidFill>
                  </a:tcPr>
                </a:tc>
                <a:extLst>
                  <a:ext uri="{0D108BD9-81ED-4DB2-BD59-A6C34878D82A}">
                    <a16:rowId xmlns:a16="http://schemas.microsoft.com/office/drawing/2014/main" val="10006"/>
                  </a:ext>
                </a:extLst>
              </a:tr>
            </a:tbl>
          </a:graphicData>
        </a:graphic>
      </p:graphicFrame>
      <p:sp>
        <p:nvSpPr>
          <p:cNvPr id="10" name="TextBox 9"/>
          <p:cNvSpPr txBox="1"/>
          <p:nvPr/>
        </p:nvSpPr>
        <p:spPr>
          <a:xfrm>
            <a:off x="640080" y="4160520"/>
            <a:ext cx="5394960" cy="320040"/>
          </a:xfrm>
          <a:prstGeom prst="rect">
            <a:avLst/>
          </a:prstGeom>
          <a:noFill/>
        </p:spPr>
        <p:txBody>
          <a:bodyPr wrap="square">
            <a:spAutoFit/>
          </a:bodyPr>
          <a:lstStyle/>
          <a:p>
            <a:pPr algn="l"/>
            <a:r>
              <a:rPr sz="1100" b="1" i="0">
                <a:solidFill>
                  <a:srgbClr val="0F1F3A"/>
                </a:solidFill>
                <a:latin typeface="Calibri"/>
              </a:rPr>
              <a:t>Chi-square  |  Stage-1 risk factor vs 12-month pain</a:t>
            </a:r>
          </a:p>
        </p:txBody>
      </p:sp>
      <p:graphicFrame>
        <p:nvGraphicFramePr>
          <p:cNvPr id="11" name="Table 10"/>
          <p:cNvGraphicFramePr>
            <a:graphicFrameLocks noGrp="1"/>
          </p:cNvGraphicFramePr>
          <p:nvPr/>
        </p:nvGraphicFramePr>
        <p:xfrm>
          <a:off x="640080" y="4572000"/>
          <a:ext cx="5394960" cy="17068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5537">
                <a:tc>
                  <a:txBody>
                    <a:bodyPr/>
                    <a:lstStyle/>
                    <a:p>
                      <a:pPr algn="l"/>
                      <a:r>
                        <a:rPr sz="1000" b="1" i="0">
                          <a:solidFill>
                            <a:srgbClr val="FFFFFF"/>
                          </a:solidFill>
                          <a:latin typeface="Calibri"/>
                        </a:rPr>
                        <a:t>Risk factor</a:t>
                      </a:r>
                    </a:p>
                  </a:txBody>
                  <a:tcPr>
                    <a:solidFill>
                      <a:srgbClr val="0F1F3A"/>
                    </a:solidFill>
                  </a:tcPr>
                </a:tc>
                <a:tc>
                  <a:txBody>
                    <a:bodyPr/>
                    <a:lstStyle/>
                    <a:p>
                      <a:pPr algn="l"/>
                      <a:r>
                        <a:rPr sz="1000" b="1" i="0">
                          <a:solidFill>
                            <a:srgbClr val="FFFFFF"/>
                          </a:solidFill>
                          <a:latin typeface="Calibri"/>
                        </a:rPr>
                        <a:t>chi2</a:t>
                      </a:r>
                    </a:p>
                  </a:txBody>
                  <a:tcPr>
                    <a:solidFill>
                      <a:srgbClr val="0F1F3A"/>
                    </a:solidFill>
                  </a:tcPr>
                </a:tc>
                <a:tc>
                  <a:txBody>
                    <a:bodyPr/>
                    <a:lstStyle/>
                    <a:p>
                      <a:pPr algn="l"/>
                      <a:r>
                        <a:rPr sz="1000" b="1" i="0">
                          <a:solidFill>
                            <a:srgbClr val="FFFFFF"/>
                          </a:solidFill>
                          <a:latin typeface="Calibri"/>
                        </a:rPr>
                        <a:t>df</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tc>
                  <a:txBody>
                    <a:bodyPr/>
                    <a:lstStyle/>
                    <a:p>
                      <a:pPr algn="l"/>
                      <a:r>
                        <a:rPr sz="1000" b="1" i="0">
                          <a:solidFill>
                            <a:srgbClr val="FFFFFF"/>
                          </a:solidFill>
                          <a:latin typeface="Calibri"/>
                        </a:rPr>
                        <a:t>Sig.</a:t>
                      </a:r>
                    </a:p>
                  </a:txBody>
                  <a:tcPr>
                    <a:solidFill>
                      <a:srgbClr val="0F1F3A"/>
                    </a:solidFill>
                  </a:tcPr>
                </a:tc>
                <a:extLst>
                  <a:ext uri="{0D108BD9-81ED-4DB2-BD59-A6C34878D82A}">
                    <a16:rowId xmlns:a16="http://schemas.microsoft.com/office/drawing/2014/main" val="10000"/>
                  </a:ext>
                </a:extLst>
              </a:tr>
              <a:tr h="215537">
                <a:tc>
                  <a:txBody>
                    <a:bodyPr/>
                    <a:lstStyle/>
                    <a:p>
                      <a:pPr algn="l"/>
                      <a:r>
                        <a:rPr sz="1000" b="0" i="0">
                          <a:solidFill>
                            <a:srgbClr val="1F2A40"/>
                          </a:solidFill>
                          <a:latin typeface="Calibri"/>
                        </a:rPr>
                        <a:t>Posture</a:t>
                      </a:r>
                    </a:p>
                  </a:txBody>
                  <a:tcPr>
                    <a:solidFill>
                      <a:srgbClr val="FFFFFF"/>
                    </a:solidFill>
                  </a:tcPr>
                </a:tc>
                <a:tc>
                  <a:txBody>
                    <a:bodyPr/>
                    <a:lstStyle/>
                    <a:p>
                      <a:pPr algn="l"/>
                      <a:r>
                        <a:rPr sz="1000" b="0" i="0">
                          <a:solidFill>
                            <a:srgbClr val="1F2A40"/>
                          </a:solidFill>
                          <a:latin typeface="Calibri"/>
                        </a:rPr>
                        <a:t>45.67</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&lt; 0.001</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extLst>
                  <a:ext uri="{0D108BD9-81ED-4DB2-BD59-A6C34878D82A}">
                    <a16:rowId xmlns:a16="http://schemas.microsoft.com/office/drawing/2014/main" val="10001"/>
                  </a:ext>
                </a:extLst>
              </a:tr>
              <a:tr h="215537">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8.62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0.014</a:t>
                      </a:r>
                    </a:p>
                  </a:txBody>
                  <a:tcPr>
                    <a:solidFill>
                      <a:srgbClr val="F7F8FA"/>
                    </a:solidFill>
                  </a:tcPr>
                </a:tc>
                <a:tc>
                  <a:txBody>
                    <a:bodyPr/>
                    <a:lstStyle/>
                    <a:p>
                      <a:pPr algn="l"/>
                      <a:r>
                        <a:rPr sz="1000" b="0" i="0">
                          <a:solidFill>
                            <a:srgbClr val="1F2A40"/>
                          </a:solidFill>
                          <a:latin typeface="Calibri"/>
                        </a:rPr>
                        <a:t>yes</a:t>
                      </a:r>
                    </a:p>
                  </a:txBody>
                  <a:tcPr>
                    <a:solidFill>
                      <a:srgbClr val="F7F8FA"/>
                    </a:solidFill>
                  </a:tcPr>
                </a:tc>
                <a:extLst>
                  <a:ext uri="{0D108BD9-81ED-4DB2-BD59-A6C34878D82A}">
                    <a16:rowId xmlns:a16="http://schemas.microsoft.com/office/drawing/2014/main" val="10002"/>
                  </a:ext>
                </a:extLst>
              </a:tr>
              <a:tr h="215537">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6.72</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0.035</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extLst>
                  <a:ext uri="{0D108BD9-81ED-4DB2-BD59-A6C34878D82A}">
                    <a16:rowId xmlns:a16="http://schemas.microsoft.com/office/drawing/2014/main" val="10003"/>
                  </a:ext>
                </a:extLst>
              </a:tr>
              <a:tr h="215537">
                <a:tc>
                  <a:txBody>
                    <a:bodyPr/>
                    <a:lstStyle/>
                    <a:p>
                      <a:pPr algn="l"/>
                      <a:r>
                        <a:rPr sz="1000" b="0" i="0">
                          <a:solidFill>
                            <a:srgbClr val="1F2A40"/>
                          </a:solidFill>
                          <a:latin typeface="Calibri"/>
                        </a:rPr>
                        <a:t>Duration</a:t>
                      </a:r>
                    </a:p>
                  </a:txBody>
                  <a:tcPr>
                    <a:solidFill>
                      <a:srgbClr val="F7F8FA"/>
                    </a:solidFill>
                  </a:tcPr>
                </a:tc>
                <a:tc>
                  <a:txBody>
                    <a:bodyPr/>
                    <a:lstStyle/>
                    <a:p>
                      <a:pPr algn="l"/>
                      <a:r>
                        <a:rPr sz="1000" b="0" i="0">
                          <a:solidFill>
                            <a:srgbClr val="1F2A40"/>
                          </a:solidFill>
                          <a:latin typeface="Calibri"/>
                        </a:rPr>
                        <a:t>0.62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0.733</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extLst>
                  <a:ext uri="{0D108BD9-81ED-4DB2-BD59-A6C34878D82A}">
                    <a16:rowId xmlns:a16="http://schemas.microsoft.com/office/drawing/2014/main" val="10004"/>
                  </a:ext>
                </a:extLst>
              </a:tr>
              <a:tr h="215537">
                <a:tc>
                  <a:txBody>
                    <a:bodyPr/>
                    <a:lstStyle/>
                    <a:p>
                      <a:pPr algn="l"/>
                      <a:r>
                        <a:rPr sz="1000" b="0" i="0">
                          <a:solidFill>
                            <a:srgbClr val="1F2A40"/>
                          </a:solidFill>
                          <a:latin typeface="Calibri"/>
                        </a:rPr>
                        <a:t>Vibration</a:t>
                      </a:r>
                    </a:p>
                  </a:txBody>
                  <a:tcPr>
                    <a:solidFill>
                      <a:srgbClr val="FFFFFF"/>
                    </a:solidFill>
                  </a:tcPr>
                </a:tc>
                <a:tc>
                  <a:txBody>
                    <a:bodyPr/>
                    <a:lstStyle/>
                    <a:p>
                      <a:pPr algn="l"/>
                      <a:r>
                        <a:rPr sz="1000" b="0" i="0">
                          <a:solidFill>
                            <a:srgbClr val="1F2A40"/>
                          </a:solidFill>
                          <a:latin typeface="Calibri"/>
                        </a:rPr>
                        <a:t>0.60</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0.741</a:t>
                      </a:r>
                    </a:p>
                  </a:txBody>
                  <a:tcPr>
                    <a:solidFill>
                      <a:srgbClr val="FFFFFF"/>
                    </a:solidFill>
                  </a:tcPr>
                </a:tc>
                <a:tc>
                  <a:txBody>
                    <a:bodyPr/>
                    <a:lstStyle/>
                    <a:p>
                      <a:pPr algn="l"/>
                      <a:r>
                        <a:rPr sz="1000" b="0" i="0">
                          <a:solidFill>
                            <a:srgbClr val="1F2A40"/>
                          </a:solidFill>
                          <a:latin typeface="Calibri"/>
                        </a:rPr>
                        <a:t>-</a:t>
                      </a:r>
                    </a:p>
                  </a:txBody>
                  <a:tcPr>
                    <a:solidFill>
                      <a:srgbClr val="FFFFFF"/>
                    </a:solidFill>
                  </a:tcPr>
                </a:tc>
                <a:extLst>
                  <a:ext uri="{0D108BD9-81ED-4DB2-BD59-A6C34878D82A}">
                    <a16:rowId xmlns:a16="http://schemas.microsoft.com/office/drawing/2014/main" val="10005"/>
                  </a:ext>
                </a:extLst>
              </a:tr>
              <a:tr h="215538">
                <a:tc>
                  <a:txBody>
                    <a:bodyPr/>
                    <a:lstStyle/>
                    <a:p>
                      <a:pPr algn="l"/>
                      <a:r>
                        <a:rPr sz="1000" b="0" i="0">
                          <a:solidFill>
                            <a:srgbClr val="1F2A40"/>
                          </a:solidFill>
                          <a:latin typeface="Calibri"/>
                        </a:rPr>
                        <a:t>Contact stress</a:t>
                      </a:r>
                    </a:p>
                  </a:txBody>
                  <a:tcPr>
                    <a:solidFill>
                      <a:srgbClr val="F7F8FA"/>
                    </a:solidFill>
                  </a:tcPr>
                </a:tc>
                <a:tc>
                  <a:txBody>
                    <a:bodyPr/>
                    <a:lstStyle/>
                    <a:p>
                      <a:pPr algn="l"/>
                      <a:r>
                        <a:rPr sz="1000" b="0" i="0">
                          <a:solidFill>
                            <a:srgbClr val="1F2A40"/>
                          </a:solidFill>
                          <a:latin typeface="Calibri"/>
                        </a:rPr>
                        <a:t>0.54</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0.762</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extLst>
                  <a:ext uri="{0D108BD9-81ED-4DB2-BD59-A6C34878D82A}">
                    <a16:rowId xmlns:a16="http://schemas.microsoft.com/office/drawing/2014/main" val="10006"/>
                  </a:ext>
                </a:extLst>
              </a:tr>
            </a:tbl>
          </a:graphicData>
        </a:graphic>
      </p:graphicFrame>
      <p:sp>
        <p:nvSpPr>
          <p:cNvPr id="12" name="TextBox 11"/>
          <p:cNvSpPr txBox="1"/>
          <p:nvPr/>
        </p:nvSpPr>
        <p:spPr>
          <a:xfrm>
            <a:off x="6400800" y="4160520"/>
            <a:ext cx="5303520" cy="320040"/>
          </a:xfrm>
          <a:prstGeom prst="rect">
            <a:avLst/>
          </a:prstGeom>
          <a:noFill/>
        </p:spPr>
        <p:txBody>
          <a:bodyPr wrap="square">
            <a:spAutoFit/>
          </a:bodyPr>
          <a:lstStyle/>
          <a:p>
            <a:pPr algn="l"/>
            <a:r>
              <a:rPr sz="1100" b="1" i="0">
                <a:solidFill>
                  <a:srgbClr val="0F1F3A"/>
                </a:solidFill>
                <a:latin typeface="Calibri"/>
              </a:rPr>
              <a:t>Mann-Whitney U  |  predictors of 12-month pain</a:t>
            </a:r>
          </a:p>
        </p:txBody>
      </p:sp>
      <p:graphicFrame>
        <p:nvGraphicFramePr>
          <p:cNvPr id="13" name="Table 12"/>
          <p:cNvGraphicFramePr>
            <a:graphicFrameLocks noGrp="1"/>
          </p:cNvGraphicFramePr>
          <p:nvPr/>
        </p:nvGraphicFramePr>
        <p:xfrm>
          <a:off x="6400800" y="4572000"/>
          <a:ext cx="5303520" cy="170688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5537">
                <a:tc>
                  <a:txBody>
                    <a:bodyPr/>
                    <a:lstStyle/>
                    <a:p>
                      <a:pPr algn="l"/>
                      <a:r>
                        <a:rPr sz="1000" b="1" i="0">
                          <a:solidFill>
                            <a:srgbClr val="FFFFFF"/>
                          </a:solidFill>
                          <a:latin typeface="Calibri"/>
                        </a:rPr>
                        <a:t>Feature</a:t>
                      </a:r>
                    </a:p>
                  </a:txBody>
                  <a:tcPr>
                    <a:solidFill>
                      <a:srgbClr val="0F1F3A"/>
                    </a:solidFill>
                  </a:tcPr>
                </a:tc>
                <a:tc>
                  <a:txBody>
                    <a:bodyPr/>
                    <a:lstStyle/>
                    <a:p>
                      <a:pPr algn="l"/>
                      <a:r>
                        <a:rPr sz="1000" b="1" i="0">
                          <a:solidFill>
                            <a:srgbClr val="FFFFFF"/>
                          </a:solidFill>
                          <a:latin typeface="Calibri"/>
                        </a:rPr>
                        <a:t>no pain</a:t>
                      </a:r>
                    </a:p>
                  </a:txBody>
                  <a:tcPr>
                    <a:solidFill>
                      <a:srgbClr val="0F1F3A"/>
                    </a:solidFill>
                  </a:tcPr>
                </a:tc>
                <a:tc>
                  <a:txBody>
                    <a:bodyPr/>
                    <a:lstStyle/>
                    <a:p>
                      <a:pPr algn="l"/>
                      <a:r>
                        <a:rPr sz="1000" b="1" i="0">
                          <a:solidFill>
                            <a:srgbClr val="FFFFFF"/>
                          </a:solidFill>
                          <a:latin typeface="Calibri"/>
                        </a:rPr>
                        <a:t>pain</a:t>
                      </a:r>
                    </a:p>
                  </a:txBody>
                  <a:tcPr>
                    <a:solidFill>
                      <a:srgbClr val="0F1F3A"/>
                    </a:solidFill>
                  </a:tcPr>
                </a:tc>
                <a:tc>
                  <a:txBody>
                    <a:bodyPr/>
                    <a:lstStyle/>
                    <a:p>
                      <a:pPr algn="l"/>
                      <a:r>
                        <a:rPr sz="1000" b="1" i="0">
                          <a:solidFill>
                            <a:srgbClr val="FFFFFF"/>
                          </a:solidFill>
                          <a:latin typeface="Calibri"/>
                        </a:rPr>
                        <a:t>U</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extLst>
                  <a:ext uri="{0D108BD9-81ED-4DB2-BD59-A6C34878D82A}">
                    <a16:rowId xmlns:a16="http://schemas.microsoft.com/office/drawing/2014/main" val="10000"/>
                  </a:ext>
                </a:extLst>
              </a:tr>
              <a:tr h="215537">
                <a:tc>
                  <a:txBody>
                    <a:bodyPr/>
                    <a:lstStyle/>
                    <a:p>
                      <a:pPr algn="l"/>
                      <a:r>
                        <a:rPr sz="1000" b="0" i="0">
                          <a:solidFill>
                            <a:srgbClr val="1F2A40"/>
                          </a:solidFill>
                          <a:latin typeface="Calibri"/>
                        </a:rPr>
                        <a:t>Age (band)</a:t>
                      </a:r>
                    </a:p>
                  </a:txBody>
                  <a:tcPr>
                    <a:solidFill>
                      <a:srgbClr val="FFFFFF"/>
                    </a:solidFill>
                  </a:tcPr>
                </a:tc>
                <a:tc>
                  <a:txBody>
                    <a:bodyPr/>
                    <a:lstStyle/>
                    <a:p>
                      <a:pPr algn="l"/>
                      <a:r>
                        <a:rPr sz="1000" b="0" i="0">
                          <a:solidFill>
                            <a:srgbClr val="1F2A40"/>
                          </a:solidFill>
                          <a:latin typeface="Calibri"/>
                        </a:rPr>
                        <a:t>0</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1228</a:t>
                      </a:r>
                    </a:p>
                  </a:txBody>
                  <a:tcPr>
                    <a:solidFill>
                      <a:srgbClr val="FFFFFF"/>
                    </a:solidFill>
                  </a:tcPr>
                </a:tc>
                <a:tc>
                  <a:txBody>
                    <a:bodyPr/>
                    <a:lstStyle/>
                    <a:p>
                      <a:pPr algn="l"/>
                      <a:r>
                        <a:rPr sz="1000" b="0" i="0">
                          <a:solidFill>
                            <a:srgbClr val="1F2A40"/>
                          </a:solidFill>
                          <a:latin typeface="Calibri"/>
                        </a:rPr>
                        <a:t>0.0001</a:t>
                      </a:r>
                    </a:p>
                  </a:txBody>
                  <a:tcPr>
                    <a:solidFill>
                      <a:srgbClr val="FFFFFF"/>
                    </a:solidFill>
                  </a:tcPr>
                </a:tc>
                <a:extLst>
                  <a:ext uri="{0D108BD9-81ED-4DB2-BD59-A6C34878D82A}">
                    <a16:rowId xmlns:a16="http://schemas.microsoft.com/office/drawing/2014/main" val="10001"/>
                  </a:ext>
                </a:extLst>
              </a:tr>
              <a:tr h="215537">
                <a:tc>
                  <a:txBody>
                    <a:bodyPr/>
                    <a:lstStyle/>
                    <a:p>
                      <a:pPr algn="l"/>
                      <a:r>
                        <a:rPr sz="1000" b="0" i="0">
                          <a:solidFill>
                            <a:srgbClr val="1F2A40"/>
                          </a:solidFill>
                          <a:latin typeface="Calibri"/>
                        </a:rPr>
                        <a:t>Tenure (band)</a:t>
                      </a:r>
                    </a:p>
                  </a:txBody>
                  <a:tcPr>
                    <a:solidFill>
                      <a:srgbClr val="F7F8FA"/>
                    </a:solidFill>
                  </a:tcPr>
                </a:tc>
                <a:tc>
                  <a:txBody>
                    <a:bodyPr/>
                    <a:lstStyle/>
                    <a:p>
                      <a:pPr algn="l"/>
                      <a:r>
                        <a:rPr sz="1000" b="0" i="0">
                          <a:solidFill>
                            <a:srgbClr val="1F2A40"/>
                          </a:solidFill>
                          <a:latin typeface="Calibri"/>
                        </a:rPr>
                        <a:t>0</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1262</a:t>
                      </a:r>
                    </a:p>
                  </a:txBody>
                  <a:tcPr>
                    <a:solidFill>
                      <a:srgbClr val="F7F8FA"/>
                    </a:solidFill>
                  </a:tcPr>
                </a:tc>
                <a:tc>
                  <a:txBody>
                    <a:bodyPr/>
                    <a:lstStyle/>
                    <a:p>
                      <a:pPr algn="l"/>
                      <a:r>
                        <a:rPr sz="1000" b="0" i="0">
                          <a:solidFill>
                            <a:srgbClr val="1F2A40"/>
                          </a:solidFill>
                          <a:latin typeface="Calibri"/>
                        </a:rPr>
                        <a:t>0.0002</a:t>
                      </a:r>
                    </a:p>
                  </a:txBody>
                  <a:tcPr>
                    <a:solidFill>
                      <a:srgbClr val="F7F8FA"/>
                    </a:solidFill>
                  </a:tcPr>
                </a:tc>
                <a:extLst>
                  <a:ext uri="{0D108BD9-81ED-4DB2-BD59-A6C34878D82A}">
                    <a16:rowId xmlns:a16="http://schemas.microsoft.com/office/drawing/2014/main" val="10002"/>
                  </a:ext>
                </a:extLst>
              </a:tr>
              <a:tr h="21553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tc>
                  <a:txBody>
                    <a:bodyPr/>
                    <a:lstStyle/>
                    <a:p>
                      <a:pPr algn="l"/>
                      <a:r>
                        <a:rPr sz="1000" b="0" i="0">
                          <a:solidFill>
                            <a:srgbClr val="1F2A40"/>
                          </a:solidFill>
                          <a:latin typeface="Calibri"/>
                        </a:rPr>
                        <a:t>50</a:t>
                      </a:r>
                    </a:p>
                  </a:txBody>
                  <a:tcPr>
                    <a:solidFill>
                      <a:srgbClr val="FFFFFF"/>
                    </a:solidFill>
                  </a:tcPr>
                </a:tc>
                <a:tc>
                  <a:txBody>
                    <a:bodyPr/>
                    <a:lstStyle/>
                    <a:p>
                      <a:pPr algn="l"/>
                      <a:r>
                        <a:rPr sz="1000" b="0" i="0">
                          <a:solidFill>
                            <a:srgbClr val="1F2A40"/>
                          </a:solidFill>
                          <a:latin typeface="Calibri"/>
                        </a:rPr>
                        <a:t>1291</a:t>
                      </a:r>
                    </a:p>
                  </a:txBody>
                  <a:tcPr>
                    <a:solidFill>
                      <a:srgbClr val="FFFFFF"/>
                    </a:solidFill>
                  </a:tcPr>
                </a:tc>
                <a:tc>
                  <a:txBody>
                    <a:bodyPr/>
                    <a:lstStyle/>
                    <a:p>
                      <a:pPr algn="l"/>
                      <a:r>
                        <a:rPr sz="1000" b="0" i="0">
                          <a:solidFill>
                            <a:srgbClr val="1F2A40"/>
                          </a:solidFill>
                          <a:latin typeface="Calibri"/>
                        </a:rPr>
                        <a:t>0.0007</a:t>
                      </a:r>
                    </a:p>
                  </a:txBody>
                  <a:tcPr>
                    <a:solidFill>
                      <a:srgbClr val="FFFFFF"/>
                    </a:solidFill>
                  </a:tcPr>
                </a:tc>
                <a:extLst>
                  <a:ext uri="{0D108BD9-81ED-4DB2-BD59-A6C34878D82A}">
                    <a16:rowId xmlns:a16="http://schemas.microsoft.com/office/drawing/2014/main" val="10003"/>
                  </a:ext>
                </a:extLst>
              </a:tr>
              <a:tr h="215537">
                <a:tc>
                  <a:txBody>
                    <a:bodyPr/>
                    <a:lstStyle/>
                    <a:p>
                      <a:pPr algn="l"/>
                      <a:r>
                        <a:rPr sz="1000" b="0" i="0">
                          <a:solidFill>
                            <a:srgbClr val="1F2A40"/>
                          </a:solidFill>
                          <a:latin typeface="Calibri"/>
                        </a:rPr>
                        <a:t>Income (band)</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1411</a:t>
                      </a:r>
                    </a:p>
                  </a:txBody>
                  <a:tcPr>
                    <a:solidFill>
                      <a:srgbClr val="F7F8FA"/>
                    </a:solidFill>
                  </a:tcPr>
                </a:tc>
                <a:tc>
                  <a:txBody>
                    <a:bodyPr/>
                    <a:lstStyle/>
                    <a:p>
                      <a:pPr algn="l"/>
                      <a:r>
                        <a:rPr sz="1000" b="0" i="0">
                          <a:solidFill>
                            <a:srgbClr val="1F2A40"/>
                          </a:solidFill>
                          <a:latin typeface="Calibri"/>
                        </a:rPr>
                        <a:t>0.0023</a:t>
                      </a:r>
                    </a:p>
                  </a:txBody>
                  <a:tcPr>
                    <a:solidFill>
                      <a:srgbClr val="F7F8FA"/>
                    </a:solidFill>
                  </a:tcPr>
                </a:tc>
                <a:extLst>
                  <a:ext uri="{0D108BD9-81ED-4DB2-BD59-A6C34878D82A}">
                    <a16:rowId xmlns:a16="http://schemas.microsoft.com/office/drawing/2014/main" val="10004"/>
                  </a:ext>
                </a:extLst>
              </a:tr>
              <a:tr h="21553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3.8</a:t>
                      </a:r>
                    </a:p>
                  </a:txBody>
                  <a:tcPr>
                    <a:solidFill>
                      <a:srgbClr val="FFFFFF"/>
                    </a:solidFill>
                  </a:tcPr>
                </a:tc>
                <a:tc>
                  <a:txBody>
                    <a:bodyPr/>
                    <a:lstStyle/>
                    <a:p>
                      <a:pPr algn="l"/>
                      <a:r>
                        <a:rPr sz="1000" b="0" i="0">
                          <a:solidFill>
                            <a:srgbClr val="1F2A40"/>
                          </a:solidFill>
                          <a:latin typeface="Calibri"/>
                        </a:rPr>
                        <a:t>4.6</a:t>
                      </a:r>
                    </a:p>
                  </a:txBody>
                  <a:tcPr>
                    <a:solidFill>
                      <a:srgbClr val="FFFFFF"/>
                    </a:solidFill>
                  </a:tcPr>
                </a:tc>
                <a:tc>
                  <a:txBody>
                    <a:bodyPr/>
                    <a:lstStyle/>
                    <a:p>
                      <a:pPr algn="l"/>
                      <a:r>
                        <a:rPr sz="1000" b="0" i="0">
                          <a:solidFill>
                            <a:srgbClr val="1F2A40"/>
                          </a:solidFill>
                          <a:latin typeface="Calibri"/>
                        </a:rPr>
                        <a:t>1474</a:t>
                      </a:r>
                    </a:p>
                  </a:txBody>
                  <a:tcPr>
                    <a:solidFill>
                      <a:srgbClr val="FFFFFF"/>
                    </a:solidFill>
                  </a:tcPr>
                </a:tc>
                <a:tc>
                  <a:txBody>
                    <a:bodyPr/>
                    <a:lstStyle/>
                    <a:p>
                      <a:pPr algn="l"/>
                      <a:r>
                        <a:rPr sz="1000" b="0" i="0">
                          <a:solidFill>
                            <a:srgbClr val="1F2A40"/>
                          </a:solidFill>
                          <a:latin typeface="Calibri"/>
                        </a:rPr>
                        <a:t>0.0078</a:t>
                      </a:r>
                    </a:p>
                  </a:txBody>
                  <a:tcPr>
                    <a:solidFill>
                      <a:srgbClr val="FFFFFF"/>
                    </a:solidFill>
                  </a:tcPr>
                </a:tc>
                <a:extLst>
                  <a:ext uri="{0D108BD9-81ED-4DB2-BD59-A6C34878D82A}">
                    <a16:rowId xmlns:a16="http://schemas.microsoft.com/office/drawing/2014/main" val="10005"/>
                  </a:ext>
                </a:extLst>
              </a:tr>
              <a:tr h="215538">
                <a:tc>
                  <a:txBody>
                    <a:bodyPr/>
                    <a:lstStyle/>
                    <a:p>
                      <a:pPr algn="l"/>
                      <a:r>
                        <a:rPr sz="1000" b="0" i="0">
                          <a:solidFill>
                            <a:srgbClr val="1F2A40"/>
                          </a:solidFill>
                          <a:latin typeface="Calibri"/>
                        </a:rPr>
                        <a:t>Force (Borg)</a:t>
                      </a:r>
                    </a:p>
                  </a:txBody>
                  <a:tcPr>
                    <a:solidFill>
                      <a:srgbClr val="F7F8FA"/>
                    </a:solidFill>
                  </a:tcPr>
                </a:tc>
                <a:tc>
                  <a:txBody>
                    <a:bodyPr/>
                    <a:lstStyle/>
                    <a:p>
                      <a:pPr algn="l"/>
                      <a:r>
                        <a:rPr sz="1000" b="0" i="0">
                          <a:solidFill>
                            <a:srgbClr val="1F2A40"/>
                          </a:solidFill>
                          <a:latin typeface="Calibri"/>
                        </a:rPr>
                        <a:t>3</a:t>
                      </a:r>
                    </a:p>
                  </a:txBody>
                  <a:tcPr>
                    <a:solidFill>
                      <a:srgbClr val="F7F8FA"/>
                    </a:solidFill>
                  </a:tcPr>
                </a:tc>
                <a:tc>
                  <a:txBody>
                    <a:bodyPr/>
                    <a:lstStyle/>
                    <a:p>
                      <a:pPr algn="l"/>
                      <a:r>
                        <a:rPr sz="1000" b="0" i="0">
                          <a:solidFill>
                            <a:srgbClr val="1F2A40"/>
                          </a:solidFill>
                          <a:latin typeface="Calibri"/>
                        </a:rPr>
                        <a:t>4</a:t>
                      </a:r>
                    </a:p>
                  </a:txBody>
                  <a:tcPr>
                    <a:solidFill>
                      <a:srgbClr val="F7F8FA"/>
                    </a:solidFill>
                  </a:tcPr>
                </a:tc>
                <a:tc>
                  <a:txBody>
                    <a:bodyPr/>
                    <a:lstStyle/>
                    <a:p>
                      <a:pPr algn="l"/>
                      <a:r>
                        <a:rPr sz="1000" b="0" i="0">
                          <a:solidFill>
                            <a:srgbClr val="1F2A40"/>
                          </a:solidFill>
                          <a:latin typeface="Calibri"/>
                        </a:rPr>
                        <a:t>1585</a:t>
                      </a:r>
                    </a:p>
                  </a:txBody>
                  <a:tcPr>
                    <a:solidFill>
                      <a:srgbClr val="F7F8FA"/>
                    </a:solidFill>
                  </a:tcPr>
                </a:tc>
                <a:tc>
                  <a:txBody>
                    <a:bodyPr/>
                    <a:lstStyle/>
                    <a:p>
                      <a:pPr algn="l"/>
                      <a:r>
                        <a:rPr sz="1000" b="0" i="0">
                          <a:solidFill>
                            <a:srgbClr val="1F2A40"/>
                          </a:solidFill>
                          <a:latin typeface="Calibri"/>
                        </a:rPr>
                        <a:t>0.025</a:t>
                      </a:r>
                    </a:p>
                  </a:txBody>
                  <a:tcPr>
                    <a:solidFill>
                      <a:srgbClr val="F7F8FA"/>
                    </a:solidFill>
                  </a:tcPr>
                </a:tc>
                <a:extLst>
                  <a:ext uri="{0D108BD9-81ED-4DB2-BD59-A6C34878D82A}">
                    <a16:rowId xmlns:a16="http://schemas.microsoft.com/office/drawing/2014/main" val="10006"/>
                  </a:ext>
                </a:extLst>
              </a:tr>
            </a:tbl>
          </a:graphicData>
        </a:graphic>
      </p:graphicFrame>
      <p:sp>
        <p:nvSpPr>
          <p:cNvPr id="14" name="TextBox 13"/>
          <p:cNvSpPr txBox="1"/>
          <p:nvPr/>
        </p:nvSpPr>
        <p:spPr>
          <a:xfrm>
            <a:off x="640080" y="6172200"/>
            <a:ext cx="11064240" cy="228600"/>
          </a:xfrm>
          <a:prstGeom prst="rect">
            <a:avLst/>
          </a:prstGeom>
          <a:noFill/>
        </p:spPr>
        <p:txBody>
          <a:bodyPr wrap="square">
            <a:spAutoFit/>
          </a:bodyPr>
          <a:lstStyle/>
          <a:p>
            <a:pPr algn="l"/>
            <a:r>
              <a:rPr sz="1000" b="0" i="1">
                <a:solidFill>
                  <a:srgbClr val="6B7282"/>
                </a:solidFill>
                <a:latin typeface="Calibri"/>
              </a:rPr>
              <a:t>Posture, Repetition, and Force reach chi-square significance; age (OR 3.58) and job duration (OR 2.89) are the strongest individual predictors, alongside income, workload, and fatigue.</a:t>
            </a:r>
          </a:p>
        </p:txBody>
      </p:sp>
      <p:sp>
        <p:nvSpPr>
          <p:cNvPr id="15" name="TextBox 14"/>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7/10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07  MODEL PERFORMANCE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Best Model per Factor</a:t>
            </a:r>
          </a:p>
        </p:txBody>
      </p:sp>
      <p:graphicFrame>
        <p:nvGraphicFramePr>
          <p:cNvPr id="6" name="Table 5"/>
          <p:cNvGraphicFramePr>
            <a:graphicFrameLocks noGrp="1"/>
          </p:cNvGraphicFramePr>
          <p:nvPr/>
        </p:nvGraphicFramePr>
        <p:xfrm>
          <a:off x="640080" y="1737360"/>
          <a:ext cx="10789920" cy="3108960"/>
        </p:xfrm>
        <a:graphic>
          <a:graphicData uri="http://schemas.openxmlformats.org/drawingml/2006/table">
            <a:tbl>
              <a:tblPr firstRow="1" bandRow="1">
                <a:tableStyleId>{5C22544A-7EE6-4342-B048-85BDC9FD1C3A}</a:tableStyleId>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gridCol w="1798320">
                  <a:extLst>
                    <a:ext uri="{9D8B030D-6E8A-4147-A177-3AD203B41FA5}">
                      <a16:colId xmlns:a16="http://schemas.microsoft.com/office/drawing/2014/main" val="20003"/>
                    </a:ext>
                  </a:extLst>
                </a:gridCol>
                <a:gridCol w="1798320">
                  <a:extLst>
                    <a:ext uri="{9D8B030D-6E8A-4147-A177-3AD203B41FA5}">
                      <a16:colId xmlns:a16="http://schemas.microsoft.com/office/drawing/2014/main" val="20004"/>
                    </a:ext>
                  </a:extLst>
                </a:gridCol>
                <a:gridCol w="1798320">
                  <a:extLst>
                    <a:ext uri="{9D8B030D-6E8A-4147-A177-3AD203B41FA5}">
                      <a16:colId xmlns:a16="http://schemas.microsoft.com/office/drawing/2014/main" val="20005"/>
                    </a:ext>
                  </a:extLst>
                </a:gridCol>
              </a:tblGrid>
              <a:tr h="444137">
                <a:tc>
                  <a:txBody>
                    <a:bodyPr/>
                    <a:lstStyle/>
                    <a:p>
                      <a:pPr algn="l"/>
                      <a:r>
                        <a:rPr sz="1300" b="1" i="0">
                          <a:solidFill>
                            <a:srgbClr val="FFFFFF"/>
                          </a:solidFill>
                          <a:latin typeface="Calibri"/>
                        </a:rPr>
                        <a:t>Factor</a:t>
                      </a:r>
                    </a:p>
                  </a:txBody>
                  <a:tcPr>
                    <a:solidFill>
                      <a:srgbClr val="0F1F3A"/>
                    </a:solidFill>
                  </a:tcPr>
                </a:tc>
                <a:tc>
                  <a:txBody>
                    <a:bodyPr/>
                    <a:lstStyle/>
                    <a:p>
                      <a:pPr algn="l"/>
                      <a:r>
                        <a:rPr sz="1300" b="1" i="0">
                          <a:solidFill>
                            <a:srgbClr val="FFFFFF"/>
                          </a:solidFill>
                          <a:latin typeface="Calibri"/>
                        </a:rPr>
                        <a:t>Best model</a:t>
                      </a:r>
                    </a:p>
                  </a:txBody>
                  <a:tcPr>
                    <a:solidFill>
                      <a:srgbClr val="0F1F3A"/>
                    </a:solidFill>
                  </a:tcPr>
                </a:tc>
                <a:tc>
                  <a:txBody>
                    <a:bodyPr/>
                    <a:lstStyle/>
                    <a:p>
                      <a:pPr algn="l"/>
                      <a:r>
                        <a:rPr sz="1300" b="1" i="0">
                          <a:solidFill>
                            <a:srgbClr val="FFFFFF"/>
                          </a:solidFill>
                          <a:latin typeface="Calibri"/>
                        </a:rPr>
                        <a:t>Acc.</a:t>
                      </a:r>
                    </a:p>
                  </a:txBody>
                  <a:tcPr>
                    <a:solidFill>
                      <a:srgbClr val="0F1F3A"/>
                    </a:solidFill>
                  </a:tcPr>
                </a:tc>
                <a:tc>
                  <a:txBody>
                    <a:bodyPr/>
                    <a:lstStyle/>
                    <a:p>
                      <a:pPr algn="l"/>
                      <a:r>
                        <a:rPr sz="1300" b="1" i="0">
                          <a:solidFill>
                            <a:srgbClr val="FFFFFF"/>
                          </a:solidFill>
                          <a:latin typeface="Calibri"/>
                        </a:rPr>
                        <a:t>F1 macro</a:t>
                      </a:r>
                    </a:p>
                  </a:txBody>
                  <a:tcPr>
                    <a:solidFill>
                      <a:srgbClr val="0F1F3A"/>
                    </a:solidFill>
                  </a:tcPr>
                </a:tc>
                <a:tc>
                  <a:txBody>
                    <a:bodyPr/>
                    <a:lstStyle/>
                    <a:p>
                      <a:pPr algn="l"/>
                      <a:r>
                        <a:rPr sz="1300" b="1" i="0">
                          <a:solidFill>
                            <a:srgbClr val="FFFFFF"/>
                          </a:solidFill>
                          <a:latin typeface="Calibri"/>
                        </a:rPr>
                        <a:t>AUC macro</a:t>
                      </a:r>
                    </a:p>
                  </a:txBody>
                  <a:tcPr>
                    <a:solidFill>
                      <a:srgbClr val="0F1F3A"/>
                    </a:solidFill>
                  </a:tcPr>
                </a:tc>
                <a:tc>
                  <a:txBody>
                    <a:bodyPr/>
                    <a:lstStyle/>
                    <a:p>
                      <a:pPr algn="l"/>
                      <a:r>
                        <a:rPr sz="1300" b="1" i="0">
                          <a:solidFill>
                            <a:srgbClr val="FFFFFF"/>
                          </a:solidFill>
                          <a:latin typeface="Calibri"/>
                        </a:rPr>
                        <a:t>Features</a:t>
                      </a:r>
                    </a:p>
                  </a:txBody>
                  <a:tcPr>
                    <a:solidFill>
                      <a:srgbClr val="0F1F3A"/>
                    </a:solidFill>
                  </a:tcPr>
                </a:tc>
                <a:extLst>
                  <a:ext uri="{0D108BD9-81ED-4DB2-BD59-A6C34878D82A}">
                    <a16:rowId xmlns:a16="http://schemas.microsoft.com/office/drawing/2014/main" val="10000"/>
                  </a:ext>
                </a:extLst>
              </a:tr>
              <a:tr h="444137">
                <a:tc>
                  <a:txBody>
                    <a:bodyPr/>
                    <a:lstStyle/>
                    <a:p>
                      <a:pPr algn="l"/>
                      <a:r>
                        <a:rPr sz="1300" b="0" i="0">
                          <a:solidFill>
                            <a:srgbClr val="1F2A40"/>
                          </a:solidFill>
                          <a:latin typeface="Calibri"/>
                        </a:rPr>
                        <a:t>Force</a:t>
                      </a:r>
                    </a:p>
                  </a:txBody>
                  <a:tcPr>
                    <a:solidFill>
                      <a:srgbClr val="FFFFFF"/>
                    </a:solidFill>
                  </a:tcPr>
                </a:tc>
                <a:tc>
                  <a:txBody>
                    <a:bodyPr/>
                    <a:lstStyle/>
                    <a:p>
                      <a:pPr algn="l"/>
                      <a:r>
                        <a:rPr sz="1300" b="0" i="0">
                          <a:solidFill>
                            <a:srgbClr val="1F2A40"/>
                          </a:solidFill>
                          <a:latin typeface="Calibri"/>
                        </a:rPr>
                        <a:t>HistGradientBoosting</a:t>
                      </a:r>
                    </a:p>
                  </a:txBody>
                  <a:tcPr>
                    <a:solidFill>
                      <a:srgbClr val="FFFFFF"/>
                    </a:solidFill>
                  </a:tcPr>
                </a:tc>
                <a:tc>
                  <a:txBody>
                    <a:bodyPr/>
                    <a:lstStyle/>
                    <a:p>
                      <a:pPr algn="l"/>
                      <a:r>
                        <a:rPr sz="1300" b="0" i="0">
                          <a:solidFill>
                            <a:srgbClr val="1F2A40"/>
                          </a:solidFill>
                          <a:latin typeface="Calibri"/>
                        </a:rPr>
                        <a:t>62%</a:t>
                      </a:r>
                    </a:p>
                  </a:txBody>
                  <a:tcPr>
                    <a:solidFill>
                      <a:srgbClr val="FFFFFF"/>
                    </a:solidFill>
                  </a:tcPr>
                </a:tc>
                <a:tc>
                  <a:txBody>
                    <a:bodyPr/>
                    <a:lstStyle/>
                    <a:p>
                      <a:pPr algn="l"/>
                      <a:r>
                        <a:rPr sz="1300" b="0" i="0">
                          <a:solidFill>
                            <a:srgbClr val="1F2A40"/>
                          </a:solidFill>
                          <a:latin typeface="Calibri"/>
                        </a:rPr>
                        <a:t>57%</a:t>
                      </a:r>
                    </a:p>
                  </a:txBody>
                  <a:tcPr>
                    <a:solidFill>
                      <a:srgbClr val="FFFFFF"/>
                    </a:solidFill>
                  </a:tcPr>
                </a:tc>
                <a:tc>
                  <a:txBody>
                    <a:bodyPr/>
                    <a:lstStyle/>
                    <a:p>
                      <a:pPr algn="l"/>
                      <a:r>
                        <a:rPr sz="1300" b="0" i="0">
                          <a:solidFill>
                            <a:srgbClr val="1F2A40"/>
                          </a:solidFill>
                          <a:latin typeface="Calibri"/>
                        </a:rPr>
                        <a:t>71%</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1"/>
                  </a:ext>
                </a:extLst>
              </a:tr>
              <a:tr h="444137">
                <a:tc>
                  <a:txBody>
                    <a:bodyPr/>
                    <a:lstStyle/>
                    <a:p>
                      <a:pPr algn="l"/>
                      <a:r>
                        <a:rPr sz="1300" b="0" i="0">
                          <a:solidFill>
                            <a:srgbClr val="1F2A40"/>
                          </a:solidFill>
                          <a:latin typeface="Calibri"/>
                        </a:rPr>
                        <a:t>Repetition</a:t>
                      </a:r>
                    </a:p>
                  </a:txBody>
                  <a:tcPr>
                    <a:solidFill>
                      <a:srgbClr val="F7F8FA"/>
                    </a:solidFill>
                  </a:tcPr>
                </a:tc>
                <a:tc>
                  <a:txBody>
                    <a:bodyPr/>
                    <a:lstStyle/>
                    <a:p>
                      <a:pPr algn="l"/>
                      <a:r>
                        <a:rPr sz="1300" b="0" i="0">
                          <a:solidFill>
                            <a:srgbClr val="1F2A40"/>
                          </a:solidFill>
                          <a:latin typeface="Calibri"/>
                        </a:rPr>
                        <a:t>Random Forest</a:t>
                      </a:r>
                    </a:p>
                  </a:txBody>
                  <a:tcPr>
                    <a:solidFill>
                      <a:srgbClr val="F7F8FA"/>
                    </a:solidFill>
                  </a:tcPr>
                </a:tc>
                <a:tc>
                  <a:txBody>
                    <a:bodyPr/>
                    <a:lstStyle/>
                    <a:p>
                      <a:pPr algn="l"/>
                      <a:r>
                        <a:rPr sz="1300" b="0" i="0">
                          <a:solidFill>
                            <a:srgbClr val="1F2A40"/>
                          </a:solidFill>
                          <a:latin typeface="Calibri"/>
                        </a:rPr>
                        <a:t>62%</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73%</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extLst>
                  <a:ext uri="{0D108BD9-81ED-4DB2-BD59-A6C34878D82A}">
                    <a16:rowId xmlns:a16="http://schemas.microsoft.com/office/drawing/2014/main" val="10002"/>
                  </a:ext>
                </a:extLst>
              </a:tr>
              <a:tr h="444137">
                <a:tc>
                  <a:txBody>
                    <a:bodyPr/>
                    <a:lstStyle/>
                    <a:p>
                      <a:pPr algn="l"/>
                      <a:r>
                        <a:rPr sz="1300" b="0" i="0">
                          <a:solidFill>
                            <a:srgbClr val="1F2A40"/>
                          </a:solidFill>
                          <a:latin typeface="Calibri"/>
                        </a:rPr>
                        <a:t>Duration</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61%</a:t>
                      </a:r>
                    </a:p>
                  </a:txBody>
                  <a:tcPr>
                    <a:solidFill>
                      <a:srgbClr val="FFFFFF"/>
                    </a:solidFill>
                  </a:tcPr>
                </a:tc>
                <a:tc>
                  <a:txBody>
                    <a:bodyPr/>
                    <a:lstStyle/>
                    <a:p>
                      <a:pPr algn="l"/>
                      <a:r>
                        <a:rPr sz="1300" b="0" i="0">
                          <a:solidFill>
                            <a:srgbClr val="1F2A40"/>
                          </a:solidFill>
                          <a:latin typeface="Calibri"/>
                        </a:rPr>
                        <a:t>58%</a:t>
                      </a:r>
                    </a:p>
                  </a:txBody>
                  <a:tcPr>
                    <a:solidFill>
                      <a:srgbClr val="FFFFFF"/>
                    </a:solidFill>
                  </a:tcPr>
                </a:tc>
                <a:tc>
                  <a:txBody>
                    <a:bodyPr/>
                    <a:lstStyle/>
                    <a:p>
                      <a:pPr algn="l"/>
                      <a:r>
                        <a:rPr sz="1300" b="0" i="0">
                          <a:solidFill>
                            <a:srgbClr val="1F2A40"/>
                          </a:solidFill>
                          <a:latin typeface="Calibri"/>
                        </a:rPr>
                        <a:t>76%</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3"/>
                  </a:ext>
                </a:extLst>
              </a:tr>
              <a:tr h="444137">
                <a:tc>
                  <a:txBody>
                    <a:bodyPr/>
                    <a:lstStyle/>
                    <a:p>
                      <a:pPr algn="l"/>
                      <a:r>
                        <a:rPr sz="1300" b="0" i="0">
                          <a:solidFill>
                            <a:srgbClr val="1F2A40"/>
                          </a:solidFill>
                          <a:latin typeface="Calibri"/>
                        </a:rPr>
                        <a:t>Vibration</a:t>
                      </a:r>
                    </a:p>
                  </a:txBody>
                  <a:tcPr>
                    <a:solidFill>
                      <a:srgbClr val="F7F8FA"/>
                    </a:solidFill>
                  </a:tcPr>
                </a:tc>
                <a:tc>
                  <a:txBody>
                    <a:bodyPr/>
                    <a:lstStyle/>
                    <a:p>
                      <a:pPr algn="l"/>
                      <a:r>
                        <a:rPr sz="1300" b="0" i="0">
                          <a:solidFill>
                            <a:srgbClr val="1F2A40"/>
                          </a:solidFill>
                          <a:latin typeface="Calibri"/>
                        </a:rPr>
                        <a:t>Extra Trees</a:t>
                      </a:r>
                    </a:p>
                  </a:txBody>
                  <a:tcPr>
                    <a:solidFill>
                      <a:srgbClr val="F7F8FA"/>
                    </a:solidFill>
                  </a:tcPr>
                </a:tc>
                <a:tc>
                  <a:txBody>
                    <a:bodyPr/>
                    <a:lstStyle/>
                    <a:p>
                      <a:pPr algn="l"/>
                      <a:r>
                        <a:rPr sz="1300" b="0" i="0">
                          <a:solidFill>
                            <a:srgbClr val="1F2A40"/>
                          </a:solidFill>
                          <a:latin typeface="Calibri"/>
                        </a:rPr>
                        <a:t>58%</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72%</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extLst>
                  <a:ext uri="{0D108BD9-81ED-4DB2-BD59-A6C34878D82A}">
                    <a16:rowId xmlns:a16="http://schemas.microsoft.com/office/drawing/2014/main" val="10004"/>
                  </a:ext>
                </a:extLst>
              </a:tr>
              <a:tr h="444137">
                <a:tc>
                  <a:txBody>
                    <a:bodyPr/>
                    <a:lstStyle/>
                    <a:p>
                      <a:pPr algn="l"/>
                      <a:r>
                        <a:rPr sz="1300" b="0" i="0">
                          <a:solidFill>
                            <a:srgbClr val="1F2A40"/>
                          </a:solidFill>
                          <a:latin typeface="Calibri"/>
                        </a:rPr>
                        <a:t>Contact Stress</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60%</a:t>
                      </a:r>
                    </a:p>
                  </a:txBody>
                  <a:tcPr>
                    <a:solidFill>
                      <a:srgbClr val="FFFFFF"/>
                    </a:solidFill>
                  </a:tcPr>
                </a:tc>
                <a:tc>
                  <a:txBody>
                    <a:bodyPr/>
                    <a:lstStyle/>
                    <a:p>
                      <a:pPr algn="l"/>
                      <a:r>
                        <a:rPr sz="1300" b="0" i="0">
                          <a:solidFill>
                            <a:srgbClr val="1F2A40"/>
                          </a:solidFill>
                          <a:latin typeface="Calibri"/>
                        </a:rPr>
                        <a:t>59%</a:t>
                      </a:r>
                    </a:p>
                  </a:txBody>
                  <a:tcPr>
                    <a:solidFill>
                      <a:srgbClr val="FFFFFF"/>
                    </a:solidFill>
                  </a:tcPr>
                </a:tc>
                <a:tc>
                  <a:txBody>
                    <a:bodyPr/>
                    <a:lstStyle/>
                    <a:p>
                      <a:pPr algn="l"/>
                      <a:r>
                        <a:rPr sz="1300" b="0" i="0">
                          <a:solidFill>
                            <a:srgbClr val="1F2A40"/>
                          </a:solidFill>
                          <a:latin typeface="Calibri"/>
                        </a:rPr>
                        <a:t>74%</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5"/>
                  </a:ext>
                </a:extLst>
              </a:tr>
              <a:tr h="444138">
                <a:tc>
                  <a:txBody>
                    <a:bodyPr/>
                    <a:lstStyle/>
                    <a:p>
                      <a:pPr algn="l"/>
                      <a:r>
                        <a:rPr sz="1300" b="0" i="0">
                          <a:solidFill>
                            <a:srgbClr val="1F2A40"/>
                          </a:solidFill>
                          <a:latin typeface="Calibri"/>
                        </a:rPr>
                        <a:t>Posture</a:t>
                      </a:r>
                    </a:p>
                  </a:txBody>
                  <a:tcPr>
                    <a:solidFill>
                      <a:srgbClr val="F7F8FA"/>
                    </a:solidFill>
                  </a:tcPr>
                </a:tc>
                <a:tc>
                  <a:txBody>
                    <a:bodyPr/>
                    <a:lstStyle/>
                    <a:p>
                      <a:pPr algn="l"/>
                      <a:r>
                        <a:rPr sz="1300" b="0" i="0">
                          <a:solidFill>
                            <a:srgbClr val="1F2A40"/>
                          </a:solidFill>
                          <a:latin typeface="Calibri"/>
                        </a:rPr>
                        <a:t>HistGradientBoosting</a:t>
                      </a:r>
                    </a:p>
                  </a:txBody>
                  <a:tcPr>
                    <a:solidFill>
                      <a:srgbClr val="F7F8FA"/>
                    </a:solidFill>
                  </a:tcPr>
                </a:tc>
                <a:tc>
                  <a:txBody>
                    <a:bodyPr/>
                    <a:lstStyle/>
                    <a:p>
                      <a:pPr algn="l"/>
                      <a:r>
                        <a:rPr sz="1300" b="0" i="0">
                          <a:solidFill>
                            <a:srgbClr val="1F2A40"/>
                          </a:solidFill>
                          <a:latin typeface="Calibri"/>
                        </a:rPr>
                        <a:t>97%</a:t>
                      </a:r>
                    </a:p>
                  </a:txBody>
                  <a:tcPr>
                    <a:solidFill>
                      <a:srgbClr val="F7F8FA"/>
                    </a:solidFill>
                  </a:tcPr>
                </a:tc>
                <a:tc>
                  <a:txBody>
                    <a:bodyPr/>
                    <a:lstStyle/>
                    <a:p>
                      <a:pPr algn="l"/>
                      <a:r>
                        <a:rPr sz="1300" b="0" i="0">
                          <a:solidFill>
                            <a:srgbClr val="1F2A40"/>
                          </a:solidFill>
                          <a:latin typeface="Calibri"/>
                        </a:rPr>
                        <a:t>95%</a:t>
                      </a:r>
                    </a:p>
                  </a:txBody>
                  <a:tcPr>
                    <a:solidFill>
                      <a:srgbClr val="F7F8FA"/>
                    </a:solidFill>
                  </a:tcPr>
                </a:tc>
                <a:tc>
                  <a:txBody>
                    <a:bodyPr/>
                    <a:lstStyle/>
                    <a:p>
                      <a:pPr algn="l"/>
                      <a:r>
                        <a:rPr sz="1300" b="0" i="0">
                          <a:solidFill>
                            <a:srgbClr val="1F2A40"/>
                          </a:solidFill>
                          <a:latin typeface="Calibri"/>
                        </a:rPr>
                        <a:t>98%</a:t>
                      </a:r>
                    </a:p>
                  </a:txBody>
                  <a:tcPr>
                    <a:solidFill>
                      <a:srgbClr val="F7F8FA"/>
                    </a:solidFill>
                  </a:tcPr>
                </a:tc>
                <a:tc>
                  <a:txBody>
                    <a:bodyPr/>
                    <a:lstStyle/>
                    <a:p>
                      <a:pPr algn="l"/>
                      <a:r>
                        <a:rPr sz="1300" b="0" i="0">
                          <a:solidFill>
                            <a:srgbClr val="1F2A40"/>
                          </a:solidFill>
                          <a:latin typeface="Calibri"/>
                        </a:rPr>
                        <a:t>63</a:t>
                      </a:r>
                    </a:p>
                  </a:txBody>
                  <a:tcPr>
                    <a:solidFill>
                      <a:srgbClr val="F7F8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40080" y="5029200"/>
            <a:ext cx="10789920" cy="1280160"/>
          </a:xfrm>
          <a:prstGeom prst="rect">
            <a:avLst/>
          </a:prstGeom>
          <a:noFill/>
        </p:spPr>
        <p:txBody>
          <a:bodyPr wrap="square">
            <a:spAutoFit/>
          </a:bodyPr>
          <a:lstStyle/>
          <a:p>
            <a:pPr algn="l"/>
            <a:r>
              <a:rPr sz="1300" b="0" i="0">
                <a:solidFill>
                  <a:srgbClr val="1F2A40"/>
                </a:solidFill>
                <a:latin typeface="Calibri"/>
              </a:rPr>
              <a:t>The five survey-derived factors land at 58-62% CV accuracy with macro AUC 71-76%, modest but honest on n = 182. Posture jumps to 97% / 98% because it is the only factor that receives real observation inputs (11 RULA components + 8 QEC scores) on top of the survey features; the observation-vs-self-report gap is the story here.</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8/10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08  DELIVERABLE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Interactive Web Application</a:t>
            </a:r>
          </a:p>
        </p:txBody>
      </p:sp>
      <p:pic>
        <p:nvPicPr>
          <p:cNvPr id="6" name="Picture 5" descr="web_01_home.png"/>
          <p:cNvPicPr>
            <a:picLocks noChangeAspect="1"/>
          </p:cNvPicPr>
          <p:nvPr/>
        </p:nvPicPr>
        <p:blipFill>
          <a:blip r:embed="rId2"/>
          <a:stretch>
            <a:fillRect/>
          </a:stretch>
        </p:blipFill>
        <p:spPr>
          <a:xfrm>
            <a:off x="1569567" y="1664208"/>
            <a:ext cx="2926080" cy="2011680"/>
          </a:xfrm>
          <a:prstGeom prst="rect">
            <a:avLst/>
          </a:prstGeom>
          <a:ln w="6350">
            <a:solidFill>
              <a:srgbClr val="E0E3E9"/>
            </a:solidFill>
          </a:ln>
        </p:spPr>
      </p:pic>
      <p:sp>
        <p:nvSpPr>
          <p:cNvPr id="7" name="TextBox 6"/>
          <p:cNvSpPr txBox="1"/>
          <p:nvPr/>
        </p:nvSpPr>
        <p:spPr>
          <a:xfrm>
            <a:off x="1569567" y="3702691"/>
            <a:ext cx="2926080" cy="201168"/>
          </a:xfrm>
          <a:prstGeom prst="rect">
            <a:avLst/>
          </a:prstGeom>
          <a:noFill/>
        </p:spPr>
        <p:txBody>
          <a:bodyPr wrap="none">
            <a:spAutoFit/>
          </a:bodyPr>
          <a:lstStyle/>
          <a:p>
            <a:pPr algn="ctr"/>
            <a:r>
              <a:rPr sz="1000" b="0" i="1">
                <a:solidFill>
                  <a:srgbClr val="6B7282"/>
                </a:solidFill>
                <a:latin typeface="Calibri"/>
              </a:rPr>
              <a:t>Home</a:t>
            </a:r>
          </a:p>
        </p:txBody>
      </p:sp>
      <p:pic>
        <p:nvPicPr>
          <p:cNvPr id="8" name="Picture 7" descr="web_02_assessment_top.png"/>
          <p:cNvPicPr>
            <a:picLocks noChangeAspect="1"/>
          </p:cNvPicPr>
          <p:nvPr/>
        </p:nvPicPr>
        <p:blipFill>
          <a:blip r:embed="rId3"/>
          <a:stretch>
            <a:fillRect/>
          </a:stretch>
        </p:blipFill>
        <p:spPr>
          <a:xfrm>
            <a:off x="4632807" y="1664208"/>
            <a:ext cx="2926080" cy="2011680"/>
          </a:xfrm>
          <a:prstGeom prst="rect">
            <a:avLst/>
          </a:prstGeom>
          <a:ln w="6350">
            <a:solidFill>
              <a:srgbClr val="E0E3E9"/>
            </a:solidFill>
          </a:ln>
        </p:spPr>
      </p:pic>
      <p:sp>
        <p:nvSpPr>
          <p:cNvPr id="9" name="TextBox 8"/>
          <p:cNvSpPr txBox="1"/>
          <p:nvPr/>
        </p:nvSpPr>
        <p:spPr>
          <a:xfrm>
            <a:off x="4632807" y="3702691"/>
            <a:ext cx="2926080" cy="201168"/>
          </a:xfrm>
          <a:prstGeom prst="rect">
            <a:avLst/>
          </a:prstGeom>
          <a:noFill/>
        </p:spPr>
        <p:txBody>
          <a:bodyPr wrap="none">
            <a:spAutoFit/>
          </a:bodyPr>
          <a:lstStyle/>
          <a:p>
            <a:pPr algn="ctr"/>
            <a:r>
              <a:rPr sz="1000" b="0" i="1">
                <a:solidFill>
                  <a:srgbClr val="6B7282"/>
                </a:solidFill>
                <a:latin typeface="Calibri"/>
              </a:rPr>
              <a:t>Assessment  |  demographics</a:t>
            </a:r>
          </a:p>
        </p:txBody>
      </p:sp>
      <p:pic>
        <p:nvPicPr>
          <p:cNvPr id="10" name="Picture 9" descr="web_03_assessment_nmq.png"/>
          <p:cNvPicPr>
            <a:picLocks noChangeAspect="1"/>
          </p:cNvPicPr>
          <p:nvPr/>
        </p:nvPicPr>
        <p:blipFill>
          <a:blip r:embed="rId4"/>
          <a:stretch>
            <a:fillRect/>
          </a:stretch>
        </p:blipFill>
        <p:spPr>
          <a:xfrm>
            <a:off x="7696047" y="1664208"/>
            <a:ext cx="2926080" cy="2011680"/>
          </a:xfrm>
          <a:prstGeom prst="rect">
            <a:avLst/>
          </a:prstGeom>
          <a:ln w="6350">
            <a:solidFill>
              <a:srgbClr val="E0E3E9"/>
            </a:solidFill>
          </a:ln>
        </p:spPr>
      </p:pic>
      <p:sp>
        <p:nvSpPr>
          <p:cNvPr id="11" name="TextBox 10"/>
          <p:cNvSpPr txBox="1"/>
          <p:nvPr/>
        </p:nvSpPr>
        <p:spPr>
          <a:xfrm>
            <a:off x="7696047" y="3702691"/>
            <a:ext cx="2926080" cy="201168"/>
          </a:xfrm>
          <a:prstGeom prst="rect">
            <a:avLst/>
          </a:prstGeom>
          <a:noFill/>
        </p:spPr>
        <p:txBody>
          <a:bodyPr wrap="none">
            <a:spAutoFit/>
          </a:bodyPr>
          <a:lstStyle/>
          <a:p>
            <a:pPr algn="ctr"/>
            <a:r>
              <a:rPr sz="1000" b="0" i="1">
                <a:solidFill>
                  <a:srgbClr val="6B7282"/>
                </a:solidFill>
                <a:latin typeface="Calibri"/>
              </a:rPr>
              <a:t>Assessment  |  NMQ 12-month pain</a:t>
            </a:r>
          </a:p>
        </p:txBody>
      </p:sp>
      <p:pic>
        <p:nvPicPr>
          <p:cNvPr id="12" name="Picture 11" descr="web_06_results.png"/>
          <p:cNvPicPr>
            <a:picLocks noChangeAspect="1"/>
          </p:cNvPicPr>
          <p:nvPr/>
        </p:nvPicPr>
        <p:blipFill>
          <a:blip r:embed="rId5"/>
          <a:stretch>
            <a:fillRect/>
          </a:stretch>
        </p:blipFill>
        <p:spPr>
          <a:xfrm>
            <a:off x="1569567" y="4160520"/>
            <a:ext cx="2926080" cy="2011680"/>
          </a:xfrm>
          <a:prstGeom prst="rect">
            <a:avLst/>
          </a:prstGeom>
          <a:ln w="6350">
            <a:solidFill>
              <a:srgbClr val="E0E3E9"/>
            </a:solidFill>
          </a:ln>
        </p:spPr>
      </p:pic>
      <p:sp>
        <p:nvSpPr>
          <p:cNvPr id="13" name="TextBox 12"/>
          <p:cNvSpPr txBox="1"/>
          <p:nvPr/>
        </p:nvSpPr>
        <p:spPr>
          <a:xfrm>
            <a:off x="1569567" y="6199003"/>
            <a:ext cx="2926080" cy="201168"/>
          </a:xfrm>
          <a:prstGeom prst="rect">
            <a:avLst/>
          </a:prstGeom>
          <a:noFill/>
        </p:spPr>
        <p:txBody>
          <a:bodyPr wrap="none">
            <a:spAutoFit/>
          </a:bodyPr>
          <a:lstStyle/>
          <a:p>
            <a:pPr algn="ctr"/>
            <a:r>
              <a:rPr sz="1000" b="0" i="1">
                <a:solidFill>
                  <a:srgbClr val="6B7282"/>
                </a:solidFill>
                <a:latin typeface="Calibri"/>
              </a:rPr>
              <a:t>Results  |  per-factor risk</a:t>
            </a:r>
          </a:p>
        </p:txBody>
      </p:sp>
      <p:pic>
        <p:nvPicPr>
          <p:cNvPr id="14" name="Picture 13" descr="web_07_methodology.png"/>
          <p:cNvPicPr>
            <a:picLocks noChangeAspect="1"/>
          </p:cNvPicPr>
          <p:nvPr/>
        </p:nvPicPr>
        <p:blipFill>
          <a:blip r:embed="rId6"/>
          <a:stretch>
            <a:fillRect/>
          </a:stretch>
        </p:blipFill>
        <p:spPr>
          <a:xfrm>
            <a:off x="4632807" y="4160520"/>
            <a:ext cx="2926080" cy="2011680"/>
          </a:xfrm>
          <a:prstGeom prst="rect">
            <a:avLst/>
          </a:prstGeom>
          <a:ln w="6350">
            <a:solidFill>
              <a:srgbClr val="E0E3E9"/>
            </a:solidFill>
          </a:ln>
        </p:spPr>
      </p:pic>
      <p:sp>
        <p:nvSpPr>
          <p:cNvPr id="15" name="TextBox 14"/>
          <p:cNvSpPr txBox="1"/>
          <p:nvPr/>
        </p:nvSpPr>
        <p:spPr>
          <a:xfrm>
            <a:off x="4632807" y="6199003"/>
            <a:ext cx="2926080" cy="201168"/>
          </a:xfrm>
          <a:prstGeom prst="rect">
            <a:avLst/>
          </a:prstGeom>
          <a:noFill/>
        </p:spPr>
        <p:txBody>
          <a:bodyPr wrap="none">
            <a:spAutoFit/>
          </a:bodyPr>
          <a:lstStyle/>
          <a:p>
            <a:pPr algn="ctr"/>
            <a:r>
              <a:rPr sz="1000" b="0" i="1">
                <a:solidFill>
                  <a:srgbClr val="6B7282"/>
                </a:solidFill>
                <a:latin typeface="Calibri"/>
              </a:rPr>
              <a:t>Methodology</a:t>
            </a:r>
          </a:p>
        </p:txBody>
      </p:sp>
      <p:pic>
        <p:nvPicPr>
          <p:cNvPr id="16" name="Picture 15" descr="web_08_about.png"/>
          <p:cNvPicPr>
            <a:picLocks noChangeAspect="1"/>
          </p:cNvPicPr>
          <p:nvPr/>
        </p:nvPicPr>
        <p:blipFill>
          <a:blip r:embed="rId7"/>
          <a:stretch>
            <a:fillRect/>
          </a:stretch>
        </p:blipFill>
        <p:spPr>
          <a:xfrm>
            <a:off x="7696047" y="4160520"/>
            <a:ext cx="2926080" cy="2011680"/>
          </a:xfrm>
          <a:prstGeom prst="rect">
            <a:avLst/>
          </a:prstGeom>
          <a:ln w="6350">
            <a:solidFill>
              <a:srgbClr val="E0E3E9"/>
            </a:solidFill>
          </a:ln>
        </p:spPr>
      </p:pic>
      <p:sp>
        <p:nvSpPr>
          <p:cNvPr id="17" name="TextBox 16"/>
          <p:cNvSpPr txBox="1"/>
          <p:nvPr/>
        </p:nvSpPr>
        <p:spPr>
          <a:xfrm>
            <a:off x="7696047" y="6199003"/>
            <a:ext cx="2926080" cy="201168"/>
          </a:xfrm>
          <a:prstGeom prst="rect">
            <a:avLst/>
          </a:prstGeom>
          <a:noFill/>
        </p:spPr>
        <p:txBody>
          <a:bodyPr wrap="none">
            <a:spAutoFit/>
          </a:bodyPr>
          <a:lstStyle/>
          <a:p>
            <a:pPr algn="ctr"/>
            <a:r>
              <a:rPr sz="1000" b="0" i="1">
                <a:solidFill>
                  <a:srgbClr val="6B7282"/>
                </a:solidFill>
                <a:latin typeface="Calibri"/>
              </a:rPr>
              <a:t>About</a:t>
            </a:r>
          </a:p>
        </p:txBody>
      </p:sp>
      <p:sp>
        <p:nvSpPr>
          <p:cNvPr id="18" name="TextBox 1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9/10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09  CONCLUSIONS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Conclusions &amp; Future Work</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Key contributions</a:t>
            </a:r>
          </a:p>
        </p:txBody>
      </p:sp>
      <p:sp>
        <p:nvSpPr>
          <p:cNvPr id="7" name="TextBox 6"/>
          <p:cNvSpPr txBox="1"/>
          <p:nvPr/>
        </p:nvSpPr>
        <p:spPr>
          <a:xfrm>
            <a:off x="640080" y="2103120"/>
            <a:ext cx="576072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Two-stage pipeline auditable by ergonomists and ML reviewers independently.</a:t>
            </a:r>
          </a:p>
          <a:p>
            <a:pPr algn="l">
              <a:spcAft>
                <a:spcPts val="600"/>
              </a:spcAft>
            </a:pPr>
            <a:r>
              <a:rPr sz="1200" b="1" i="0">
                <a:solidFill>
                  <a:srgbClr val="0F766E"/>
                </a:solidFill>
                <a:latin typeface="Calibri"/>
              </a:rPr>
              <a:t>•   </a:t>
            </a:r>
            <a:r>
              <a:rPr sz="1200" b="0" i="0">
                <a:solidFill>
                  <a:srgbClr val="1F2A40"/>
                </a:solidFill>
                <a:latin typeface="Calibri"/>
              </a:rPr>
              <a:t>Six per-factor classifiers with honest 5-fold CV metrics.</a:t>
            </a:r>
          </a:p>
          <a:p>
            <a:pPr algn="l">
              <a:spcAft>
                <a:spcPts val="600"/>
              </a:spcAft>
            </a:pPr>
            <a:r>
              <a:rPr sz="1200" b="1" i="0">
                <a:solidFill>
                  <a:srgbClr val="0F766E"/>
                </a:solidFill>
                <a:latin typeface="Calibri"/>
              </a:rPr>
              <a:t>•   </a:t>
            </a:r>
            <a:r>
              <a:rPr sz="1200" b="0" i="0">
                <a:solidFill>
                  <a:srgbClr val="1F2A40"/>
                </a:solidFill>
                <a:latin typeface="Calibri"/>
              </a:rPr>
              <a:t>Two methodological corrections openly disclosed (Repetition qcut boundary, Duration leakage via vibration_index).</a:t>
            </a:r>
          </a:p>
          <a:p>
            <a:pPr algn="l">
              <a:spcAft>
                <a:spcPts val="600"/>
              </a:spcAft>
            </a:pPr>
            <a:r>
              <a:rPr sz="1200" b="1" i="0">
                <a:solidFill>
                  <a:srgbClr val="0F766E"/>
                </a:solidFill>
                <a:latin typeface="Calibri"/>
              </a:rPr>
              <a:t>•   </a:t>
            </a:r>
            <a:r>
              <a:rPr sz="1200" b="0" i="0">
                <a:solidFill>
                  <a:srgbClr val="1F2A40"/>
                </a:solidFill>
                <a:latin typeface="Calibri"/>
              </a:rPr>
              <a:t>Multi-page Streamlit web app for real-time screening.</a:t>
            </a:r>
          </a:p>
        </p:txBody>
      </p:sp>
      <p:sp>
        <p:nvSpPr>
          <p:cNvPr id="8" name="TextBox 7"/>
          <p:cNvSpPr txBox="1"/>
          <p:nvPr/>
        </p:nvSpPr>
        <p:spPr>
          <a:xfrm>
            <a:off x="6492240" y="1691640"/>
            <a:ext cx="5212080" cy="365760"/>
          </a:xfrm>
          <a:prstGeom prst="rect">
            <a:avLst/>
          </a:prstGeom>
          <a:noFill/>
        </p:spPr>
        <p:txBody>
          <a:bodyPr wrap="square">
            <a:spAutoFit/>
          </a:bodyPr>
          <a:lstStyle/>
          <a:p>
            <a:pPr algn="l"/>
            <a:r>
              <a:rPr sz="1500" b="1" i="0">
                <a:solidFill>
                  <a:srgbClr val="0F1F3A"/>
                </a:solidFill>
                <a:latin typeface="Calibri"/>
              </a:rPr>
              <a:t>Platform-level recommendations</a:t>
            </a:r>
          </a:p>
        </p:txBody>
      </p:sp>
      <p:sp>
        <p:nvSpPr>
          <p:cNvPr id="9" name="TextBox 8"/>
          <p:cNvSpPr txBox="1"/>
          <p:nvPr/>
        </p:nvSpPr>
        <p:spPr>
          <a:xfrm>
            <a:off x="6492240" y="2103120"/>
            <a:ext cx="521208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Cap daily hours (49% of sample &gt; 8 h/day).</a:t>
            </a:r>
          </a:p>
          <a:p>
            <a:pPr algn="l">
              <a:spcAft>
                <a:spcPts val="600"/>
              </a:spcAft>
            </a:pPr>
            <a:r>
              <a:rPr sz="1200" b="1" i="0">
                <a:solidFill>
                  <a:srgbClr val="0F766E"/>
                </a:solidFill>
                <a:latin typeface="Calibri"/>
              </a:rPr>
              <a:t>•   Posture training and equipment review (84% at RULA grand score 5+, action level 3 or 4).</a:t>
            </a:r>
          </a:p>
          <a:p>
            <a:pPr algn="l">
              <a:spcAft>
                <a:spcPts val="600"/>
              </a:spcAft>
            </a:pPr>
            <a:r>
              <a:rPr sz="1200" b="1" i="0">
                <a:solidFill>
                  <a:srgbClr val="0F766E"/>
                </a:solidFill>
                <a:latin typeface="Calibri"/>
              </a:rPr>
              <a:t>•   </a:t>
            </a:r>
            <a:r>
              <a:rPr sz="1200" b="0" i="0">
                <a:solidFill>
                  <a:srgbClr val="1F2A40"/>
                </a:solidFill>
                <a:latin typeface="Calibri"/>
              </a:rPr>
              <a:t>Prefer bike-storage carriers over handheld bags.</a:t>
            </a:r>
          </a:p>
          <a:p>
            <a:pPr algn="l">
              <a:spcAft>
                <a:spcPts val="600"/>
              </a:spcAft>
            </a:pPr>
            <a:r>
              <a:rPr sz="1200" b="1" i="0">
                <a:solidFill>
                  <a:srgbClr val="0F766E"/>
                </a:solidFill>
                <a:latin typeface="Calibri"/>
              </a:rPr>
              <a:t>•   </a:t>
            </a:r>
            <a:r>
              <a:rPr sz="1200" b="0" i="0">
                <a:solidFill>
                  <a:srgbClr val="1F2A40"/>
                </a:solidFill>
                <a:latin typeface="Calibri"/>
              </a:rPr>
              <a:t>Age-targeted MSD screening for 36+ cohort.</a:t>
            </a:r>
          </a:p>
          <a:p>
            <a:pPr algn="l">
              <a:spcAft>
                <a:spcPts val="600"/>
              </a:spcAft>
            </a:pPr>
            <a:r>
              <a:rPr sz="1200" b="1" i="0">
                <a:solidFill>
                  <a:srgbClr val="0F766E"/>
                </a:solidFill>
                <a:latin typeface="Calibri"/>
              </a:rPr>
              <a:t>•   Rotate riders through high-workload shifts; watch NASA-TLX and fatigue as leading indicators.</a:t>
            </a:r>
          </a:p>
        </p:txBody>
      </p:sp>
      <p:sp>
        <p:nvSpPr>
          <p:cNvPr id="10" name="Rectangle 9"/>
          <p:cNvSpPr/>
          <p:nvPr/>
        </p:nvSpPr>
        <p:spPr>
          <a:xfrm>
            <a:off x="640080" y="5303520"/>
            <a:ext cx="11064240" cy="960120"/>
          </a:xfrm>
          <a:prstGeom prst="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5394960"/>
            <a:ext cx="10789920" cy="365760"/>
          </a:xfrm>
          <a:prstGeom prst="rect">
            <a:avLst/>
          </a:prstGeom>
          <a:noFill/>
        </p:spPr>
        <p:txBody>
          <a:bodyPr wrap="square">
            <a:spAutoFit/>
          </a:bodyPr>
          <a:lstStyle/>
          <a:p>
            <a:pPr algn="l"/>
            <a:r>
              <a:rPr sz="1100" b="1" i="0">
                <a:solidFill>
                  <a:srgbClr val="0F766E"/>
                </a:solidFill>
                <a:latin typeface="Calibri"/>
              </a:rPr>
              <a:t>Future work</a:t>
            </a:r>
          </a:p>
        </p:txBody>
      </p:sp>
      <p:sp>
        <p:nvSpPr>
          <p:cNvPr id="12" name="TextBox 11"/>
          <p:cNvSpPr txBox="1"/>
          <p:nvPr/>
        </p:nvSpPr>
        <p:spPr>
          <a:xfrm>
            <a:off x="822960" y="5623560"/>
            <a:ext cx="10972800" cy="640080"/>
          </a:xfrm>
          <a:prstGeom prst="rect">
            <a:avLst/>
          </a:prstGeom>
          <a:noFill/>
        </p:spPr>
        <p:txBody>
          <a:bodyPr wrap="square">
            <a:spAutoFit/>
          </a:bodyPr>
          <a:lstStyle/>
          <a:p>
            <a:pPr algn="l"/>
            <a:r>
              <a:rPr sz="1200" b="0" i="0" dirty="0">
                <a:solidFill>
                  <a:srgbClr val="1F2A40"/>
                </a:solidFill>
                <a:latin typeface="Calibri"/>
              </a:rPr>
              <a:t>Longitudinal follow-up study  |  per-rider RULA observations (eliminate the severity-rank merge)  |  wearable-accelerometer Vibration proxy  |  periodic re-training as the workforce evolves.</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1474</Words>
  <Application>Microsoft Office PowerPoint</Application>
  <PresentationFormat>Widescreen</PresentationFormat>
  <Paragraphs>311</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Ergonomic Risk in Last-Mile Quick-Commerce Delivery — IIITDM-SIES Review</dc:title>
  <dc:subject/>
  <dc:creator>AILA VISHNU VARDHAN</dc:creator>
  <cp:keywords/>
  <dc:description/>
  <cp:lastModifiedBy>Vishnu vardhan</cp:lastModifiedBy>
  <cp:revision>3</cp:revision>
  <dcterms:created xsi:type="dcterms:W3CDTF">2013-01-27T09:14:16Z</dcterms:created>
  <dcterms:modified xsi:type="dcterms:W3CDTF">2026-07-08T10:37:40Z</dcterms:modified>
  <cp:category/>
</cp:coreProperties>
</file>