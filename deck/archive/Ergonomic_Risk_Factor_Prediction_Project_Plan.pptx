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78" r:id="rId6"/>
    <p:sldId id="280" r:id="rId7"/>
    <p:sldId id="279" r:id="rId8"/>
    <p:sldId id="277" r:id="rId9"/>
    <p:sldId id="271" r:id="rId10"/>
    <p:sldId id="297" r:id="rId11"/>
    <p:sldId id="262" r:id="rId12"/>
    <p:sldId id="263" r:id="rId13"/>
    <p:sldId id="281" r:id="rId14"/>
    <p:sldId id="282" r:id="rId15"/>
    <p:sldId id="264" r:id="rId16"/>
    <p:sldId id="283" r:id="rId17"/>
    <p:sldId id="265" r:id="rId18"/>
    <p:sldId id="284" r:id="rId19"/>
    <p:sldId id="289" r:id="rId20"/>
    <p:sldId id="294" r:id="rId21"/>
    <p:sldId id="266" r:id="rId22"/>
    <p:sldId id="285" r:id="rId23"/>
    <p:sldId id="286" r:id="rId24"/>
    <p:sldId id="267" r:id="rId25"/>
    <p:sldId id="287" r:id="rId26"/>
    <p:sldId id="290" r:id="rId27"/>
    <p:sldId id="288" r:id="rId28"/>
    <p:sldId id="268" r:id="rId29"/>
    <p:sldId id="291" r:id="rId30"/>
    <p:sldId id="269" r:id="rId31"/>
    <p:sldId id="270" r:id="rId32"/>
    <p:sldId id="296" r:id="rId33"/>
    <p:sldId id="272" r:id="rId34"/>
    <p:sldId id="293" r:id="rId35"/>
    <p:sldId id="273" r:id="rId36"/>
    <p:sldId id="274" r:id="rId37"/>
    <p:sldId id="295" r:id="rId38"/>
    <p:sldId id="275" r:id="rId3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1914" y="1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21-May-26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AI/ML-Based Prediction of 6 Ergonomic Risk Factors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Analyze</a:t>
            </a:r>
            <a:r>
              <a:rPr lang="en-IN" dirty="0"/>
              <a:t> workload, posture, fatigue, and ergonomic exposure among delivery riders</a:t>
            </a:r>
          </a:p>
          <a:p>
            <a:r>
              <a:rPr lang="en-IN" dirty="0"/>
              <a:t>Predict ergonomic risk severity using AI/ML techniques</a:t>
            </a:r>
          </a:p>
          <a:p>
            <a:r>
              <a:rPr lang="en-US" dirty="0"/>
              <a:t>Build a data-driven ergonomic exposure prediction framework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 Ergonomic Risk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Force</a:t>
            </a:r>
          </a:p>
          <a:p>
            <a:r>
              <a:rPr dirty="0"/>
              <a:t>Repetition</a:t>
            </a:r>
          </a:p>
          <a:p>
            <a:r>
              <a:rPr dirty="0"/>
              <a:t>Awkward Posture</a:t>
            </a:r>
          </a:p>
          <a:p>
            <a:r>
              <a:rPr dirty="0"/>
              <a:t>Static Posture</a:t>
            </a:r>
          </a:p>
          <a:p>
            <a:r>
              <a:rPr dirty="0"/>
              <a:t>Contact Stress</a:t>
            </a:r>
          </a:p>
          <a:p>
            <a:r>
              <a:rPr dirty="0"/>
              <a:t>Vibration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Measurement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b="1" dirty="0"/>
              <a:t>Force</a:t>
            </a:r>
            <a:r>
              <a:rPr dirty="0"/>
              <a:t> → Borg CR10</a:t>
            </a:r>
            <a:r>
              <a:rPr lang="en-US" dirty="0"/>
              <a:t>(</a:t>
            </a:r>
            <a:r>
              <a:rPr lang="en-IN" dirty="0"/>
              <a:t>physical demand</a:t>
            </a:r>
            <a:r>
              <a:rPr lang="en-US" dirty="0"/>
              <a:t>)</a:t>
            </a:r>
            <a:r>
              <a:rPr dirty="0"/>
              <a:t>, carrying load</a:t>
            </a:r>
            <a:r>
              <a:rPr lang="en-US" dirty="0"/>
              <a:t>(</a:t>
            </a:r>
            <a:r>
              <a:rPr lang="en-IN" dirty="0"/>
              <a:t>carrying difficulty</a:t>
            </a:r>
            <a:r>
              <a:rPr lang="en-US" dirty="0"/>
              <a:t>)</a:t>
            </a:r>
            <a:endParaRPr dirty="0"/>
          </a:p>
          <a:p>
            <a:r>
              <a:rPr b="1" dirty="0"/>
              <a:t>Awkward Posture </a:t>
            </a:r>
            <a:r>
              <a:rPr dirty="0"/>
              <a:t>→ RULA &amp; REBA</a:t>
            </a:r>
            <a:r>
              <a:rPr lang="en-US" dirty="0"/>
              <a:t> &amp; photos </a:t>
            </a:r>
            <a:endParaRPr dirty="0"/>
          </a:p>
          <a:p>
            <a:r>
              <a:rPr b="1" dirty="0"/>
              <a:t>Static Posture </a:t>
            </a:r>
            <a:r>
              <a:rPr dirty="0"/>
              <a:t>→ Continuous posture duration</a:t>
            </a:r>
            <a:r>
              <a:rPr lang="en-US" dirty="0"/>
              <a:t>(continuous riding position)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DF2AD-2293-102B-A463-C0C263A05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DBF36-5145-F580-B81F-808BC0A12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Measurement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FE3D0-B83B-5AEB-68BF-B00FC317FD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600200"/>
            <a:ext cx="9198864" cy="452596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dirty="0"/>
              <a:t>Contact Stress</a:t>
            </a:r>
          </a:p>
          <a:p>
            <a:pPr>
              <a:buFontTx/>
              <a:buChar char="-"/>
            </a:pPr>
            <a:r>
              <a:rPr lang="en-US" dirty="0"/>
              <a:t>Heavy shoulder bag + long duration</a:t>
            </a:r>
            <a:r>
              <a:rPr lang="en-IN" dirty="0"/>
              <a:t> </a:t>
            </a:r>
          </a:p>
          <a:p>
            <a:pPr>
              <a:buFontTx/>
              <a:buChar char="-"/>
            </a:pPr>
            <a:r>
              <a:rPr lang="en-IN" dirty="0"/>
              <a:t>wrist discomfort + prolonged riding</a:t>
            </a:r>
          </a:p>
          <a:p>
            <a:r>
              <a:rPr lang="en-US" b="1" dirty="0"/>
              <a:t>High Contact Stress</a:t>
            </a:r>
          </a:p>
          <a:p>
            <a:r>
              <a:rPr lang="en-US" dirty="0"/>
              <a:t>If:</a:t>
            </a:r>
          </a:p>
          <a:p>
            <a:pPr lvl="1"/>
            <a:r>
              <a:rPr lang="en-US" dirty="0"/>
              <a:t>heavy backpack </a:t>
            </a:r>
          </a:p>
          <a:p>
            <a:pPr lvl="1"/>
            <a:r>
              <a:rPr lang="en-US" dirty="0"/>
              <a:t>long riding hours </a:t>
            </a:r>
          </a:p>
          <a:p>
            <a:pPr lvl="1"/>
            <a:r>
              <a:rPr lang="en-US" dirty="0"/>
              <a:t>shoulder discomfort </a:t>
            </a:r>
          </a:p>
          <a:p>
            <a:pPr lvl="1"/>
            <a:r>
              <a:rPr lang="en-US" dirty="0"/>
              <a:t>no breaks</a:t>
            </a:r>
          </a:p>
          <a:p>
            <a:pPr lvl="1"/>
            <a:endParaRPr lang="en-US" dirty="0"/>
          </a:p>
          <a:p>
            <a:pPr>
              <a:buFontTx/>
              <a:buChar char="-"/>
            </a:pPr>
            <a:endParaRPr lang="en-IN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AA4B95D-37AD-4658-8C25-DEE885B8A9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2399679"/>
              </p:ext>
            </p:extLst>
          </p:nvPr>
        </p:nvGraphicFramePr>
        <p:xfrm>
          <a:off x="3883152" y="3602736"/>
          <a:ext cx="5114544" cy="2374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7272">
                  <a:extLst>
                    <a:ext uri="{9D8B030D-6E8A-4147-A177-3AD203B41FA5}">
                      <a16:colId xmlns:a16="http://schemas.microsoft.com/office/drawing/2014/main" val="3255292198"/>
                    </a:ext>
                  </a:extLst>
                </a:gridCol>
                <a:gridCol w="2557272">
                  <a:extLst>
                    <a:ext uri="{9D8B030D-6E8A-4147-A177-3AD203B41FA5}">
                      <a16:colId xmlns:a16="http://schemas.microsoft.com/office/drawing/2014/main" val="4194436169"/>
                    </a:ext>
                  </a:extLst>
                </a:gridCol>
              </a:tblGrid>
              <a:tr h="453834">
                <a:tc>
                  <a:txBody>
                    <a:bodyPr/>
                    <a:lstStyle/>
                    <a:p>
                      <a:r>
                        <a:rPr lang="en-IN" dirty="0"/>
                        <a:t>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Contact Stress Risk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2882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Low load + short 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6490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Medium load + moderate duration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Medium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8215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Heavy load + long duration + pain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4908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2277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7B55D-1482-D967-7BA6-23EF4AC2F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A9CD5-CDB0-550A-2310-48EA0D1BC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Measurement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90EAC-E86F-7E7E-DBC9-37542A79E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600200"/>
            <a:ext cx="9198864" cy="4525963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IN" b="1" dirty="0"/>
              <a:t>Vibration</a:t>
            </a:r>
            <a:r>
              <a:rPr lang="en-IN" dirty="0"/>
              <a:t> </a:t>
            </a:r>
          </a:p>
          <a:p>
            <a:pPr>
              <a:buFontTx/>
              <a:buChar char="-"/>
            </a:pPr>
            <a:r>
              <a:rPr lang="en-IN" dirty="0"/>
              <a:t>Exposure index(riding duration + vehicle type )</a:t>
            </a:r>
          </a:p>
          <a:p>
            <a:pPr>
              <a:buFontTx/>
              <a:buChar char="-"/>
            </a:pPr>
            <a:r>
              <a:rPr lang="en-IN" dirty="0"/>
              <a:t>Exposure Index = duration + intensity + frequency workload</a:t>
            </a:r>
          </a:p>
          <a:p>
            <a:pPr>
              <a:buFontTx/>
              <a:buChar char="-"/>
            </a:pPr>
            <a:r>
              <a:rPr lang="en-IN" b="1" dirty="0"/>
              <a:t>Vehicle-Based Vibration Weight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C0B679A-8238-2173-CD82-5D043C57BC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4992052"/>
              </p:ext>
            </p:extLst>
          </p:nvPr>
        </p:nvGraphicFramePr>
        <p:xfrm>
          <a:off x="1103376" y="4516120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48771108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7940221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Vehicle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Vibration Weight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5305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Bicycle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9971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Scooter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49195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Motorcycle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07455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23080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2817C-3FF8-1D73-821A-ACFF1509C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FA4DB-435A-471A-5580-A6EAC734D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Measurement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58027E-EFF3-DFC6-1571-346872F287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600200"/>
            <a:ext cx="9198864" cy="4525963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b="1" dirty="0"/>
              <a:t>Repetition</a:t>
            </a:r>
            <a:r>
              <a:rPr dirty="0"/>
              <a:t> </a:t>
            </a:r>
            <a:endParaRPr lang="en-US" dirty="0"/>
          </a:p>
          <a:p>
            <a:pPr>
              <a:buFontTx/>
              <a:buChar char="-"/>
            </a:pPr>
            <a:r>
              <a:rPr dirty="0"/>
              <a:t>Task frequency/minute</a:t>
            </a:r>
            <a:r>
              <a:rPr lang="en-US" dirty="0"/>
              <a:t>(can derive from work frequency/exposure)</a:t>
            </a:r>
          </a:p>
          <a:p>
            <a:pPr>
              <a:buFontTx/>
              <a:buChar char="-"/>
            </a:pPr>
            <a:r>
              <a:rPr lang="en-US" dirty="0"/>
              <a:t>Repetition Index = Deliveries Per Day​/ Work Hours</a:t>
            </a:r>
          </a:p>
          <a:p>
            <a:pPr>
              <a:buFontTx/>
              <a:buChar char="-"/>
            </a:pPr>
            <a:r>
              <a:rPr lang="en-US" dirty="0"/>
              <a:t>higher delivery frequency per hour leads higher repetition exposure.</a:t>
            </a:r>
          </a:p>
          <a:p>
            <a:pPr>
              <a:buFontTx/>
              <a:buChar char="-"/>
            </a:pPr>
            <a:r>
              <a:rPr lang="en-US" dirty="0"/>
              <a:t>Ex: 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FD47CD3-130C-9FCE-A88E-ADE2A3114F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5026954"/>
              </p:ext>
            </p:extLst>
          </p:nvPr>
        </p:nvGraphicFramePr>
        <p:xfrm>
          <a:off x="2819400" y="5100002"/>
          <a:ext cx="6096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86666103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54096050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9259164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Deliveries/Day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Work Hours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Repetition Risk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3008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2883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Medium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4602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50900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89756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Simplified Workflow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645920"/>
            <a:ext cx="3755195" cy="48013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dirty="0"/>
              <a:t>Data collection</a:t>
            </a:r>
            <a:endParaRPr dirty="0"/>
          </a:p>
          <a:p>
            <a:r>
              <a:rPr dirty="0"/>
              <a:t>      ↓</a:t>
            </a:r>
          </a:p>
          <a:p>
            <a:r>
              <a:rPr dirty="0"/>
              <a:t>Data Cleaning</a:t>
            </a:r>
          </a:p>
          <a:p>
            <a:r>
              <a:rPr dirty="0"/>
              <a:t>      ↓</a:t>
            </a:r>
            <a:endParaRPr lang="en-US" dirty="0"/>
          </a:p>
          <a:p>
            <a:r>
              <a:rPr lang="en-US" dirty="0"/>
              <a:t>Data preprocessing </a:t>
            </a:r>
          </a:p>
          <a:p>
            <a:r>
              <a:rPr lang="en-IN" dirty="0"/>
              <a:t>      ↓</a:t>
            </a:r>
          </a:p>
          <a:p>
            <a:r>
              <a:rPr lang="en-IN" dirty="0"/>
              <a:t>Feature engineering</a:t>
            </a:r>
          </a:p>
          <a:p>
            <a:r>
              <a:rPr lang="en-IN" dirty="0"/>
              <a:t>      ↓</a:t>
            </a:r>
            <a:endParaRPr dirty="0"/>
          </a:p>
          <a:p>
            <a:r>
              <a:rPr lang="en-US" dirty="0"/>
              <a:t>Exploratory </a:t>
            </a:r>
            <a:r>
              <a:rPr dirty="0"/>
              <a:t>Data Analysis</a:t>
            </a:r>
          </a:p>
          <a:p>
            <a:r>
              <a:rPr dirty="0"/>
              <a:t>      ↓</a:t>
            </a:r>
          </a:p>
          <a:p>
            <a:r>
              <a:rPr dirty="0"/>
              <a:t>Relationship Analysis</a:t>
            </a:r>
          </a:p>
          <a:p>
            <a:r>
              <a:rPr dirty="0"/>
              <a:t>      ↓</a:t>
            </a:r>
          </a:p>
          <a:p>
            <a:r>
              <a:rPr dirty="0"/>
              <a:t>AI/ML Modeling</a:t>
            </a:r>
          </a:p>
          <a:p>
            <a:r>
              <a:rPr dirty="0"/>
              <a:t>      ↓</a:t>
            </a:r>
          </a:p>
          <a:p>
            <a:r>
              <a:rPr dirty="0"/>
              <a:t>Prediction of 6 Ergonomic Risk Factors</a:t>
            </a:r>
          </a:p>
          <a:p>
            <a:r>
              <a:rPr dirty="0"/>
              <a:t>      ↓</a:t>
            </a:r>
          </a:p>
          <a:p>
            <a:r>
              <a:rPr dirty="0"/>
              <a:t>Visualization &amp; Reporting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Input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Work hours</a:t>
            </a:r>
          </a:p>
          <a:p>
            <a:r>
              <a:rPr lang="en-IN" dirty="0"/>
              <a:t>Riding duration</a:t>
            </a:r>
          </a:p>
          <a:p>
            <a:r>
              <a:rPr lang="en-IN" dirty="0"/>
              <a:t>Deliveries/day</a:t>
            </a:r>
          </a:p>
          <a:p>
            <a:r>
              <a:rPr lang="en-IN" dirty="0"/>
              <a:t>NASA-TLX workload scores</a:t>
            </a:r>
          </a:p>
          <a:p>
            <a:r>
              <a:rPr lang="en-IN" dirty="0"/>
              <a:t>Borg fatigue scores</a:t>
            </a:r>
          </a:p>
          <a:p>
            <a:r>
              <a:rPr lang="en-IN" dirty="0"/>
              <a:t>Posture scores</a:t>
            </a:r>
          </a:p>
          <a:p>
            <a:r>
              <a:rPr lang="en-IN" dirty="0"/>
              <a:t>Body pain indicators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790F3-65CA-A9C7-6641-4430E4453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65E74-A1C1-9404-0BD5-5878DBB6B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Prediction Targets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55AF3-1F6A-2734-6A7D-977CCBD715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Predict Force Risk</a:t>
            </a:r>
          </a:p>
          <a:p>
            <a:r>
              <a:rPr dirty="0"/>
              <a:t>Predict Repetition Risk</a:t>
            </a:r>
          </a:p>
          <a:p>
            <a:r>
              <a:rPr dirty="0"/>
              <a:t>Predict Awkward Posture Risk</a:t>
            </a:r>
          </a:p>
          <a:p>
            <a:r>
              <a:rPr dirty="0"/>
              <a:t>Predict Static Posture Risk</a:t>
            </a:r>
          </a:p>
          <a:p>
            <a:r>
              <a:rPr dirty="0"/>
              <a:t>Predict Contact Stress Risk</a:t>
            </a:r>
          </a:p>
          <a:p>
            <a:r>
              <a:rPr dirty="0"/>
              <a:t>Predict Vibration Risk</a:t>
            </a:r>
          </a:p>
        </p:txBody>
      </p:sp>
    </p:spTree>
    <p:extLst>
      <p:ext uri="{BB962C8B-B14F-4D97-AF65-F5344CB8AC3E}">
        <p14:creationId xmlns:p14="http://schemas.microsoft.com/office/powerpoint/2010/main" val="18156470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Understanding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Identify scales and target variables</a:t>
            </a:r>
          </a:p>
          <a:p>
            <a:r>
              <a:rPr dirty="0"/>
              <a:t>Categorize numerical and categorical data</a:t>
            </a:r>
          </a:p>
          <a:p>
            <a:r>
              <a:rPr dirty="0"/>
              <a:t>Prepare data dictionary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31B2395-54D5-B67A-F8EB-611E077999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9632960"/>
              </p:ext>
            </p:extLst>
          </p:nvPr>
        </p:nvGraphicFramePr>
        <p:xfrm>
          <a:off x="1524000" y="3517074"/>
          <a:ext cx="6096000" cy="296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420516059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7015063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Examples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5052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Demographic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Age, Gender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1207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Workload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NASA-TLX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3080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Fatigue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Borg Scale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4514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Exposure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Work Hours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0292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Posture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RULA/REBA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1037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Discomfort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Body Pain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41303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Ergonomic Factors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Force, Vibration etc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22335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Data Cleaning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Handle missing values</a:t>
            </a:r>
          </a:p>
          <a:p>
            <a:r>
              <a:rPr dirty="0"/>
              <a:t>Remove duplicates</a:t>
            </a:r>
          </a:p>
          <a:p>
            <a:r>
              <a:rPr dirty="0"/>
              <a:t>Standardize scales and values</a:t>
            </a:r>
          </a:p>
          <a:p>
            <a:r>
              <a:rPr dirty="0"/>
              <a:t>Convert categorical data into structured format</a:t>
            </a:r>
            <a:endParaRPr lang="en-US" dirty="0"/>
          </a:p>
          <a:p>
            <a:r>
              <a:rPr lang="en-US" dirty="0"/>
              <a:t>Ex: </a:t>
            </a:r>
            <a:r>
              <a:rPr lang="en-IN" sz="2400" dirty="0"/>
              <a:t>Standardization</a:t>
            </a:r>
            <a:r>
              <a:rPr lang="en-US" dirty="0"/>
              <a:t>	</a:t>
            </a:r>
            <a:r>
              <a:rPr lang="en-US" sz="2400" dirty="0"/>
              <a:t>High -&gt; 3</a:t>
            </a:r>
          </a:p>
          <a:p>
            <a:pPr marL="2286000" lvl="5" indent="0">
              <a:buNone/>
            </a:pPr>
            <a:r>
              <a:rPr lang="en-US" dirty="0"/>
              <a:t>	 	Medium  -&gt; 2</a:t>
            </a:r>
          </a:p>
          <a:p>
            <a:pPr marL="2286000" lvl="5" indent="0">
              <a:buNone/>
            </a:pPr>
            <a:r>
              <a:rPr lang="en-US" dirty="0"/>
              <a:t>	 	Low -&gt; 1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55B86-0D4B-AACB-7511-E36A9224B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E46D1-F33E-FB39-723D-8233C927D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7D08F-6DE2-9E67-432C-21BE62A847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8448"/>
            <a:ext cx="8229600" cy="4525963"/>
          </a:xfrm>
        </p:spPr>
        <p:txBody>
          <a:bodyPr>
            <a:normAutofit/>
          </a:bodyPr>
          <a:lstStyle/>
          <a:p>
            <a:r>
              <a:rPr lang="en-IN" dirty="0"/>
              <a:t>Borg Scale Standardization: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IN" dirty="0"/>
              <a:t>NASA-TLX Cleaning</a:t>
            </a:r>
            <a:endParaRPr lang="en-US" dirty="0"/>
          </a:p>
          <a:p>
            <a:pPr marL="1828800" lvl="4" indent="0">
              <a:buNone/>
            </a:pPr>
            <a:r>
              <a:rPr lang="en-US" dirty="0"/>
              <a:t>		High Workload</a:t>
            </a:r>
          </a:p>
          <a:p>
            <a:r>
              <a:rPr lang="en-US" dirty="0"/>
              <a:t>        					↓</a:t>
            </a:r>
          </a:p>
          <a:p>
            <a:pPr marL="1371600" lvl="3" indent="0">
              <a:buNone/>
            </a:pPr>
            <a:r>
              <a:rPr lang="en-US" dirty="0"/>
              <a:t>	Convert into numerical workload score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0D0660-3D50-0F21-590C-69FDE50D2985}"/>
              </a:ext>
            </a:extLst>
          </p:cNvPr>
          <p:cNvSpPr txBox="1"/>
          <p:nvPr/>
        </p:nvSpPr>
        <p:spPr>
          <a:xfrm>
            <a:off x="2734056" y="1951672"/>
            <a:ext cx="244144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Very Low  	→ 1</a:t>
            </a:r>
          </a:p>
          <a:p>
            <a:r>
              <a:rPr lang="en-IN" dirty="0"/>
              <a:t>Low      	 	→ 2</a:t>
            </a:r>
          </a:p>
          <a:p>
            <a:r>
              <a:rPr lang="en-IN" dirty="0"/>
              <a:t>Medium    	→ 3</a:t>
            </a:r>
          </a:p>
          <a:p>
            <a:r>
              <a:rPr lang="en-IN" dirty="0"/>
              <a:t>High           	→ 4</a:t>
            </a:r>
          </a:p>
          <a:p>
            <a:r>
              <a:rPr lang="en-IN" dirty="0"/>
              <a:t>Very High  	→ 5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D459DF9-12DF-488C-BF89-161E778F3F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0137" y="3911378"/>
            <a:ext cx="3203490" cy="8435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3F226F5-1BB3-10BE-E788-30247CE93C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5821" y="2117820"/>
            <a:ext cx="3624418" cy="843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1785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67006-0AFF-0C98-986E-A42902B61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D0608-2D89-4142-A379-097E7C1ED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FE435F-8749-A351-AA22-94EF9D654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8448"/>
            <a:ext cx="8229600" cy="4525963"/>
          </a:xfrm>
        </p:spPr>
        <p:txBody>
          <a:bodyPr>
            <a:normAutofit/>
          </a:bodyPr>
          <a:lstStyle/>
          <a:p>
            <a:r>
              <a:rPr lang="en-IN" dirty="0"/>
              <a:t>Categorical Encoding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IN" dirty="0"/>
              <a:t>Work Exposure Cleaning</a:t>
            </a:r>
          </a:p>
          <a:p>
            <a:pPr marL="1828800" lvl="4" indent="0">
              <a:buNone/>
            </a:pPr>
            <a:r>
              <a:rPr lang="en-US" dirty="0"/>
              <a:t>	  “ 8-10 </a:t>
            </a:r>
            <a:r>
              <a:rPr lang="en-US" dirty="0" err="1"/>
              <a:t>hrs</a:t>
            </a:r>
            <a:r>
              <a:rPr lang="en-US" dirty="0"/>
              <a:t> ”</a:t>
            </a:r>
          </a:p>
          <a:p>
            <a:pPr marL="1828800" lvl="4" indent="0">
              <a:buNone/>
            </a:pPr>
            <a:r>
              <a:rPr lang="en-US" dirty="0"/>
              <a:t>      		↓</a:t>
            </a:r>
          </a:p>
          <a:p>
            <a:pPr marL="1828800" lvl="4" indent="0">
              <a:buNone/>
            </a:pPr>
            <a:r>
              <a:rPr lang="en-US" dirty="0"/>
              <a:t>		9 </a:t>
            </a:r>
            <a:r>
              <a:rPr lang="en-US" dirty="0" err="1"/>
              <a:t>hrs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766ADB-D9CE-45A1-01D1-5476D33E3D35}"/>
              </a:ext>
            </a:extLst>
          </p:cNvPr>
          <p:cNvSpPr txBox="1"/>
          <p:nvPr/>
        </p:nvSpPr>
        <p:spPr>
          <a:xfrm>
            <a:off x="2734056" y="1951672"/>
            <a:ext cx="24414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Bike      → 1</a:t>
            </a:r>
          </a:p>
          <a:p>
            <a:r>
              <a:rPr lang="en-IN" dirty="0"/>
              <a:t>Scooter   → 2</a:t>
            </a:r>
          </a:p>
          <a:p>
            <a:r>
              <a:rPr lang="en-IN" dirty="0"/>
              <a:t>Bicycle   → 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24ACBB-377C-F8FF-B844-6F5444E94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9489" y="3591234"/>
            <a:ext cx="2067213" cy="1476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821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9725"/>
            <a:ext cx="8229600" cy="4525963"/>
          </a:xfrm>
        </p:spPr>
        <p:txBody>
          <a:bodyPr>
            <a:normAutofit fontScale="92500"/>
          </a:bodyPr>
          <a:lstStyle/>
          <a:p>
            <a:r>
              <a:rPr dirty="0"/>
              <a:t>Scaling and normalization</a:t>
            </a:r>
          </a:p>
          <a:p>
            <a:r>
              <a:rPr dirty="0"/>
              <a:t>Preparing ML-ready dataset</a:t>
            </a:r>
            <a:endParaRPr lang="en-US" dirty="0"/>
          </a:p>
          <a:p>
            <a:r>
              <a:rPr lang="en-US" dirty="0"/>
              <a:t>Categorical variables are encoded into numerical format</a:t>
            </a:r>
          </a:p>
          <a:p>
            <a:r>
              <a:rPr lang="en-US" dirty="0"/>
              <a:t>Yes/No variables are converted into binary values</a:t>
            </a:r>
          </a:p>
          <a:p>
            <a:r>
              <a:rPr lang="en-US" dirty="0"/>
              <a:t>Workload and exposure variables are normalized</a:t>
            </a:r>
          </a:p>
          <a:p>
            <a:r>
              <a:rPr lang="en-US" dirty="0"/>
              <a:t>Input features and target variables are separated for model training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9289C-2B3E-9C8B-7A47-E6AAC1E4E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9A70D-9C65-3B10-2AC8-DE8A1DA555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Data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59FC5-8239-993C-57CD-6904130B0E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b="1" dirty="0"/>
              <a:t>Binary Conversion: 	</a:t>
            </a:r>
          </a:p>
          <a:p>
            <a:pPr marL="1828800" lvl="4" indent="0">
              <a:buNone/>
            </a:pPr>
            <a:r>
              <a:rPr lang="en-IN" b="1" dirty="0"/>
              <a:t>Yes → 1</a:t>
            </a:r>
          </a:p>
          <a:p>
            <a:pPr marL="1828800" lvl="4" indent="0">
              <a:buNone/>
            </a:pPr>
            <a:r>
              <a:rPr lang="en-IN" b="1" dirty="0"/>
              <a:t>No  → 0</a:t>
            </a:r>
          </a:p>
          <a:p>
            <a:pPr marL="1828800" lvl="4" indent="0">
              <a:buNone/>
            </a:pPr>
            <a:endParaRPr lang="en-IN" b="1" dirty="0"/>
          </a:p>
          <a:p>
            <a:pPr marL="1828800" lvl="4" indent="0">
              <a:buNone/>
            </a:pPr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4087509-6338-9D70-BEF8-AC24FD80A9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472"/>
          <a:stretch>
            <a:fillRect/>
          </a:stretch>
        </p:blipFill>
        <p:spPr>
          <a:xfrm>
            <a:off x="4837176" y="1741135"/>
            <a:ext cx="3285808" cy="21176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E728207-29E4-D907-B025-B4257EDB74F7}"/>
              </a:ext>
            </a:extLst>
          </p:cNvPr>
          <p:cNvSpPr txBox="1"/>
          <p:nvPr/>
        </p:nvSpPr>
        <p:spPr>
          <a:xfrm>
            <a:off x="768096" y="3858768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Ergonomic Risk Categorization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430F00-2401-EE5D-8939-BFB6E51B8AF8}"/>
              </a:ext>
            </a:extLst>
          </p:cNvPr>
          <p:cNvSpPr txBox="1"/>
          <p:nvPr/>
        </p:nvSpPr>
        <p:spPr>
          <a:xfrm>
            <a:off x="2286000" y="4530800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Low Risk    → 0</a:t>
            </a:r>
          </a:p>
          <a:p>
            <a:r>
              <a:rPr lang="en-IN" dirty="0"/>
              <a:t>Medium Risk → 1</a:t>
            </a:r>
          </a:p>
          <a:p>
            <a:r>
              <a:rPr lang="en-IN" dirty="0"/>
              <a:t>High Risk   → 2</a:t>
            </a:r>
          </a:p>
        </p:txBody>
      </p:sp>
    </p:spTree>
    <p:extLst>
      <p:ext uri="{BB962C8B-B14F-4D97-AF65-F5344CB8AC3E}">
        <p14:creationId xmlns:p14="http://schemas.microsoft.com/office/powerpoint/2010/main" val="8472960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Transform raw rider responses into meaningful ergonomic risk representations</a:t>
            </a:r>
          </a:p>
          <a:p>
            <a:r>
              <a:rPr lang="en-IN" dirty="0"/>
              <a:t>Construct repetition, vibration, and contact stress exposure variables</a:t>
            </a:r>
            <a:endParaRPr lang="en-US" dirty="0"/>
          </a:p>
          <a:p>
            <a:r>
              <a:rPr dirty="0"/>
              <a:t>Generate exposure index</a:t>
            </a:r>
          </a:p>
          <a:p>
            <a:r>
              <a:rPr dirty="0"/>
              <a:t>Create posture risk scores</a:t>
            </a:r>
          </a:p>
          <a:p>
            <a:r>
              <a:rPr dirty="0"/>
              <a:t>Build ergonomic severity levels</a:t>
            </a:r>
            <a:endParaRPr lang="en-US" dirty="0"/>
          </a:p>
          <a:p>
            <a:r>
              <a:rPr lang="en-US" dirty="0"/>
              <a:t>Generate feature sets for prediction of 6 ergonomic risk factors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1C0C9-5BC3-985E-2AB7-B60544EB7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001DD-EA8A-1FF1-489D-F3E86D4CA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Feature Engineering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DB63BA-EBB2-22F0-7FF2-238E7CAB86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IN" sz="2000" b="1" dirty="0"/>
                  <a:t>Repetition Feature Engineering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IN" sz="2000"/>
                        <m:t>Repetition</m:t>
                      </m:r>
                      <m:r>
                        <m:rPr>
                          <m:nor/>
                        </m:rPr>
                        <a:rPr lang="en-IN" sz="2000" i="1"/>
                        <m:t> </m:t>
                      </m:r>
                      <m:r>
                        <m:rPr>
                          <m:nor/>
                        </m:rPr>
                        <a:rPr lang="en-IN" sz="2000" i="1"/>
                        <m:t>Index</m:t>
                      </m:r>
                      <m:r>
                        <a:rPr lang="en-IN" sz="200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sz="2000" i="1"/>
                            <m:t>Deliveries</m:t>
                          </m:r>
                          <m:r>
                            <m:rPr>
                              <m:nor/>
                            </m:rPr>
                            <a:rPr lang="en-IN" sz="2000" i="1"/>
                            <m:t> </m:t>
                          </m:r>
                          <m:r>
                            <m:rPr>
                              <m:nor/>
                            </m:rPr>
                            <a:rPr lang="en-IN" sz="2000" i="1"/>
                            <m:t>Per</m:t>
                          </m:r>
                          <m:r>
                            <m:rPr>
                              <m:nor/>
                            </m:rPr>
                            <a:rPr lang="en-IN" sz="2000" i="1"/>
                            <m:t> </m:t>
                          </m:r>
                          <m:r>
                            <m:rPr>
                              <m:nor/>
                            </m:rPr>
                            <a:rPr lang="en-IN" sz="2000" i="1"/>
                            <m:t>Day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IN" sz="2000" i="1"/>
                            <m:t>Work</m:t>
                          </m:r>
                          <m:r>
                            <m:rPr>
                              <m:nor/>
                            </m:rPr>
                            <a:rPr lang="en-IN" sz="2000" i="1"/>
                            <m:t> </m:t>
                          </m:r>
                          <m:r>
                            <m:rPr>
                              <m:nor/>
                            </m:rPr>
                            <a:rPr lang="en-IN" sz="2000" i="1"/>
                            <m:t>Hours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  <a:p>
                <a:pPr marL="457200" lvl="1" indent="0">
                  <a:buNone/>
                </a:pPr>
                <a:endParaRPr lang="en-US" sz="2000" dirty="0"/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IN" sz="2000" b="1" dirty="0"/>
                  <a:t>Vibration Feature Engineering</a:t>
                </a:r>
              </a:p>
              <a:p>
                <a:pPr marL="457200" lvl="1" indent="0">
                  <a:buNone/>
                </a:pPr>
                <a:r>
                  <a:rPr lang="en-US" sz="2000" dirty="0"/>
                  <a:t>Vibration Exposure Index = Riding Duration × Vehicle Weight Factor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IN" sz="2000" b="1" dirty="0"/>
                  <a:t>Awkward Posture Feature Engineering: </a:t>
                </a:r>
                <a:r>
                  <a:rPr lang="en-IN" sz="2000" dirty="0"/>
                  <a:t>by </a:t>
                </a:r>
                <a:r>
                  <a:rPr lang="en-IN" sz="2000" dirty="0" err="1"/>
                  <a:t>reba</a:t>
                </a:r>
                <a:r>
                  <a:rPr lang="en-IN" sz="2000" dirty="0"/>
                  <a:t> and </a:t>
                </a:r>
                <a:r>
                  <a:rPr lang="en-IN" sz="2000" dirty="0" err="1"/>
                  <a:t>rula</a:t>
                </a:r>
                <a:endParaRPr lang="en-IN" sz="2000" dirty="0"/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IN" sz="2000" b="1" dirty="0"/>
                  <a:t>Static Posture Feature Engineering: </a:t>
                </a:r>
                <a:r>
                  <a:rPr lang="en-IN" sz="2000" dirty="0"/>
                  <a:t>continuous sitting duration </a:t>
                </a:r>
                <a:endParaRPr lang="en-IN" sz="2000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4DB63BA-EBB2-22F0-7FF2-238E7CAB86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80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2F4C8948-DA12-D326-83DA-AB2217A89E6B}"/>
              </a:ext>
            </a:extLst>
          </p:cNvPr>
          <p:cNvSpPr txBox="1"/>
          <p:nvPr/>
        </p:nvSpPr>
        <p:spPr>
          <a:xfrm>
            <a:off x="923544" y="4523927"/>
            <a:ext cx="4572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Engineered Features Created:</a:t>
            </a:r>
          </a:p>
          <a:p>
            <a:r>
              <a:rPr lang="en-IN" dirty="0"/>
              <a:t>- Repetition Index</a:t>
            </a:r>
          </a:p>
          <a:p>
            <a:r>
              <a:rPr lang="en-IN" dirty="0"/>
              <a:t>- Vibration Exposure Index</a:t>
            </a:r>
          </a:p>
          <a:p>
            <a:r>
              <a:rPr lang="en-IN" dirty="0"/>
              <a:t>- Force Exposure Score</a:t>
            </a:r>
          </a:p>
          <a:p>
            <a:r>
              <a:rPr lang="en-IN" dirty="0"/>
              <a:t>- Static Posture Exposure</a:t>
            </a:r>
          </a:p>
          <a:p>
            <a:r>
              <a:rPr lang="en-IN" dirty="0"/>
              <a:t>- Ergonomic Severity Level</a:t>
            </a:r>
          </a:p>
          <a:p>
            <a:r>
              <a:rPr lang="en-IN" dirty="0"/>
              <a:t>- Overall Workload Score</a:t>
            </a:r>
          </a:p>
        </p:txBody>
      </p:sp>
    </p:spTree>
    <p:extLst>
      <p:ext uri="{BB962C8B-B14F-4D97-AF65-F5344CB8AC3E}">
        <p14:creationId xmlns:p14="http://schemas.microsoft.com/office/powerpoint/2010/main" val="6481744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CD9C9-ED49-32EE-466A-6C41576C1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A511E-8D8C-FAB6-C1B2-71A9D87D3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A3606E-F420-A88A-5509-6D61D1AEB2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IN" b="1" dirty="0"/>
              <a:t>Cumulative Exposure </a:t>
            </a:r>
            <a:r>
              <a:rPr lang="en-IN" b="1" dirty="0" err="1"/>
              <a:t>Modeling</a:t>
            </a:r>
            <a:r>
              <a:rPr lang="en-IN" b="1" dirty="0"/>
              <a:t>:</a:t>
            </a:r>
          </a:p>
          <a:p>
            <a:r>
              <a:rPr lang="en-IN" b="1" dirty="0"/>
              <a:t>Goal:</a:t>
            </a:r>
          </a:p>
          <a:p>
            <a:pPr marL="0" indent="0">
              <a:buNone/>
            </a:pPr>
            <a:r>
              <a:rPr lang="en-IN" dirty="0"/>
              <a:t>	Combine multiple workload and exposure variables into cumulative ergonomic exposure features.</a:t>
            </a:r>
          </a:p>
          <a:p>
            <a:endParaRPr lang="en-IN" b="1" dirty="0"/>
          </a:p>
          <a:p>
            <a:r>
              <a:rPr lang="en-IN" b="1" dirty="0"/>
              <a:t>Input Variables Considered:</a:t>
            </a:r>
          </a:p>
          <a:p>
            <a:r>
              <a:rPr lang="en-IN" dirty="0"/>
              <a:t>- work hours</a:t>
            </a:r>
          </a:p>
          <a:p>
            <a:r>
              <a:rPr lang="en-IN" dirty="0"/>
              <a:t>- riding duration</a:t>
            </a:r>
          </a:p>
          <a:p>
            <a:r>
              <a:rPr lang="en-IN" dirty="0"/>
              <a:t>- fatigue score</a:t>
            </a:r>
          </a:p>
          <a:p>
            <a:r>
              <a:rPr lang="en-IN" dirty="0"/>
              <a:t>- deliveries/day</a:t>
            </a:r>
          </a:p>
          <a:p>
            <a:r>
              <a:rPr lang="en-IN" dirty="0"/>
              <a:t>- workload score</a:t>
            </a:r>
          </a:p>
          <a:p>
            <a:r>
              <a:rPr lang="en-IN" dirty="0"/>
              <a:t>posture score</a:t>
            </a:r>
          </a:p>
          <a:p>
            <a:endParaRPr lang="en-IN" b="1" dirty="0"/>
          </a:p>
          <a:p>
            <a:r>
              <a:rPr lang="en-IN" b="1" dirty="0"/>
              <a:t>Example: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work_hours</a:t>
            </a:r>
            <a:r>
              <a:rPr lang="en-IN" dirty="0"/>
              <a:t> × fatigue × </a:t>
            </a:r>
            <a:r>
              <a:rPr lang="en-IN" dirty="0" err="1"/>
              <a:t>riding_duration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	                	↓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cumulative_exposure_score</a:t>
            </a:r>
            <a:endParaRPr lang="en-IN" dirty="0"/>
          </a:p>
          <a:p>
            <a:endParaRPr lang="en-IN" b="1" dirty="0"/>
          </a:p>
          <a:p>
            <a:r>
              <a:rPr lang="en-IN" b="1" dirty="0"/>
              <a:t>Purpose:</a:t>
            </a:r>
          </a:p>
          <a:p>
            <a:pPr marL="0" indent="0">
              <a:buNone/>
            </a:pPr>
            <a:r>
              <a:rPr lang="en-IN" dirty="0"/>
              <a:t>	Identify riders with prolonged and combined ergonomic exposure conditions.</a:t>
            </a:r>
          </a:p>
        </p:txBody>
      </p:sp>
    </p:spTree>
    <p:extLst>
      <p:ext uri="{BB962C8B-B14F-4D97-AF65-F5344CB8AC3E}">
        <p14:creationId xmlns:p14="http://schemas.microsoft.com/office/powerpoint/2010/main" val="37942037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9368A-EBAC-0C79-F8F1-4D804B80D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2596D-EAFB-DD2C-B0F2-AD4A04ED4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561DD7-9019-5033-7AE0-EA43CFE80F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Anatomical Strain Index (ASI):</a:t>
            </a:r>
          </a:p>
          <a:p>
            <a:r>
              <a:rPr lang="en-US" b="1" dirty="0"/>
              <a:t>Combine:</a:t>
            </a:r>
          </a:p>
          <a:p>
            <a:pPr marL="0" indent="0">
              <a:buNone/>
            </a:pPr>
            <a:r>
              <a:rPr lang="en-US" dirty="0"/>
              <a:t> 						neck pain</a:t>
            </a:r>
          </a:p>
          <a:p>
            <a:pPr marL="0" indent="0">
              <a:buNone/>
            </a:pPr>
            <a:r>
              <a:rPr lang="en-US" dirty="0"/>
              <a:t>			 			shoulder pain</a:t>
            </a:r>
          </a:p>
          <a:p>
            <a:pPr marL="0" indent="0">
              <a:buNone/>
            </a:pPr>
            <a:r>
              <a:rPr lang="en-US" dirty="0"/>
              <a:t>					 lower back pain</a:t>
            </a:r>
          </a:p>
          <a:p>
            <a:pPr marL="0" indent="0">
              <a:buNone/>
            </a:pPr>
            <a:r>
              <a:rPr lang="en-US" dirty="0"/>
              <a:t> 					wrist discomfort</a:t>
            </a:r>
          </a:p>
          <a:p>
            <a:endParaRPr lang="en-US" dirty="0"/>
          </a:p>
          <a:p>
            <a:r>
              <a:rPr lang="en-US" dirty="0"/>
              <a:t>        					↓</a:t>
            </a:r>
          </a:p>
          <a:p>
            <a:endParaRPr lang="en-US" dirty="0"/>
          </a:p>
          <a:p>
            <a:pPr marL="2286000" lvl="5" indent="0">
              <a:buNone/>
            </a:pPr>
            <a:r>
              <a:rPr lang="en-US" dirty="0"/>
              <a:t>single ergonomic strain score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83183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Analyze workload, fatigue, and ergonomic exposure patterns</a:t>
            </a:r>
          </a:p>
          <a:p>
            <a:r>
              <a:rPr lang="en-US" dirty="0"/>
              <a:t>Identify high-risk rider exposure conditions </a:t>
            </a:r>
          </a:p>
          <a:p>
            <a:r>
              <a:rPr dirty="0"/>
              <a:t>Study fatigue and discomfort trends</a:t>
            </a:r>
          </a:p>
          <a:p>
            <a:r>
              <a:rPr dirty="0"/>
              <a:t>Visualize body pain prevalence</a:t>
            </a:r>
          </a:p>
          <a:p>
            <a:r>
              <a:rPr dirty="0"/>
              <a:t>Identify initial patterns and anomalies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13330-ABDE-02AB-CD82-7E7EA9718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02C23-4D60-58F9-8640-32AC22BFC2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Exploratory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8F7639-5140-5789-96A3-EF2BA40D4F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Workload Analysis:</a:t>
            </a:r>
          </a:p>
          <a:p>
            <a:pPr lvl="1"/>
            <a:r>
              <a:rPr lang="en-IN" dirty="0" err="1"/>
              <a:t>Analyze</a:t>
            </a:r>
            <a:r>
              <a:rPr lang="en-IN" dirty="0"/>
              <a:t>:</a:t>
            </a:r>
          </a:p>
          <a:p>
            <a:pPr lvl="2"/>
            <a:r>
              <a:rPr lang="en-IN" dirty="0"/>
              <a:t>NASA-TLX workload distribution </a:t>
            </a:r>
          </a:p>
          <a:p>
            <a:pPr lvl="2"/>
            <a:r>
              <a:rPr lang="en-IN" dirty="0"/>
              <a:t>physical demand </a:t>
            </a:r>
          </a:p>
          <a:p>
            <a:pPr lvl="2"/>
            <a:r>
              <a:rPr lang="en-IN" dirty="0"/>
              <a:t>stress levels </a:t>
            </a:r>
          </a:p>
          <a:p>
            <a:pPr lvl="2"/>
            <a:r>
              <a:rPr lang="en-IN" dirty="0"/>
              <a:t>work pressure </a:t>
            </a:r>
          </a:p>
          <a:p>
            <a:pPr lvl="2"/>
            <a:r>
              <a:rPr lang="en-IN" dirty="0"/>
              <a:t>fatigue trends </a:t>
            </a:r>
          </a:p>
          <a:p>
            <a:pPr marL="1828800" lvl="4" indent="0">
              <a:buNone/>
            </a:pPr>
            <a:r>
              <a:rPr lang="en-IN" dirty="0"/>
              <a:t>↓</a:t>
            </a:r>
          </a:p>
          <a:p>
            <a:pPr lvl="2"/>
            <a:r>
              <a:rPr lang="en-IN" dirty="0"/>
              <a:t>Identify: high workload rider groups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581484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42C1B-5911-5C7C-6E29-DC7EF81A1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E22BF-73B4-EA39-455A-28A1D6D76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Exploratory Data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34103E-5838-35DA-991C-8E3EF7B81E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dirty="0"/>
              <a:t>Fatigue &amp; Exhaustion Analysis: </a:t>
            </a:r>
            <a:r>
              <a:rPr lang="en-IN" dirty="0"/>
              <a:t>high fatigue exposure patterns</a:t>
            </a:r>
          </a:p>
          <a:p>
            <a:r>
              <a:rPr lang="en-IN" b="1" dirty="0"/>
              <a:t>Repetition &amp; Exposure Analysis : </a:t>
            </a:r>
            <a:r>
              <a:rPr lang="en-IN" dirty="0"/>
              <a:t>high repetition exposure groups</a:t>
            </a:r>
          </a:p>
          <a:p>
            <a:r>
              <a:rPr lang="en-IN" b="1" dirty="0"/>
              <a:t>Static Posture Analysis : </a:t>
            </a:r>
            <a:r>
              <a:rPr lang="en-IN" dirty="0"/>
              <a:t>prolonged posture exposure</a:t>
            </a:r>
          </a:p>
          <a:p>
            <a:r>
              <a:rPr lang="en-IN" b="1" dirty="0"/>
              <a:t>Contact Stress Analysis: </a:t>
            </a:r>
            <a:r>
              <a:rPr lang="en-IN" dirty="0"/>
              <a:t>localized contact stress patterns</a:t>
            </a:r>
          </a:p>
          <a:p>
            <a:r>
              <a:rPr lang="en-IN" b="1" dirty="0"/>
              <a:t>Vibration Exposure Analysis: </a:t>
            </a:r>
            <a:r>
              <a:rPr lang="en-IN" dirty="0"/>
              <a:t>high vibration exposure conditions</a:t>
            </a:r>
          </a:p>
        </p:txBody>
      </p:sp>
    </p:spTree>
    <p:extLst>
      <p:ext uri="{BB962C8B-B14F-4D97-AF65-F5344CB8AC3E}">
        <p14:creationId xmlns:p14="http://schemas.microsoft.com/office/powerpoint/2010/main" val="35138643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Relationship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5259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Analyze relationships between workload, fatigue, discomfort, and ergonomic exposure variables</a:t>
            </a:r>
          </a:p>
          <a:p>
            <a:r>
              <a:rPr lang="en-US" dirty="0"/>
              <a:t>study interaction between posture, vibration, force, and fatigue variables</a:t>
            </a:r>
          </a:p>
          <a:p>
            <a:r>
              <a:rPr lang="en-IN" dirty="0"/>
              <a:t>Work hours vs fatigue</a:t>
            </a:r>
            <a:endParaRPr dirty="0"/>
          </a:p>
          <a:p>
            <a:r>
              <a:rPr dirty="0"/>
              <a:t>Force vs discomfort</a:t>
            </a:r>
          </a:p>
          <a:p>
            <a:r>
              <a:rPr dirty="0"/>
              <a:t>Repetition vs pain</a:t>
            </a:r>
          </a:p>
          <a:p>
            <a:r>
              <a:rPr dirty="0"/>
              <a:t>Vibration vs lower back pain</a:t>
            </a:r>
          </a:p>
          <a:p>
            <a:r>
              <a:rPr dirty="0"/>
              <a:t>Posture risk vs exhaustion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4D701-6703-2882-2B2F-8DE537942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0A77F-488C-188D-B54A-08C82ABC1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Relationship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C6664-1F4B-D662-EE19-E03106407C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dirty="0"/>
              <a:t>Workload vs Fatigue: </a:t>
            </a:r>
            <a:r>
              <a:rPr lang="en-US" dirty="0"/>
              <a:t>high workload → increased fatigue exposure</a:t>
            </a:r>
          </a:p>
          <a:p>
            <a:pPr marL="0" indent="0">
              <a:buNone/>
            </a:pPr>
            <a:r>
              <a:rPr lang="en-IN" b="1" dirty="0"/>
              <a:t>Force vs Discomfort</a:t>
            </a:r>
            <a:r>
              <a:rPr lang="en-IN" dirty="0"/>
              <a:t>: </a:t>
            </a:r>
            <a:r>
              <a:rPr lang="en-US" dirty="0"/>
              <a:t>higher force exposure → higher discomfort risk</a:t>
            </a:r>
          </a:p>
          <a:p>
            <a:pPr marL="0" indent="0">
              <a:buNone/>
            </a:pPr>
            <a:r>
              <a:rPr lang="en-IN" b="1" dirty="0"/>
              <a:t>Repetition vs Pain: </a:t>
            </a:r>
            <a:r>
              <a:rPr lang="en-US" dirty="0"/>
              <a:t>continuous repetitive work → increased pain prevalence</a:t>
            </a:r>
          </a:p>
          <a:p>
            <a:pPr marL="0" indent="0">
              <a:buNone/>
            </a:pPr>
            <a:r>
              <a:rPr lang="en-US" b="1" dirty="0"/>
              <a:t>Vibration vs Lower Back Pain: </a:t>
            </a:r>
            <a:r>
              <a:rPr lang="en-US" dirty="0"/>
              <a:t>higher riding vibration → increased lower back pain</a:t>
            </a:r>
          </a:p>
          <a:p>
            <a:pPr marL="0" indent="0">
              <a:buNone/>
            </a:pPr>
            <a:r>
              <a:rPr lang="en-IN" b="1" dirty="0"/>
              <a:t>Posture Risk vs Fatigue: </a:t>
            </a:r>
            <a:r>
              <a:rPr lang="en-US" dirty="0"/>
              <a:t>awkward posture exposure → increased fatigue risk</a:t>
            </a:r>
            <a:endParaRPr lang="en-IN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5741500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053A5-807B-1F25-2279-D76861019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E92B4-0009-C579-5C9B-2C48FF474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Relationship Analysis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2D1255E-C335-2BC3-353B-0EED97589F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IN" b="1" dirty="0"/>
              <a:t>Interaction Feature Analysis</a:t>
            </a:r>
          </a:p>
          <a:p>
            <a:r>
              <a:rPr lang="en-IN" b="1" dirty="0"/>
              <a:t>Goal: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 err="1"/>
              <a:t>Analyze</a:t>
            </a:r>
            <a:r>
              <a:rPr lang="en-IN" dirty="0"/>
              <a:t> combined effects of multiple ergonomic exposure variables instead of single-variable relationships.</a:t>
            </a:r>
          </a:p>
          <a:p>
            <a:endParaRPr lang="en-IN" b="1" dirty="0"/>
          </a:p>
          <a:p>
            <a:r>
              <a:rPr lang="en-IN" b="1" dirty="0"/>
              <a:t>Interaction Variables:</a:t>
            </a:r>
          </a:p>
          <a:p>
            <a:r>
              <a:rPr lang="en-IN" dirty="0"/>
              <a:t>- workload × fatigue</a:t>
            </a:r>
          </a:p>
          <a:p>
            <a:r>
              <a:rPr lang="en-IN" dirty="0"/>
              <a:t>- vibration × riding duration</a:t>
            </a:r>
          </a:p>
          <a:p>
            <a:r>
              <a:rPr lang="en-IN" dirty="0"/>
              <a:t>- posture × work hours</a:t>
            </a:r>
          </a:p>
          <a:p>
            <a:r>
              <a:rPr lang="en-IN" dirty="0"/>
              <a:t>- repetition × fatigue</a:t>
            </a:r>
          </a:p>
          <a:p>
            <a:endParaRPr lang="en-IN" b="1" dirty="0"/>
          </a:p>
          <a:p>
            <a:r>
              <a:rPr lang="en-IN" b="1" dirty="0"/>
              <a:t>Example:</a:t>
            </a:r>
          </a:p>
          <a:p>
            <a:pPr marL="0" indent="0">
              <a:buNone/>
            </a:pPr>
            <a:r>
              <a:rPr lang="en-IN" dirty="0"/>
              <a:t>	high vibration + long riding duration</a:t>
            </a:r>
          </a:p>
          <a:p>
            <a:pPr marL="457200" lvl="1" indent="0">
              <a:buNone/>
            </a:pPr>
            <a:r>
              <a:rPr lang="en-IN" dirty="0"/>
              <a:t>             ↓</a:t>
            </a:r>
          </a:p>
          <a:p>
            <a:pPr marL="0" indent="0">
              <a:buNone/>
            </a:pPr>
            <a:r>
              <a:rPr lang="en-IN" dirty="0"/>
              <a:t>	higher lower back discomfort risk</a:t>
            </a:r>
          </a:p>
          <a:p>
            <a:endParaRPr lang="en-IN" b="1" dirty="0"/>
          </a:p>
          <a:p>
            <a:r>
              <a:rPr lang="en-IN" b="1" dirty="0"/>
              <a:t>Purpose:</a:t>
            </a:r>
          </a:p>
          <a:p>
            <a:pPr marL="0" indent="0">
              <a:buNone/>
            </a:pPr>
            <a:r>
              <a:rPr lang="en-IN" dirty="0"/>
              <a:t>	Identify combined ergonomic conditions contributing to high-risk exposure.</a:t>
            </a:r>
          </a:p>
        </p:txBody>
      </p:sp>
    </p:spTree>
    <p:extLst>
      <p:ext uri="{BB962C8B-B14F-4D97-AF65-F5344CB8AC3E}">
        <p14:creationId xmlns:p14="http://schemas.microsoft.com/office/powerpoint/2010/main" val="14912853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B589A-3C74-E5D8-65A1-925513CA6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DF221-1907-BE96-FE3E-25BA0CC14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Relationship Analysis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D946B04-0555-EE79-8100-38334E4802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9597235"/>
              </p:ext>
            </p:extLst>
          </p:nvPr>
        </p:nvGraphicFramePr>
        <p:xfrm>
          <a:off x="1304544" y="2181860"/>
          <a:ext cx="6096000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836588278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058081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Method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2869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Correlation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Identify variable relationships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55101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Heatmaps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Visualize relationship strength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0150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Scatter Plots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Study exposure patterns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0619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Comparative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Compare rider groups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7360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Statistical Testing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Validate significant relationships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62649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18280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Statistical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Chi-Square Test</a:t>
            </a:r>
            <a:r>
              <a:rPr lang="en-US" dirty="0"/>
              <a:t> : </a:t>
            </a:r>
          </a:p>
          <a:p>
            <a:pPr marL="0" indent="0">
              <a:buNone/>
            </a:pPr>
            <a:r>
              <a:rPr lang="en-US" dirty="0"/>
              <a:t>	Bag carrying method ↔ Shoulder pain</a:t>
            </a:r>
            <a:endParaRPr dirty="0"/>
          </a:p>
          <a:p>
            <a:r>
              <a:rPr dirty="0"/>
              <a:t>Pearson/Spearman Correlation</a:t>
            </a:r>
          </a:p>
          <a:p>
            <a:r>
              <a:rPr dirty="0"/>
              <a:t>Mann-Whitney U Test</a:t>
            </a:r>
          </a:p>
          <a:p>
            <a:r>
              <a:rPr dirty="0"/>
              <a:t>Kruskal-Wallis Test</a:t>
            </a:r>
          </a:p>
          <a:p>
            <a:r>
              <a:rPr dirty="0"/>
              <a:t>Regression Analysis</a:t>
            </a:r>
            <a:endParaRPr lang="en-US" dirty="0"/>
          </a:p>
          <a:p>
            <a:pPr marL="457200" lvl="1" indent="0">
              <a:buNone/>
            </a:pPr>
            <a:r>
              <a:rPr lang="en-IN" dirty="0"/>
              <a:t>Workload + fatigue → exhaustion prediction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888C9-C53B-86F1-F58E-7532B8C94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AC633-4552-000B-07C0-E3E2A2DCA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Statistical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7DAB6-02A9-A005-E70C-65D928019E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sz="1200" b="1" dirty="0"/>
              <a:t>Threshold &amp; Risk Escalation Analysis Goal:</a:t>
            </a:r>
          </a:p>
          <a:p>
            <a:pPr marL="0" indent="0">
              <a:buNone/>
            </a:pPr>
            <a:r>
              <a:rPr lang="en-IN" sz="1200" dirty="0"/>
              <a:t>	Identify workload and exposure thresholds where ergonomic risk rapidly increases.</a:t>
            </a:r>
          </a:p>
          <a:p>
            <a:endParaRPr lang="en-IN" sz="1200" b="1" dirty="0"/>
          </a:p>
          <a:p>
            <a:r>
              <a:rPr lang="en-IN" sz="1200" b="1" dirty="0"/>
              <a:t>Example Threshold Conditions:</a:t>
            </a:r>
          </a:p>
          <a:p>
            <a:pPr marL="0" indent="0">
              <a:buNone/>
            </a:pPr>
            <a:r>
              <a:rPr lang="en-IN" sz="1200" dirty="0"/>
              <a:t>	</a:t>
            </a:r>
            <a:r>
              <a:rPr lang="en-IN" sz="1200" dirty="0" err="1"/>
              <a:t>work_hours</a:t>
            </a:r>
            <a:r>
              <a:rPr lang="en-IN" sz="1200" dirty="0"/>
              <a:t> &gt; 9</a:t>
            </a:r>
          </a:p>
          <a:p>
            <a:pPr marL="0" indent="0">
              <a:buNone/>
            </a:pPr>
            <a:r>
              <a:rPr lang="en-IN" sz="1200" dirty="0"/>
              <a:t>	        AND</a:t>
            </a:r>
          </a:p>
          <a:p>
            <a:pPr marL="0" indent="0">
              <a:buNone/>
            </a:pPr>
            <a:r>
              <a:rPr lang="en-IN" sz="1200" dirty="0"/>
              <a:t>	</a:t>
            </a:r>
            <a:r>
              <a:rPr lang="en-IN" sz="1200" dirty="0" err="1"/>
              <a:t>fatigue_score</a:t>
            </a:r>
            <a:r>
              <a:rPr lang="en-IN" sz="1200" dirty="0"/>
              <a:t> &gt; 7</a:t>
            </a:r>
          </a:p>
          <a:p>
            <a:r>
              <a:rPr lang="en-IN" sz="1200" b="1" dirty="0"/>
              <a:t>                ↓</a:t>
            </a:r>
          </a:p>
          <a:p>
            <a:r>
              <a:rPr lang="en-IN" sz="1200" b="1" dirty="0"/>
              <a:t>high exhaustion risk</a:t>
            </a:r>
          </a:p>
          <a:p>
            <a:endParaRPr lang="en-IN" sz="1200" b="1" dirty="0"/>
          </a:p>
          <a:p>
            <a:r>
              <a:rPr lang="en-IN" sz="1200" b="1" dirty="0"/>
              <a:t>Input Variables:</a:t>
            </a:r>
          </a:p>
          <a:p>
            <a:r>
              <a:rPr lang="en-IN" sz="1200" dirty="0"/>
              <a:t>- work hours</a:t>
            </a:r>
          </a:p>
          <a:p>
            <a:r>
              <a:rPr lang="en-IN" sz="1200" dirty="0"/>
              <a:t>- fatigue score</a:t>
            </a:r>
          </a:p>
          <a:p>
            <a:r>
              <a:rPr lang="en-IN" sz="1200" dirty="0"/>
              <a:t>- posture score</a:t>
            </a:r>
          </a:p>
          <a:p>
            <a:r>
              <a:rPr lang="en-IN" sz="1200" dirty="0"/>
              <a:t>- workload level</a:t>
            </a:r>
          </a:p>
          <a:p>
            <a:r>
              <a:rPr lang="en-IN" sz="1200" dirty="0"/>
              <a:t>- riding duration</a:t>
            </a:r>
          </a:p>
          <a:p>
            <a:endParaRPr lang="en-IN" sz="1200" b="1" dirty="0"/>
          </a:p>
          <a:p>
            <a:r>
              <a:rPr lang="en-IN" sz="1200" b="1" dirty="0"/>
              <a:t>Methods Used:</a:t>
            </a:r>
          </a:p>
          <a:p>
            <a:r>
              <a:rPr lang="en-IN" sz="1200" dirty="0"/>
              <a:t>- Decision Trees</a:t>
            </a:r>
          </a:p>
          <a:p>
            <a:r>
              <a:rPr lang="en-IN" sz="1200" dirty="0"/>
              <a:t>- </a:t>
            </a:r>
            <a:r>
              <a:rPr lang="en-IN" sz="1200" dirty="0" err="1"/>
              <a:t>XGBoost</a:t>
            </a:r>
            <a:endParaRPr lang="en-IN" sz="1200" dirty="0"/>
          </a:p>
          <a:p>
            <a:r>
              <a:rPr lang="en-IN" sz="1200" dirty="0"/>
              <a:t>- Threshold-based analysis</a:t>
            </a:r>
          </a:p>
          <a:p>
            <a:endParaRPr lang="en-IN" sz="1200" b="1" dirty="0"/>
          </a:p>
          <a:p>
            <a:r>
              <a:rPr lang="en-IN" sz="1200" b="1" dirty="0"/>
              <a:t>Purpose:</a:t>
            </a:r>
          </a:p>
          <a:p>
            <a:pPr marL="0" indent="0">
              <a:buNone/>
            </a:pPr>
            <a:r>
              <a:rPr lang="en-IN" sz="1200" dirty="0"/>
              <a:t>	Detect nonlinear ergonomic risk escalation patterns.</a:t>
            </a:r>
          </a:p>
        </p:txBody>
      </p:sp>
    </p:spTree>
    <p:extLst>
      <p:ext uri="{BB962C8B-B14F-4D97-AF65-F5344CB8AC3E}">
        <p14:creationId xmlns:p14="http://schemas.microsoft.com/office/powerpoint/2010/main" val="13481709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83B52B5-1F40-5B8D-EAFA-7EAF27614510}"/>
              </a:ext>
            </a:extLst>
          </p:cNvPr>
          <p:cNvSpPr/>
          <p:nvPr/>
        </p:nvSpPr>
        <p:spPr>
          <a:xfrm>
            <a:off x="4572000" y="4380637"/>
            <a:ext cx="4114800" cy="1928088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5B1BC6-4363-D53D-920D-6E8DCC1441DC}"/>
              </a:ext>
            </a:extLst>
          </p:cNvPr>
          <p:cNvSpPr/>
          <p:nvPr/>
        </p:nvSpPr>
        <p:spPr>
          <a:xfrm>
            <a:off x="338328" y="4380637"/>
            <a:ext cx="3922776" cy="1928088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AI/ML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Train predictive models</a:t>
            </a:r>
          </a:p>
          <a:p>
            <a:r>
              <a:rPr dirty="0"/>
              <a:t>Learn relationships from data</a:t>
            </a:r>
          </a:p>
          <a:p>
            <a:r>
              <a:rPr dirty="0"/>
              <a:t>Predict ergonomic risk factor severity</a:t>
            </a:r>
          </a:p>
          <a:p>
            <a:r>
              <a:rPr dirty="0"/>
              <a:t>Evaluate prediction performance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B26A4F-43CF-109A-3230-8BED7AD2E115}"/>
              </a:ext>
            </a:extLst>
          </p:cNvPr>
          <p:cNvSpPr txBox="1"/>
          <p:nvPr/>
        </p:nvSpPr>
        <p:spPr>
          <a:xfrm>
            <a:off x="539496" y="4380637"/>
            <a:ext cx="4572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Input Features</a:t>
            </a:r>
          </a:p>
          <a:p>
            <a:r>
              <a:rPr lang="en-IN" dirty="0"/>
              <a:t>(workload, fatigue, posture, exposure)</a:t>
            </a:r>
          </a:p>
          <a:p>
            <a:r>
              <a:rPr lang="en-IN" dirty="0"/>
              <a:t>                ↓</a:t>
            </a:r>
          </a:p>
          <a:p>
            <a:r>
              <a:rPr lang="en-IN" dirty="0"/>
              <a:t>AI/ML Model Training</a:t>
            </a:r>
          </a:p>
          <a:p>
            <a:r>
              <a:rPr lang="en-IN" dirty="0"/>
              <a:t>                ↓</a:t>
            </a:r>
          </a:p>
          <a:p>
            <a:r>
              <a:rPr lang="en-IN" dirty="0"/>
              <a:t>Prediction of Ergonomic Risk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6D843E-16F6-3308-124D-787D17362C3A}"/>
              </a:ext>
            </a:extLst>
          </p:cNvPr>
          <p:cNvSpPr txBox="1"/>
          <p:nvPr/>
        </p:nvSpPr>
        <p:spPr>
          <a:xfrm>
            <a:off x="4572000" y="4657635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High workload + high fatigue + long riding duration</a:t>
            </a:r>
          </a:p>
          <a:p>
            <a:r>
              <a:rPr lang="en-IN" dirty="0"/>
              <a:t>                ↓</a:t>
            </a:r>
          </a:p>
          <a:p>
            <a:r>
              <a:rPr lang="en-IN" dirty="0"/>
              <a:t>Predicted High Static Posture Risk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ML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Logistic Regression</a:t>
            </a:r>
            <a:r>
              <a:rPr lang="en-US" dirty="0"/>
              <a:t>(</a:t>
            </a:r>
            <a:r>
              <a:rPr lang="en-IN" dirty="0"/>
              <a:t>Baseline classification</a:t>
            </a:r>
            <a:r>
              <a:rPr lang="en-US" dirty="0"/>
              <a:t>)</a:t>
            </a:r>
            <a:endParaRPr dirty="0"/>
          </a:p>
          <a:p>
            <a:r>
              <a:rPr dirty="0"/>
              <a:t>Decision Tree</a:t>
            </a:r>
            <a:r>
              <a:rPr lang="en-US" dirty="0"/>
              <a:t>(</a:t>
            </a:r>
            <a:r>
              <a:rPr lang="en-IN" dirty="0"/>
              <a:t>Threshold-based ergonomic prediction</a:t>
            </a:r>
            <a:r>
              <a:rPr lang="en-US" dirty="0"/>
              <a:t>)</a:t>
            </a:r>
            <a:endParaRPr dirty="0"/>
          </a:p>
          <a:p>
            <a:r>
              <a:rPr dirty="0"/>
              <a:t>Random Forest</a:t>
            </a:r>
            <a:r>
              <a:rPr lang="en-US" dirty="0"/>
              <a:t>(Feature importance and robust prediction)</a:t>
            </a:r>
            <a:endParaRPr dirty="0"/>
          </a:p>
          <a:p>
            <a:r>
              <a:rPr lang="en-IN" dirty="0" err="1"/>
              <a:t>XGBoost</a:t>
            </a:r>
            <a:r>
              <a:rPr lang="en-IN" dirty="0"/>
              <a:t>(Nonlinear ergonomic risk prediction)</a:t>
            </a:r>
            <a:endParaRPr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CF9575-F00F-55F1-9BED-E604A8829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8FA10-8B44-26F7-2354-EBDD23C27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u="sng" dirty="0"/>
              <a:t>Prediction Targets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A9ACC-F3E0-B947-494D-A6414C4679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Predict Force Risk</a:t>
            </a:r>
          </a:p>
          <a:p>
            <a:r>
              <a:rPr dirty="0"/>
              <a:t>Predict Repetition Risk</a:t>
            </a:r>
          </a:p>
          <a:p>
            <a:r>
              <a:rPr dirty="0"/>
              <a:t>Predict Awkward Posture Risk</a:t>
            </a:r>
          </a:p>
          <a:p>
            <a:r>
              <a:rPr dirty="0"/>
              <a:t>Predict Static Posture Risk</a:t>
            </a:r>
          </a:p>
          <a:p>
            <a:r>
              <a:rPr dirty="0"/>
              <a:t>Predict Contact Stress Risk</a:t>
            </a:r>
          </a:p>
          <a:p>
            <a:r>
              <a:rPr dirty="0"/>
              <a:t>Predict Vibration Risk</a:t>
            </a:r>
          </a:p>
        </p:txBody>
      </p:sp>
    </p:spTree>
    <p:extLst>
      <p:ext uri="{BB962C8B-B14F-4D97-AF65-F5344CB8AC3E}">
        <p14:creationId xmlns:p14="http://schemas.microsoft.com/office/powerpoint/2010/main" val="42781286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Model Evaluation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816732-4741-1EED-B7C4-1A497D66CD50}"/>
              </a:ext>
            </a:extLst>
          </p:cNvPr>
          <p:cNvSpPr txBox="1"/>
          <p:nvPr/>
        </p:nvSpPr>
        <p:spPr>
          <a:xfrm>
            <a:off x="197739" y="1260345"/>
            <a:ext cx="918438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Validation Methods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 Train-Test Split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Cross-validation is used to test model generalization and avoid overfitting.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dirty="0"/>
              <a:t>Overfitting analysis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Purpose</a:t>
            </a:r>
            <a:r>
              <a:rPr lang="en-US" sz="3200" dirty="0"/>
              <a:t>:</a:t>
            </a:r>
            <a:br>
              <a:rPr lang="en-US" sz="3200" dirty="0"/>
            </a:br>
            <a:r>
              <a:rPr lang="en-US" sz="3200" dirty="0"/>
              <a:t>Ensure the AI/ML models perform consistently across different rider data distributions.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72291-F120-7138-A070-AEBA23933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49495-8101-27D0-2A18-CFAC55CBA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Model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19CC9-6186-330E-8DA7-E6DF4DDF8B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7472" y="1703198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Evaluation Metrics</a:t>
            </a:r>
          </a:p>
          <a:p>
            <a:r>
              <a:rPr dirty="0"/>
              <a:t>Accuracy</a:t>
            </a:r>
          </a:p>
          <a:p>
            <a:r>
              <a:rPr dirty="0"/>
              <a:t>Precision</a:t>
            </a:r>
          </a:p>
          <a:p>
            <a:r>
              <a:rPr dirty="0"/>
              <a:t>Recall</a:t>
            </a:r>
          </a:p>
          <a:p>
            <a:r>
              <a:rPr dirty="0"/>
              <a:t>F1-Score</a:t>
            </a:r>
          </a:p>
          <a:p>
            <a:r>
              <a:rPr dirty="0"/>
              <a:t>Confusion Matrix</a:t>
            </a:r>
          </a:p>
        </p:txBody>
      </p:sp>
    </p:spTree>
    <p:extLst>
      <p:ext uri="{BB962C8B-B14F-4D97-AF65-F5344CB8AC3E}">
        <p14:creationId xmlns:p14="http://schemas.microsoft.com/office/powerpoint/2010/main" val="6876773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Visualizations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Heatmaps</a:t>
            </a:r>
          </a:p>
          <a:p>
            <a:r>
              <a:t>Scatter Plots</a:t>
            </a:r>
          </a:p>
          <a:p>
            <a:r>
              <a:t>Bar Charts</a:t>
            </a:r>
          </a:p>
          <a:p>
            <a:r>
              <a:t>Correlation Graphs</a:t>
            </a:r>
          </a:p>
          <a:p>
            <a:r>
              <a:t>Feature Importance Charts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Inputs &amp; Outputs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229225" cy="4525963"/>
          </a:xfrm>
        </p:spPr>
        <p:txBody>
          <a:bodyPr>
            <a:noAutofit/>
          </a:bodyPr>
          <a:lstStyle/>
          <a:p>
            <a:r>
              <a:rPr lang="en-US" sz="2000" b="1" dirty="0"/>
              <a:t>Input Variables:</a:t>
            </a:r>
          </a:p>
          <a:p>
            <a:pPr marL="0" indent="0">
              <a:buNone/>
            </a:pPr>
            <a:r>
              <a:rPr lang="en-US" sz="2000" dirty="0"/>
              <a:t>- workload scores</a:t>
            </a:r>
          </a:p>
          <a:p>
            <a:pPr marL="0" indent="0">
              <a:buNone/>
            </a:pPr>
            <a:r>
              <a:rPr lang="en-US" sz="2000" dirty="0"/>
              <a:t>- fatigue scores</a:t>
            </a:r>
          </a:p>
          <a:p>
            <a:pPr marL="0" indent="0">
              <a:buNone/>
            </a:pPr>
            <a:r>
              <a:rPr lang="en-US" sz="2000" dirty="0"/>
              <a:t>- work hours</a:t>
            </a:r>
          </a:p>
          <a:p>
            <a:pPr marL="0" indent="0">
              <a:buNone/>
            </a:pPr>
            <a:r>
              <a:rPr lang="en-US" sz="2000" dirty="0"/>
              <a:t>- riding duration</a:t>
            </a:r>
          </a:p>
          <a:p>
            <a:pPr marL="0" indent="0">
              <a:buNone/>
            </a:pPr>
            <a:r>
              <a:rPr lang="en-US" sz="2000" dirty="0"/>
              <a:t>- posture scores</a:t>
            </a:r>
          </a:p>
          <a:p>
            <a:pPr marL="0" indent="0">
              <a:buNone/>
            </a:pPr>
            <a:r>
              <a:rPr lang="en-US" sz="2000" dirty="0"/>
              <a:t>- delivery frequency</a:t>
            </a:r>
          </a:p>
          <a:p>
            <a:pPr marL="0" indent="0">
              <a:buNone/>
            </a:pPr>
            <a:r>
              <a:rPr lang="en-US" sz="2000" dirty="0"/>
              <a:t>- vibration exposure</a:t>
            </a:r>
          </a:p>
          <a:p>
            <a:pPr marL="0" indent="0">
              <a:buNone/>
            </a:pPr>
            <a:r>
              <a:rPr lang="en-US" sz="2000" dirty="0"/>
              <a:t>- discomfort indicators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A6534E-3BE5-E9B2-C09F-0078D1896653}"/>
              </a:ext>
            </a:extLst>
          </p:cNvPr>
          <p:cNvSpPr txBox="1"/>
          <p:nvPr/>
        </p:nvSpPr>
        <p:spPr>
          <a:xfrm>
            <a:off x="4781550" y="1665625"/>
            <a:ext cx="4572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Prediction Outputs:</a:t>
            </a:r>
          </a:p>
          <a:p>
            <a:pPr marL="0" indent="0">
              <a:buNone/>
            </a:pPr>
            <a:r>
              <a:rPr lang="en-US" sz="1800" dirty="0"/>
              <a:t>- Force Risk</a:t>
            </a:r>
          </a:p>
          <a:p>
            <a:pPr marL="0" indent="0">
              <a:buNone/>
            </a:pPr>
            <a:r>
              <a:rPr lang="en-US" sz="1800" dirty="0"/>
              <a:t>- Repetition Risk</a:t>
            </a:r>
          </a:p>
          <a:p>
            <a:pPr marL="0" indent="0">
              <a:buNone/>
            </a:pPr>
            <a:r>
              <a:rPr lang="en-US" sz="1800" dirty="0"/>
              <a:t>- Static Posture Risk</a:t>
            </a:r>
          </a:p>
          <a:p>
            <a:pPr marL="0" indent="0">
              <a:buNone/>
            </a:pPr>
            <a:r>
              <a:rPr lang="en-US" sz="1800" dirty="0"/>
              <a:t>- Contact Stress Risk</a:t>
            </a:r>
          </a:p>
          <a:p>
            <a:pPr marL="0" indent="0">
              <a:buNone/>
            </a:pPr>
            <a:r>
              <a:rPr lang="en-US" sz="1800" dirty="0"/>
              <a:t>- Vibration Risk</a:t>
            </a:r>
          </a:p>
          <a:p>
            <a:pPr marL="0" indent="0">
              <a:buNone/>
            </a:pPr>
            <a:r>
              <a:rPr lang="en-US" sz="1800" dirty="0"/>
              <a:t>- Awkward Posture Risk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560FB-D499-39C5-3B2B-E7A044C2C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D8BCA-2AEC-D9F5-9F58-C7D292481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Outputs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B249D-15AA-D16B-9F3F-4DEFA0D657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Analytical Outputs</a:t>
            </a:r>
          </a:p>
          <a:p>
            <a:pPr lvl="1"/>
            <a:r>
              <a:rPr lang="en-US" dirty="0"/>
              <a:t>EDA visualizations </a:t>
            </a:r>
          </a:p>
          <a:p>
            <a:pPr lvl="1"/>
            <a:r>
              <a:rPr lang="en-US" dirty="0"/>
              <a:t>relationship analysis </a:t>
            </a:r>
          </a:p>
          <a:p>
            <a:pPr lvl="1"/>
            <a:r>
              <a:rPr lang="en-US" dirty="0"/>
              <a:t>statistical findings</a:t>
            </a:r>
          </a:p>
          <a:p>
            <a:r>
              <a:rPr lang="en-IN" b="1" dirty="0"/>
              <a:t>AI/ML Outputs</a:t>
            </a:r>
          </a:p>
          <a:p>
            <a:pPr lvl="1"/>
            <a:r>
              <a:rPr lang="en-IN" dirty="0"/>
              <a:t>trained prediction models </a:t>
            </a:r>
          </a:p>
          <a:p>
            <a:pPr lvl="1"/>
            <a:r>
              <a:rPr lang="en-IN" dirty="0"/>
              <a:t>model evaluation reports</a:t>
            </a:r>
          </a:p>
          <a:p>
            <a:pPr lvl="1"/>
            <a:r>
              <a:rPr lang="en-US" dirty="0"/>
              <a:t>Feature importance analysis</a:t>
            </a:r>
          </a:p>
          <a:p>
            <a:pPr lvl="1"/>
            <a:r>
              <a:rPr lang="en-US" dirty="0"/>
              <a:t>Threshold detection analysis</a:t>
            </a:r>
            <a:endParaRPr lang="en-IN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171391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</a:t>
            </a:r>
          </a:p>
          <a:p>
            <a:r>
              <a:t>Pandas</a:t>
            </a:r>
          </a:p>
          <a:p>
            <a:r>
              <a:t>NumPy</a:t>
            </a:r>
          </a:p>
          <a:p>
            <a:r>
              <a:t>Scikit-learn</a:t>
            </a:r>
          </a:p>
          <a:p>
            <a:r>
              <a:t>Matplotlib</a:t>
            </a:r>
          </a:p>
          <a:p>
            <a:r>
              <a:t>Seaborn</a:t>
            </a:r>
          </a:p>
          <a:p>
            <a:r>
              <a:t>Jupyter Notebook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429</TotalTime>
  <Words>1464</Words>
  <Application>Microsoft Office PowerPoint</Application>
  <PresentationFormat>On-screen Show (4:3)</PresentationFormat>
  <Paragraphs>401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2" baseType="lpstr">
      <vt:lpstr>Arial</vt:lpstr>
      <vt:lpstr>Calibri</vt:lpstr>
      <vt:lpstr>Cambria Math</vt:lpstr>
      <vt:lpstr>Office Theme</vt:lpstr>
      <vt:lpstr>AI/ML-Based Prediction of 6 Ergonomic Risk Factors</vt:lpstr>
      <vt:lpstr>Project Objective</vt:lpstr>
      <vt:lpstr>6 Ergonomic Risk Factors</vt:lpstr>
      <vt:lpstr>Measurement Methods</vt:lpstr>
      <vt:lpstr>Measurement Methods</vt:lpstr>
      <vt:lpstr>Measurement Methods</vt:lpstr>
      <vt:lpstr>Measurement Methods</vt:lpstr>
      <vt:lpstr>Simplified Workflow Diagram</vt:lpstr>
      <vt:lpstr>Input Variables</vt:lpstr>
      <vt:lpstr>Prediction Targets</vt:lpstr>
      <vt:lpstr>Dataset Understanding</vt:lpstr>
      <vt:lpstr>Data Cleaning</vt:lpstr>
      <vt:lpstr>Data Cleaning</vt:lpstr>
      <vt:lpstr>Data Cleaning</vt:lpstr>
      <vt:lpstr>Data Preprocessing</vt:lpstr>
      <vt:lpstr>Data Preprocessing</vt:lpstr>
      <vt:lpstr>Feature Engineering</vt:lpstr>
      <vt:lpstr>Feature Engineering</vt:lpstr>
      <vt:lpstr>Feature Engineering</vt:lpstr>
      <vt:lpstr>Feature Engineering</vt:lpstr>
      <vt:lpstr>Exploratory Data Analysis</vt:lpstr>
      <vt:lpstr>Exploratory Data Analysis</vt:lpstr>
      <vt:lpstr>Exploratory Data Analysis</vt:lpstr>
      <vt:lpstr>Relationship Analysis</vt:lpstr>
      <vt:lpstr>Relationship Analysis</vt:lpstr>
      <vt:lpstr>Relationship Analysis</vt:lpstr>
      <vt:lpstr>Relationship Analysis</vt:lpstr>
      <vt:lpstr>Statistical Analysis</vt:lpstr>
      <vt:lpstr>Statistical Analysis</vt:lpstr>
      <vt:lpstr>AI/ML Modeling</vt:lpstr>
      <vt:lpstr>ML Algorithms</vt:lpstr>
      <vt:lpstr>Prediction Targets</vt:lpstr>
      <vt:lpstr>Model Evaluation</vt:lpstr>
      <vt:lpstr>Model Evaluation</vt:lpstr>
      <vt:lpstr>Visualizations</vt:lpstr>
      <vt:lpstr>Inputs &amp; Outputs</vt:lpstr>
      <vt:lpstr>Expected Outputs</vt:lpstr>
      <vt:lpstr>Technologies Used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Vishnu vardhan</dc:creator>
  <cp:keywords/>
  <dc:description>generated using python-pptx</dc:description>
  <cp:lastModifiedBy>Vishnu vardhan</cp:lastModifiedBy>
  <cp:revision>21</cp:revision>
  <dcterms:created xsi:type="dcterms:W3CDTF">2013-01-27T09:14:16Z</dcterms:created>
  <dcterms:modified xsi:type="dcterms:W3CDTF">2026-05-21T06:37:43Z</dcterms:modified>
  <cp:category/>
</cp:coreProperties>
</file>