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78" r:id="rId6"/>
    <p:sldId id="280" r:id="rId7"/>
    <p:sldId id="279" r:id="rId8"/>
    <p:sldId id="277" r:id="rId9"/>
    <p:sldId id="271" r:id="rId10"/>
    <p:sldId id="297" r:id="rId11"/>
    <p:sldId id="262" r:id="rId12"/>
    <p:sldId id="263" r:id="rId13"/>
    <p:sldId id="281" r:id="rId14"/>
    <p:sldId id="282" r:id="rId15"/>
    <p:sldId id="264" r:id="rId16"/>
    <p:sldId id="283" r:id="rId17"/>
    <p:sldId id="265" r:id="rId18"/>
    <p:sldId id="284" r:id="rId19"/>
    <p:sldId id="298" r:id="rId20"/>
    <p:sldId id="266" r:id="rId21"/>
    <p:sldId id="294" r:id="rId22"/>
    <p:sldId id="285" r:id="rId23"/>
    <p:sldId id="286" r:id="rId24"/>
    <p:sldId id="267" r:id="rId25"/>
    <p:sldId id="287" r:id="rId26"/>
    <p:sldId id="299" r:id="rId27"/>
    <p:sldId id="288" r:id="rId28"/>
    <p:sldId id="268" r:id="rId29"/>
    <p:sldId id="300" r:id="rId30"/>
    <p:sldId id="269" r:id="rId31"/>
    <p:sldId id="270" r:id="rId32"/>
    <p:sldId id="296" r:id="rId33"/>
    <p:sldId id="272" r:id="rId34"/>
    <p:sldId id="293" r:id="rId35"/>
    <p:sldId id="273" r:id="rId36"/>
    <p:sldId id="302" r:id="rId37"/>
    <p:sldId id="295" r:id="rId38"/>
    <p:sldId id="275" r:id="rId39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7" r:id="rId59"/>
    <p:sldId id="318" r:id="rId60"/>
    <p:sldId id="319" r:id="rId61"/>
    <p:sldId id="320" r:id="rId62"/>
    <p:sldId id="321" r:id="rId63"/>
    <p:sldId id="322" r:id="rId64"/>
    <p:sldId id="323" r:id="rId65"/>
    <p:sldId id="324" r:id="rId66"/>
    <p:sldId id="301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Accent Bar"/>
          <p:cNvSpPr/>
          <p:nvPr/>
        </p:nvSpPr>
        <p:spPr>
          <a:xfrm>
            <a:off x="701040" y="1465000"/>
            <a:ext cx="118872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93987"/>
            <a:ext cx="10363200" cy="1470025"/>
          </a:xfrm>
        </p:spPr>
        <p:txBody>
          <a:bodyPr/>
          <a:lstStyle/>
          <a:p>
            <a:r>
              <a:rPr dirty="0"/>
              <a:t>AI/ML-Based Prediction of 6 Ergonomic Risk Factors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22E4782-CCEA-0B60-CCA4-E864703A78B1}"/>
              </a:ext>
            </a:extLst>
          </p:cNvPr>
          <p:cNvSpPr txBox="1">
            <a:spLocks/>
          </p:cNvSpPr>
          <p:nvPr/>
        </p:nvSpPr>
        <p:spPr>
          <a:xfrm>
            <a:off x="9086088" y="5249924"/>
            <a:ext cx="3395472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By</a:t>
            </a:r>
          </a:p>
          <a:p>
            <a:pPr algn="l"/>
            <a:r>
              <a:rPr lang="en-US" dirty="0"/>
              <a:t>Aila Vishnu Vardhan</a:t>
            </a:r>
          </a:p>
          <a:p>
            <a:pPr algn="l"/>
            <a:r>
              <a:rPr lang="en-US" dirty="0"/>
              <a:t>23911A6702</a:t>
            </a:r>
          </a:p>
          <a:p>
            <a:pPr algn="l"/>
            <a:r>
              <a:rPr lang="en-US" dirty="0"/>
              <a:t>VJIT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Analyse workload, posture, fatigue, and ergonomic exposure among delivery riders</a:t>
            </a:r>
          </a:p>
          <a:p>
            <a:r>
              <a:rPr lang="en-IN" dirty="0"/>
              <a:t>Predict ergonomic risk severity using AI/ML techniques</a:t>
            </a:r>
          </a:p>
          <a:p>
            <a:r>
              <a:rPr lang="en-US" dirty="0"/>
              <a:t>Build a data-driven ergonomic exposure prediction framework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Ergonomic Risk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Force</a:t>
            </a:r>
          </a:p>
          <a:p>
            <a:r>
              <a:rPr dirty="0"/>
              <a:t>Repetition</a:t>
            </a:r>
          </a:p>
          <a:p>
            <a:r>
              <a:rPr dirty="0"/>
              <a:t>Posture</a:t>
            </a:r>
            <a:endParaRPr lang="en-US" dirty="0"/>
          </a:p>
          <a:p>
            <a:r>
              <a:rPr lang="en-US" dirty="0"/>
              <a:t>Duration</a:t>
            </a:r>
            <a:endParaRPr dirty="0"/>
          </a:p>
          <a:p>
            <a:r>
              <a:rPr dirty="0"/>
              <a:t>Contact Stress</a:t>
            </a:r>
          </a:p>
          <a:p>
            <a:r>
              <a:rPr dirty="0"/>
              <a:t>Vibration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/>
              <a:t>Force</a:t>
            </a:r>
            <a:r>
              <a:rPr dirty="0"/>
              <a:t> → Borg CR10</a:t>
            </a:r>
            <a:r>
              <a:rPr lang="en-US" dirty="0"/>
              <a:t>(</a:t>
            </a:r>
            <a:r>
              <a:rPr lang="en-IN" dirty="0"/>
              <a:t>physical demand</a:t>
            </a:r>
            <a:r>
              <a:rPr lang="en-US" dirty="0"/>
              <a:t>)</a:t>
            </a:r>
            <a:r>
              <a:rPr dirty="0"/>
              <a:t>, carrying load</a:t>
            </a:r>
            <a:r>
              <a:rPr lang="en-US" dirty="0"/>
              <a:t>(</a:t>
            </a:r>
            <a:r>
              <a:rPr lang="en-IN" dirty="0"/>
              <a:t>carrying difficulty</a:t>
            </a:r>
            <a:r>
              <a:rPr lang="en-US" dirty="0"/>
              <a:t>)</a:t>
            </a:r>
            <a:endParaRPr dirty="0"/>
          </a:p>
          <a:p>
            <a:r>
              <a:rPr b="1" dirty="0"/>
              <a:t>Posture </a:t>
            </a:r>
            <a:r>
              <a:rPr dirty="0"/>
              <a:t>→ RULA &amp; </a:t>
            </a:r>
            <a:r>
              <a:rPr lang="en-US" dirty="0"/>
              <a:t>QEC</a:t>
            </a:r>
          </a:p>
          <a:p>
            <a:r>
              <a:rPr lang="en-IN" b="1" dirty="0"/>
              <a:t>Duration</a:t>
            </a:r>
            <a:r>
              <a:rPr lang="en-IN" dirty="0"/>
              <a:t>→ Continuous posture duration(continuous riding position)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DF2AD-2293-102B-A463-C0C263A05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DBF36-5145-F580-B81F-808BC0A12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FE3D0-B83B-5AEB-68BF-B00FC317F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Contact Stress</a:t>
            </a:r>
          </a:p>
          <a:p>
            <a:pPr>
              <a:buFontTx/>
              <a:buChar char="-"/>
            </a:pPr>
            <a:r>
              <a:rPr lang="en-US" dirty="0"/>
              <a:t>Heavy shoulder bag + long duration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wrist discomfort + prolonged riding 	(consider age)</a:t>
            </a:r>
          </a:p>
          <a:p>
            <a:r>
              <a:rPr lang="en-US" b="1" dirty="0"/>
              <a:t>High Contact Stress</a:t>
            </a:r>
          </a:p>
          <a:p>
            <a:r>
              <a:rPr lang="en-US" dirty="0"/>
              <a:t>If:</a:t>
            </a:r>
          </a:p>
          <a:p>
            <a:pPr lvl="1"/>
            <a:r>
              <a:rPr lang="en-US" dirty="0"/>
              <a:t>heavy backpack </a:t>
            </a:r>
          </a:p>
          <a:p>
            <a:pPr lvl="1"/>
            <a:r>
              <a:rPr lang="en-US" dirty="0"/>
              <a:t>long riding hours </a:t>
            </a:r>
          </a:p>
          <a:p>
            <a:pPr lvl="1"/>
            <a:r>
              <a:rPr lang="en-US" dirty="0"/>
              <a:t>shoulder discomfort </a:t>
            </a:r>
          </a:p>
          <a:p>
            <a:pPr lvl="1"/>
            <a:r>
              <a:rPr lang="en-US" dirty="0"/>
              <a:t>no breaks</a:t>
            </a:r>
          </a:p>
          <a:p>
            <a:pPr lvl="1"/>
            <a:endParaRPr lang="en-US" dirty="0"/>
          </a:p>
          <a:p>
            <a:pPr>
              <a:buFontTx/>
              <a:buChar char="-"/>
            </a:pP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A4B95D-37AD-4658-8C25-DEE885B8A9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399679"/>
              </p:ext>
            </p:extLst>
          </p:nvPr>
        </p:nvGraphicFramePr>
        <p:xfrm>
          <a:off x="5177536" y="3602736"/>
          <a:ext cx="6819392" cy="1566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696">
                  <a:extLst>
                    <a:ext uri="{9D8B030D-6E8A-4147-A177-3AD203B41FA5}">
                      <a16:colId xmlns:a16="http://schemas.microsoft.com/office/drawing/2014/main" val="3255292198"/>
                    </a:ext>
                  </a:extLst>
                </a:gridCol>
                <a:gridCol w="3409696">
                  <a:extLst>
                    <a:ext uri="{9D8B030D-6E8A-4147-A177-3AD203B41FA5}">
                      <a16:colId xmlns:a16="http://schemas.microsoft.com/office/drawing/2014/main" val="4194436169"/>
                    </a:ext>
                  </a:extLst>
                </a:gridCol>
              </a:tblGrid>
              <a:tr h="453834">
                <a:tc>
                  <a:txBody>
                    <a:bodyPr/>
                    <a:lstStyle/>
                    <a:p>
                      <a:r>
                        <a:rPr lang="en-IN" dirty="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Contact Stress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2882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Low load + short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490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Medium load + moderate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2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Heavy load + long duration + pain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908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2277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7B55D-1482-D967-7BA6-23EF4AC2F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A9CD5-CDB0-550A-2310-48EA0D1B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90EAC-E86F-7E7E-DBC9-37542A79E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IN" b="1" dirty="0"/>
              <a:t>Vibration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Exposure index= working hours x vehicle weight </a:t>
            </a:r>
          </a:p>
          <a:p>
            <a:pPr>
              <a:buFontTx/>
              <a:buChar char="-"/>
            </a:pPr>
            <a:r>
              <a:rPr lang="en-IN" dirty="0"/>
              <a:t>Exposure Index = duration + intensity + frequency workload</a:t>
            </a:r>
          </a:p>
          <a:p>
            <a:pPr>
              <a:buFontTx/>
              <a:buChar char="-"/>
            </a:pPr>
            <a:r>
              <a:rPr lang="en-IN" b="1" dirty="0"/>
              <a:t>Vehicle-Based Vibration Weight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C0B679A-8238-2173-CD82-5D043C57B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992052"/>
              </p:ext>
            </p:extLst>
          </p:nvPr>
        </p:nvGraphicFramePr>
        <p:xfrm>
          <a:off x="1471168" y="4516120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877110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7940221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Vehicle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Vibration Weight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5305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Scooter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91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Motorcycle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07455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308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2817C-3FF8-1D73-821A-ACFF1509C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FA4DB-435A-471A-5580-A6EAC734D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8027E-EFF3-DFC6-1571-346872F28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1887200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b="1" dirty="0"/>
              <a:t>Repetition</a:t>
            </a:r>
            <a:r>
              <a:rPr dirty="0"/>
              <a:t> </a:t>
            </a:r>
            <a:endParaRPr lang="en-US" dirty="0"/>
          </a:p>
          <a:p>
            <a:pPr>
              <a:buFontTx/>
              <a:buChar char="-"/>
            </a:pPr>
            <a:r>
              <a:rPr dirty="0"/>
              <a:t>Task frequency/minute</a:t>
            </a:r>
            <a:r>
              <a:rPr lang="en-US" dirty="0"/>
              <a:t>(can derive from work frequency/exposure)</a:t>
            </a:r>
          </a:p>
          <a:p>
            <a:pPr>
              <a:buFontTx/>
              <a:buChar char="-"/>
            </a:pPr>
            <a:r>
              <a:rPr lang="en-US" dirty="0"/>
              <a:t>Repetition Index = Deliveries Per Day​/ Work Hours</a:t>
            </a:r>
          </a:p>
          <a:p>
            <a:pPr>
              <a:buFontTx/>
              <a:buChar char="-"/>
            </a:pPr>
            <a:r>
              <a:rPr lang="en-US" dirty="0"/>
              <a:t>higher delivery frequency per hour leads to higher repetition exposure.</a:t>
            </a:r>
          </a:p>
          <a:p>
            <a:pPr>
              <a:buFontTx/>
              <a:buChar char="-"/>
            </a:pPr>
            <a:r>
              <a:rPr lang="en-US" dirty="0"/>
              <a:t>Ex: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D47CD3-130C-9FCE-A88E-ADE2A3114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055257"/>
              </p:ext>
            </p:extLst>
          </p:nvPr>
        </p:nvGraphicFramePr>
        <p:xfrm>
          <a:off x="2186432" y="4651947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86666103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54096050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259164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Deliveries/Day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 Hours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Repetition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300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28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460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090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8975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4A0B75-5EA1-DC5A-31C7-880DB833F8D1}"/>
              </a:ext>
            </a:extLst>
          </p:cNvPr>
          <p:cNvSpPr/>
          <p:nvPr/>
        </p:nvSpPr>
        <p:spPr>
          <a:xfrm>
            <a:off x="4178808" y="1325880"/>
            <a:ext cx="3959352" cy="525748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Simplified Workflow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02252" y="1390524"/>
            <a:ext cx="358749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 Collection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b="1" dirty="0"/>
              <a:t>Data </a:t>
            </a:r>
            <a:r>
              <a:rPr b="1" dirty="0" err="1"/>
              <a:t>Cleanin</a:t>
            </a:r>
            <a:r>
              <a:rPr lang="en-IN" b="1" dirty="0"/>
              <a:t>g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lang="en-US" b="1" dirty="0"/>
              <a:t>Data Preprocessing </a:t>
            </a:r>
          </a:p>
          <a:p>
            <a:pPr algn="ctr"/>
            <a:r>
              <a:rPr lang="en-IN" b="1" dirty="0"/>
              <a:t> ↓</a:t>
            </a:r>
          </a:p>
          <a:p>
            <a:pPr algn="ctr"/>
            <a:r>
              <a:rPr lang="en-IN" b="1" dirty="0"/>
              <a:t>Feature Engineering</a:t>
            </a:r>
          </a:p>
          <a:p>
            <a:pPr algn="ctr"/>
            <a:r>
              <a:rPr lang="en-IN" b="1" dirty="0"/>
              <a:t> ↓</a:t>
            </a:r>
            <a:endParaRPr b="1" dirty="0"/>
          </a:p>
          <a:p>
            <a:pPr algn="ctr"/>
            <a:r>
              <a:rPr lang="en-US" b="1" dirty="0"/>
              <a:t>Exploratory </a:t>
            </a:r>
            <a:r>
              <a:rPr b="1" dirty="0"/>
              <a:t>Data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Relationship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AI/ML Modeling</a:t>
            </a:r>
          </a:p>
          <a:p>
            <a:pPr algn="ctr"/>
            <a:r>
              <a:rPr b="1" dirty="0"/>
              <a:t>   ↓</a:t>
            </a:r>
          </a:p>
          <a:p>
            <a:pPr algn="ctr"/>
            <a:r>
              <a:rPr b="1" dirty="0"/>
              <a:t>Prediction of 6 Ergonomic Risk Factors</a:t>
            </a:r>
          </a:p>
          <a:p>
            <a:pPr algn="ctr"/>
            <a:r>
              <a:rPr b="1" dirty="0"/>
              <a:t>    ↓</a:t>
            </a:r>
          </a:p>
          <a:p>
            <a:pPr algn="ctr"/>
            <a:r>
              <a:rPr b="1" dirty="0"/>
              <a:t>Visualization &amp; Reporting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Work hours</a:t>
            </a:r>
          </a:p>
          <a:p>
            <a:r>
              <a:rPr lang="en-IN" dirty="0"/>
              <a:t>Riding duration</a:t>
            </a:r>
          </a:p>
          <a:p>
            <a:r>
              <a:rPr lang="en-IN" dirty="0"/>
              <a:t>Deliveries/day</a:t>
            </a:r>
          </a:p>
          <a:p>
            <a:r>
              <a:rPr lang="en-IN" dirty="0"/>
              <a:t>NASA-TLX workload scores</a:t>
            </a:r>
          </a:p>
          <a:p>
            <a:r>
              <a:rPr lang="en-IN" dirty="0"/>
              <a:t>Borg fatigue scores</a:t>
            </a:r>
          </a:p>
          <a:p>
            <a:r>
              <a:rPr lang="en-IN" dirty="0"/>
              <a:t>Posture scores</a:t>
            </a:r>
          </a:p>
          <a:p>
            <a:r>
              <a:rPr lang="en-IN" dirty="0"/>
              <a:t>Body pain indicators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90F3-65CA-A9C7-6641-4430E445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5E74-A1C1-9404-0BD5-5878DBB6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55AF3-1F6A-2734-6A7D-977CCBD71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1815647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Identify scales and target variables</a:t>
            </a:r>
          </a:p>
          <a:p>
            <a:r>
              <a:rPr dirty="0"/>
              <a:t>Categorize numerical and categorical data</a:t>
            </a:r>
          </a:p>
          <a:p>
            <a:r>
              <a:rPr lang="en-US" dirty="0"/>
              <a:t>Categorize dependent and independent variable 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1B2395-54D5-B67A-F8EB-611E07799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632960"/>
              </p:ext>
            </p:extLst>
          </p:nvPr>
        </p:nvGraphicFramePr>
        <p:xfrm>
          <a:off x="2032000" y="3517074"/>
          <a:ext cx="8128000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051605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015063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052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Demographic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Age, Gender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1207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NASA-TLX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3080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Fatigue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Borg Scale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451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Work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0292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Posture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RULA/REBA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037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Discomfort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Body Pain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4130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Ergonomic Factors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Force, Vibration etc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22335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Handle missing values</a:t>
            </a:r>
          </a:p>
          <a:p>
            <a:r>
              <a:rPr dirty="0"/>
              <a:t>Remove duplicates</a:t>
            </a:r>
          </a:p>
          <a:p>
            <a:r>
              <a:rPr dirty="0"/>
              <a:t>Standardize scales and values</a:t>
            </a:r>
          </a:p>
          <a:p>
            <a:r>
              <a:rPr dirty="0"/>
              <a:t>Convert categorical data into structured format</a:t>
            </a:r>
            <a:endParaRPr lang="en-US" dirty="0"/>
          </a:p>
          <a:p>
            <a:r>
              <a:rPr lang="en-US" dirty="0"/>
              <a:t>Ex: </a:t>
            </a:r>
            <a:r>
              <a:rPr lang="en-IN" sz="2400" dirty="0"/>
              <a:t>Standardization</a:t>
            </a:r>
            <a:r>
              <a:rPr lang="en-US" dirty="0"/>
              <a:t>	</a:t>
            </a:r>
            <a:r>
              <a:rPr lang="en-US" sz="2400" dirty="0"/>
              <a:t>High -&gt; 3</a:t>
            </a:r>
          </a:p>
          <a:p>
            <a:pPr marL="2286000" lvl="5" indent="0">
              <a:buNone/>
            </a:pPr>
            <a:r>
              <a:rPr lang="en-US" dirty="0"/>
              <a:t>	 	Medium  -&gt; 2</a:t>
            </a:r>
          </a:p>
          <a:p>
            <a:pPr marL="2286000" lvl="5" indent="0">
              <a:buNone/>
            </a:pPr>
            <a:r>
              <a:rPr lang="en-US" dirty="0"/>
              <a:t>	 	Low -&gt; 1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55B86-0D4B-AACB-7511-E36A9224B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E46D1-F33E-FB39-723D-8233C927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7D08F-6DE2-9E67-432C-21BE62A84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48396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Borg Scale Standardization: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NASA-TLX Cleaning</a:t>
            </a:r>
            <a:endParaRPr lang="en-US" dirty="0"/>
          </a:p>
          <a:p>
            <a:pPr marL="1828800" lvl="4" indent="0">
              <a:buNone/>
            </a:pPr>
            <a:r>
              <a:rPr lang="en-US" dirty="0"/>
              <a:t>		High Workload</a:t>
            </a:r>
          </a:p>
          <a:p>
            <a:pPr marL="0" indent="0">
              <a:buNone/>
            </a:pPr>
            <a:r>
              <a:rPr lang="en-US" dirty="0"/>
              <a:t>	        					↓</a:t>
            </a:r>
          </a:p>
          <a:p>
            <a:pPr marL="1371600" lvl="3" indent="0">
              <a:buNone/>
            </a:pPr>
            <a:r>
              <a:rPr lang="en-US" dirty="0"/>
              <a:t>	Convert into numerical workload score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D0660-3D50-0F21-590C-69FDE50D2985}"/>
              </a:ext>
            </a:extLst>
          </p:cNvPr>
          <p:cNvSpPr txBox="1"/>
          <p:nvPr/>
        </p:nvSpPr>
        <p:spPr>
          <a:xfrm>
            <a:off x="3645408" y="2308288"/>
            <a:ext cx="32552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Very Low  	→ 1</a:t>
            </a:r>
          </a:p>
          <a:p>
            <a:r>
              <a:rPr lang="en-IN" dirty="0"/>
              <a:t>Low      	 	→ 2</a:t>
            </a:r>
          </a:p>
          <a:p>
            <a:r>
              <a:rPr lang="en-IN" dirty="0"/>
              <a:t>Medium    	→ 3</a:t>
            </a:r>
          </a:p>
          <a:p>
            <a:r>
              <a:rPr lang="en-IN" dirty="0"/>
              <a:t>High           	→ 4</a:t>
            </a:r>
          </a:p>
          <a:p>
            <a:r>
              <a:rPr lang="en-IN" dirty="0"/>
              <a:t>Very High  	→ 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459DF9-12DF-488C-BF89-161E778F3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64" y="4222274"/>
            <a:ext cx="3203490" cy="843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F226F5-1BB3-10BE-E788-30247CE93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98" y="2117820"/>
            <a:ext cx="3624418" cy="843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178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7006-0AFF-0C98-986E-A42902B6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D0608-2D89-4142-A379-097E7C1ED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E435F-8749-A351-AA22-94EF9D654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09928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Categorical Encoding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Work Exposure Cleaning</a:t>
            </a:r>
          </a:p>
          <a:p>
            <a:pPr marL="1828800" lvl="4" indent="0">
              <a:buNone/>
            </a:pPr>
            <a:r>
              <a:rPr lang="en-US" dirty="0"/>
              <a:t>	  “ 8-10 </a:t>
            </a:r>
            <a:r>
              <a:rPr lang="en-US" dirty="0" err="1"/>
              <a:t>hrs</a:t>
            </a:r>
            <a:r>
              <a:rPr lang="en-US" dirty="0"/>
              <a:t> ”</a:t>
            </a:r>
          </a:p>
          <a:p>
            <a:pPr marL="1828800" lvl="4" indent="0">
              <a:buNone/>
            </a:pPr>
            <a:r>
              <a:rPr lang="en-US" dirty="0"/>
              <a:t>      		↓</a:t>
            </a:r>
          </a:p>
          <a:p>
            <a:pPr marL="1828800" lvl="4" indent="0">
              <a:buNone/>
            </a:pPr>
            <a:r>
              <a:rPr lang="en-US" dirty="0"/>
              <a:t>		9 </a:t>
            </a:r>
            <a:r>
              <a:rPr lang="en-US" dirty="0" err="1"/>
              <a:t>hrs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766ADB-D9CE-45A1-01D1-5476D33E3D35}"/>
              </a:ext>
            </a:extLst>
          </p:cNvPr>
          <p:cNvSpPr txBox="1"/>
          <p:nvPr/>
        </p:nvSpPr>
        <p:spPr>
          <a:xfrm>
            <a:off x="3645408" y="2344864"/>
            <a:ext cx="32552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Scooter → 1</a:t>
            </a:r>
          </a:p>
          <a:p>
            <a:r>
              <a:rPr lang="en-IN" dirty="0"/>
              <a:t>Motorcycle →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4ACBB-377C-F8FF-B844-6F5444E94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521" y="3591234"/>
            <a:ext cx="2067213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2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725"/>
            <a:ext cx="10972800" cy="4525963"/>
          </a:xfrm>
        </p:spPr>
        <p:txBody>
          <a:bodyPr>
            <a:normAutofit/>
          </a:bodyPr>
          <a:lstStyle/>
          <a:p>
            <a:r>
              <a:rPr dirty="0"/>
              <a:t>Scaling and normalization</a:t>
            </a:r>
          </a:p>
          <a:p>
            <a:r>
              <a:rPr dirty="0"/>
              <a:t>Preparing ML-ready dataset</a:t>
            </a:r>
            <a:endParaRPr lang="en-US" dirty="0"/>
          </a:p>
          <a:p>
            <a:r>
              <a:rPr lang="en-US" dirty="0"/>
              <a:t>Categorical variables are encoded into numerical format</a:t>
            </a:r>
          </a:p>
          <a:p>
            <a:r>
              <a:rPr lang="en-US" dirty="0"/>
              <a:t>Yes/No variables are converted into binary values</a:t>
            </a:r>
          </a:p>
          <a:p>
            <a:r>
              <a:rPr lang="en-US" dirty="0"/>
              <a:t>Workload and exposure variables are normalized</a:t>
            </a:r>
          </a:p>
          <a:p>
            <a:r>
              <a:rPr lang="en-US" dirty="0"/>
              <a:t>Input features and target variables are separated for model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9289C-2B3E-9C8B-7A47-E6AAC1E4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9A70D-9C65-3B10-2AC8-DE8A1DA55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59FC5-8239-993C-57CD-6904130B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b="1" dirty="0"/>
              <a:t>Binary Conversion: 	</a:t>
            </a:r>
          </a:p>
          <a:p>
            <a:pPr marL="1828800" lvl="4" indent="0">
              <a:buNone/>
            </a:pPr>
            <a:r>
              <a:rPr lang="en-IN" b="1" dirty="0"/>
              <a:t>Yes → 1</a:t>
            </a:r>
          </a:p>
          <a:p>
            <a:pPr marL="1828800" lvl="4" indent="0">
              <a:buNone/>
            </a:pPr>
            <a:r>
              <a:rPr lang="en-IN" b="1" dirty="0"/>
              <a:t>No  → 0</a:t>
            </a:r>
          </a:p>
          <a:p>
            <a:pPr marL="1828800" lvl="4" indent="0">
              <a:buNone/>
            </a:pPr>
            <a:endParaRPr lang="en-IN" b="1" dirty="0"/>
          </a:p>
          <a:p>
            <a:pPr marL="1828800" lvl="4" indent="0">
              <a:buNone/>
            </a:pPr>
            <a:endParaRPr lang="en-IN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87509-6338-9D70-BEF8-AC24FD80A9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72"/>
          <a:stretch>
            <a:fillRect/>
          </a:stretch>
        </p:blipFill>
        <p:spPr>
          <a:xfrm>
            <a:off x="6997203" y="1741135"/>
            <a:ext cx="3285808" cy="21176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E728207-29E4-D907-B025-B4257EDB74F7}"/>
              </a:ext>
            </a:extLst>
          </p:cNvPr>
          <p:cNvSpPr txBox="1"/>
          <p:nvPr/>
        </p:nvSpPr>
        <p:spPr>
          <a:xfrm>
            <a:off x="1024128" y="385876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Ergonomic Risk Categorization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30F00-2401-EE5D-8939-BFB6E51B8AF8}"/>
              </a:ext>
            </a:extLst>
          </p:cNvPr>
          <p:cNvSpPr txBox="1"/>
          <p:nvPr/>
        </p:nvSpPr>
        <p:spPr>
          <a:xfrm>
            <a:off x="3048000" y="453080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Low Risk    → 0</a:t>
            </a:r>
          </a:p>
          <a:p>
            <a:r>
              <a:rPr lang="en-IN" dirty="0"/>
              <a:t>Medium Risk → 1</a:t>
            </a:r>
          </a:p>
          <a:p>
            <a:r>
              <a:rPr lang="en-IN" dirty="0"/>
              <a:t>High Risk   → 2</a:t>
            </a:r>
          </a:p>
        </p:txBody>
      </p:sp>
    </p:spTree>
    <p:extLst>
      <p:ext uri="{BB962C8B-B14F-4D97-AF65-F5344CB8AC3E}">
        <p14:creationId xmlns:p14="http://schemas.microsoft.com/office/powerpoint/2010/main" val="847296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Transform raw rider responses into meaningful ergonomic risk representations</a:t>
            </a:r>
          </a:p>
          <a:p>
            <a:r>
              <a:rPr lang="en-IN" dirty="0"/>
              <a:t>Construct repetition, vibration, and contact stress exposure variables</a:t>
            </a:r>
            <a:endParaRPr lang="en-US" dirty="0"/>
          </a:p>
          <a:p>
            <a:r>
              <a:rPr dirty="0"/>
              <a:t>Generate exposure index</a:t>
            </a:r>
          </a:p>
          <a:p>
            <a:r>
              <a:rPr dirty="0"/>
              <a:t>Create posture risk scores</a:t>
            </a:r>
          </a:p>
          <a:p>
            <a:r>
              <a:rPr dirty="0"/>
              <a:t>Build ergonomic severity levels</a:t>
            </a:r>
            <a:endParaRPr lang="en-US" dirty="0"/>
          </a:p>
          <a:p>
            <a:r>
              <a:rPr lang="en-US" dirty="0"/>
              <a:t>Generate feature sets for prediction of 6 ergonomic risk factors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1C0C9-5BC3-985E-2AB7-B60544EB7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01DD-EA8A-1FF1-489D-F3E86D4C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Repetition Feature Engineering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IN" sz="2000"/>
                        <m:t>Repetition</m:t>
                      </m:r>
                      <m:r>
                        <m:rPr>
                          <m:nor/>
                        </m:rPr>
                        <a:rPr lang="en-IN" sz="2000" i="1"/>
                        <m:t> </m:t>
                      </m:r>
                      <m:r>
                        <m:rPr>
                          <m:nor/>
                        </m:rPr>
                        <a:rPr lang="en-IN" sz="2000" i="1"/>
                        <m:t>Index</m:t>
                      </m:r>
                      <m:r>
                        <a:rPr lang="en-IN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IN" sz="2000" i="1"/>
                            <m:t>Deliveries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Per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Day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IN" sz="2000" i="1"/>
                            <m:t>Work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Hours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Vibration Feature Engineering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Vibration Exposure Index = Riding Duration × Vehicle Weight Factor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Awkward Posture Feature Engineering: </a:t>
                </a:r>
                <a:r>
                  <a:rPr lang="en-IN" sz="2000" dirty="0"/>
                  <a:t>by REBA and RULA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Static Posture Feature Engineering: </a:t>
                </a:r>
                <a:r>
                  <a:rPr lang="en-IN" sz="2000" dirty="0"/>
                  <a:t>continuous sitting duration </a:t>
                </a:r>
                <a:endParaRPr lang="en-IN" sz="20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0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F4C8948-DA12-D326-83DA-AB2217A89E6B}"/>
              </a:ext>
            </a:extLst>
          </p:cNvPr>
          <p:cNvSpPr txBox="1"/>
          <p:nvPr/>
        </p:nvSpPr>
        <p:spPr>
          <a:xfrm>
            <a:off x="1231392" y="4523927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Engineered Features Created:</a:t>
            </a:r>
          </a:p>
          <a:p>
            <a:r>
              <a:rPr lang="en-IN" dirty="0"/>
              <a:t>- Repetition Index</a:t>
            </a:r>
          </a:p>
          <a:p>
            <a:r>
              <a:rPr lang="en-IN" dirty="0"/>
              <a:t>- Vibration Exposure Index</a:t>
            </a:r>
          </a:p>
          <a:p>
            <a:r>
              <a:rPr lang="en-IN" dirty="0"/>
              <a:t>- Force Exposure Score</a:t>
            </a:r>
          </a:p>
          <a:p>
            <a:r>
              <a:rPr lang="en-IN" dirty="0"/>
              <a:t>- Static Posture Exposure</a:t>
            </a:r>
          </a:p>
          <a:p>
            <a:r>
              <a:rPr lang="en-IN" dirty="0"/>
              <a:t>- Ergonomic Severity Level</a:t>
            </a:r>
          </a:p>
          <a:p>
            <a:r>
              <a:rPr lang="en-IN" dirty="0"/>
              <a:t>- Overall Workload Score</a:t>
            </a:r>
          </a:p>
        </p:txBody>
      </p:sp>
    </p:spTree>
    <p:extLst>
      <p:ext uri="{BB962C8B-B14F-4D97-AF65-F5344CB8AC3E}">
        <p14:creationId xmlns:p14="http://schemas.microsoft.com/office/powerpoint/2010/main" val="6481744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D9C9-ED49-32EE-466A-6C41576C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A511E-8D8C-FAB6-C1B2-71A9D87D3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Cumulative Exposure Modeling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Combine multiple workload and exposure variables into cumulative ergonomic exposure features.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Input Variables Considered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Deliveries per day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score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work_hours × fatigue × riding_duration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cumulative_exposure_score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riders with prolonged and combined ergonomic exposure conditions.</a:t>
            </a:r>
          </a:p>
        </p:txBody>
      </p:sp>
    </p:spTree>
    <p:extLst>
      <p:ext uri="{BB962C8B-B14F-4D97-AF65-F5344CB8AC3E}">
        <p14:creationId xmlns:p14="http://schemas.microsoft.com/office/powerpoint/2010/main" val="4224255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Analyze workload, fatigue, and ergonomic exposure patterns</a:t>
            </a:r>
          </a:p>
          <a:p>
            <a:r>
              <a:rPr lang="en-US" dirty="0"/>
              <a:t>Identify high-risk rider exposure conditions </a:t>
            </a:r>
          </a:p>
          <a:p>
            <a:r>
              <a:rPr dirty="0"/>
              <a:t>Study fatigue and discomfort trends</a:t>
            </a:r>
          </a:p>
          <a:p>
            <a:r>
              <a:rPr dirty="0"/>
              <a:t>Visualize body pain prevalence</a:t>
            </a:r>
          </a:p>
          <a:p>
            <a:r>
              <a:rPr dirty="0"/>
              <a:t>Identify initial patterns and anomalies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9368A-EBAC-0C79-F8F1-4D804B80D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2596D-EAFB-DD2C-B0F2-AD4A04ED4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1500000" y="834000"/>
            <a:ext cx="9192000" cy="5190000"/>
          </a:xfrm>
        </p:spPr>
        <p:txBody>
          <a:bodyPr anchor="ctr">
            <a:normAutofit/>
          </a:bodyPr>
          <a:lstStyle/>
          <a:p>
            <a:endParaRPr lang="en-US" sz="800" dirty="0"/>
          </a:p>
          <a:p>
            <a:pPr marL="0" indent="0" algn="ctr">
              <a:buNone/>
            </a:pPr>
            <a:r>
              <a:rPr lang="en-US" sz="2400" b="1" dirty="0"/>
              <a:t>Anatomical Strain Index (ASI)</a:t>
            </a:r>
          </a:p>
          <a:p>
            <a:endParaRPr lang="en-US" sz="800" dirty="0"/>
          </a:p>
          <a:p>
            <a:pPr marL="0" indent="0" algn="ctr">
              <a:buNone/>
            </a:pPr>
            <a:r>
              <a:rPr lang="en-US" sz="2000" b="1" dirty="0"/>
              <a:t>Combine four localized discomfort indicators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900" dirty="0"/>
              <a:t>Neck pain</a:t>
            </a:r>
          </a:p>
          <a:p>
            <a:pPr marL="0" indent="0" algn="ctr">
              <a:buNone/>
            </a:pPr>
            <a:r>
              <a:rPr lang="en-US" sz="1900" dirty="0"/>
              <a:t>Shoulder pain</a:t>
            </a:r>
          </a:p>
          <a:p>
            <a:pPr marL="0" indent="0" algn="ctr">
              <a:buNone/>
            </a:pPr>
            <a:r>
              <a:rPr lang="en-US" sz="1900" dirty="0"/>
              <a:t>Lower back pain</a:t>
            </a:r>
          </a:p>
          <a:p>
            <a:pPr marL="0" indent="0" algn="ctr">
              <a:buNone/>
            </a:pPr>
            <a:r>
              <a:rPr lang="en-US" sz="1900" dirty="0"/>
              <a:t>Wrist discomfort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↓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200" b="1" dirty="0"/>
              <a:t>Single Ergonomic Strain Score</a:t>
            </a:r>
          </a:p>
        </p:txBody>
      </p:sp>
    </p:spTree>
    <p:extLst>
      <p:ext uri="{BB962C8B-B14F-4D97-AF65-F5344CB8AC3E}">
        <p14:creationId xmlns:p14="http://schemas.microsoft.com/office/powerpoint/2010/main" val="2738318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3330-ABDE-02AB-CD82-7E7EA9718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2C23-4D60-58F9-8640-32AC22BFC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F7639-5140-5789-96A3-EF2BA40D4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Workload Analysis:</a:t>
            </a:r>
          </a:p>
          <a:p>
            <a:pPr lvl="1"/>
            <a:r>
              <a:rPr lang="en-IN" dirty="0" err="1"/>
              <a:t>Analyze</a:t>
            </a:r>
            <a:r>
              <a:rPr lang="en-IN" dirty="0"/>
              <a:t>:</a:t>
            </a:r>
          </a:p>
          <a:p>
            <a:pPr lvl="2"/>
            <a:r>
              <a:rPr lang="en-IN" dirty="0"/>
              <a:t>NASA-TLX workload distribution </a:t>
            </a:r>
          </a:p>
          <a:p>
            <a:pPr lvl="2"/>
            <a:r>
              <a:rPr lang="en-IN" dirty="0"/>
              <a:t>physical demand </a:t>
            </a:r>
          </a:p>
          <a:p>
            <a:pPr lvl="2"/>
            <a:r>
              <a:rPr lang="en-IN" dirty="0"/>
              <a:t>stress levels </a:t>
            </a:r>
          </a:p>
          <a:p>
            <a:pPr lvl="2"/>
            <a:r>
              <a:rPr lang="en-IN" dirty="0"/>
              <a:t>work pressure </a:t>
            </a:r>
          </a:p>
          <a:p>
            <a:pPr lvl="2"/>
            <a:r>
              <a:rPr lang="en-IN" dirty="0"/>
              <a:t>fatigue trends </a:t>
            </a:r>
          </a:p>
          <a:p>
            <a:pPr marL="1828800" lvl="4" indent="0">
              <a:buNone/>
            </a:pPr>
            <a:r>
              <a:rPr lang="en-IN" dirty="0"/>
              <a:t>↓</a:t>
            </a:r>
          </a:p>
          <a:p>
            <a:pPr lvl="2"/>
            <a:r>
              <a:rPr lang="en-IN" dirty="0"/>
              <a:t>Identify: high workload rider groups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8148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42C1B-5911-5C7C-6E29-DC7EF81A1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22BF-73B4-EA39-455A-28A1D6D76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4103E-5838-35DA-991C-8E3EF7B8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Fatigue &amp; Exhaustion Analysis: </a:t>
            </a:r>
            <a:r>
              <a:rPr lang="en-IN" dirty="0"/>
              <a:t>high fatigue exposure patterns</a:t>
            </a:r>
          </a:p>
          <a:p>
            <a:r>
              <a:rPr lang="en-IN" b="1" dirty="0"/>
              <a:t>Repetition &amp; Exposure Analysis : </a:t>
            </a:r>
            <a:r>
              <a:rPr lang="en-IN" dirty="0"/>
              <a:t>high repetition exposure groups</a:t>
            </a:r>
          </a:p>
          <a:p>
            <a:r>
              <a:rPr lang="en-IN" b="1" dirty="0"/>
              <a:t>Static Posture Analysis : </a:t>
            </a:r>
            <a:r>
              <a:rPr lang="en-IN" dirty="0"/>
              <a:t>prolonged posture exposure</a:t>
            </a:r>
          </a:p>
          <a:p>
            <a:r>
              <a:rPr lang="en-IN" b="1" dirty="0"/>
              <a:t>Contact Stress Analysis: </a:t>
            </a:r>
            <a:r>
              <a:rPr lang="en-IN" dirty="0"/>
              <a:t>localized contact stress patterns</a:t>
            </a:r>
          </a:p>
          <a:p>
            <a:r>
              <a:rPr lang="en-IN" b="1" dirty="0"/>
              <a:t>Vibration Exposure Analysis: </a:t>
            </a:r>
            <a:r>
              <a:rPr lang="en-IN" dirty="0"/>
              <a:t>high vibration exposure conditions</a:t>
            </a:r>
          </a:p>
        </p:txBody>
      </p:sp>
    </p:spTree>
    <p:extLst>
      <p:ext uri="{BB962C8B-B14F-4D97-AF65-F5344CB8AC3E}">
        <p14:creationId xmlns:p14="http://schemas.microsoft.com/office/powerpoint/2010/main" val="3513864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Analyze relationships between workload, fatigue, discomfort, and ergonomic exposure variables</a:t>
            </a:r>
          </a:p>
          <a:p>
            <a:r>
              <a:rPr lang="en-US" dirty="0"/>
              <a:t>Study interaction between posture, vibration, force, and fatigue variables</a:t>
            </a:r>
          </a:p>
          <a:p>
            <a:r>
              <a:rPr lang="en-IN" dirty="0"/>
              <a:t>Work hours vs fatigue</a:t>
            </a:r>
            <a:endParaRPr dirty="0"/>
          </a:p>
          <a:p>
            <a:r>
              <a:rPr dirty="0"/>
              <a:t>Force vs discomfort</a:t>
            </a:r>
          </a:p>
          <a:p>
            <a:r>
              <a:rPr dirty="0"/>
              <a:t>Repetition vs pain</a:t>
            </a:r>
          </a:p>
          <a:p>
            <a:r>
              <a:rPr dirty="0"/>
              <a:t>Vibration vs lower back pain</a:t>
            </a:r>
          </a:p>
          <a:p>
            <a:r>
              <a:rPr dirty="0"/>
              <a:t>Posture risk vs exhaustion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D701-6703-2882-2B2F-8DE53794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0A77F-488C-188D-B54A-08C82AB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C6664-1F4B-D662-EE19-E03106407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IN" b="1" dirty="0"/>
              <a:t>Workload vs Fatigue: </a:t>
            </a:r>
            <a:r>
              <a:rPr lang="en-US" dirty="0"/>
              <a:t>high workload → increased fatigue exposure</a:t>
            </a:r>
          </a:p>
          <a:p>
            <a:pPr marL="0" indent="0">
              <a:buNone/>
            </a:pPr>
            <a:r>
              <a:rPr lang="en-IN" b="1" dirty="0"/>
              <a:t>Force vs Discomfort</a:t>
            </a:r>
            <a:r>
              <a:rPr lang="en-IN" dirty="0"/>
              <a:t>: </a:t>
            </a:r>
            <a:r>
              <a:rPr lang="en-US" dirty="0"/>
              <a:t>higher force exposure → higher discomfort risk</a:t>
            </a:r>
          </a:p>
          <a:p>
            <a:pPr marL="0" indent="0">
              <a:buNone/>
            </a:pPr>
            <a:r>
              <a:rPr lang="en-IN" b="1" dirty="0"/>
              <a:t>Repetition vs Pain: </a:t>
            </a:r>
            <a:r>
              <a:rPr lang="en-US" dirty="0"/>
              <a:t>continuous repetitive work → increased pain prevalence</a:t>
            </a:r>
          </a:p>
          <a:p>
            <a:pPr marL="0" indent="0">
              <a:buNone/>
            </a:pPr>
            <a:r>
              <a:rPr lang="en-US" b="1" dirty="0"/>
              <a:t>Vibration vs Lower Back Pain: </a:t>
            </a:r>
            <a:r>
              <a:rPr lang="en-US" dirty="0"/>
              <a:t>higher riding vibration → increased lower back pain</a:t>
            </a:r>
          </a:p>
          <a:p>
            <a:pPr marL="0" indent="0">
              <a:buNone/>
            </a:pPr>
            <a:r>
              <a:rPr lang="en-IN" b="1" dirty="0"/>
              <a:t>Posture Risk vs Fatigue: </a:t>
            </a:r>
            <a:r>
              <a:rPr lang="en-US" dirty="0"/>
              <a:t>awkward posture exposure → increased fatigue risk</a:t>
            </a:r>
            <a:endParaRPr lang="en-IN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574150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053A5-807B-1F25-2279-D76861019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92B4-0009-C579-5C9B-2C48FF474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5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Interaction Feature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Analyze combined effects of multiple ergonomic exposure variables instead of single-variable relationships.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Interaction Variables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× Fatigue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Vibration × 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× 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Repetition × Fatigue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High vibration + long riding 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Higher lower back discomfort risk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combined ergonomic conditions contributing to high-risk exposure.</a:t>
            </a:r>
          </a:p>
        </p:txBody>
      </p:sp>
    </p:spTree>
    <p:extLst>
      <p:ext uri="{BB962C8B-B14F-4D97-AF65-F5344CB8AC3E}">
        <p14:creationId xmlns:p14="http://schemas.microsoft.com/office/powerpoint/2010/main" val="63865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589A-3C74-E5D8-65A1-925513CA6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DF221-1907-BE96-FE3E-25BA0CC14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946B04-0555-EE79-8100-38334E4802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9597235"/>
              </p:ext>
            </p:extLst>
          </p:nvPr>
        </p:nvGraphicFramePr>
        <p:xfrm>
          <a:off x="1739392" y="2181860"/>
          <a:ext cx="812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3658827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5808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869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Correlation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Identify variable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5510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Heatmaps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Visualize relationship strength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0150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Scatter Plots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Study exposure patterns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061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Comparative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Compare rider groups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360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Statistical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Validate significant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264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8280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Chi-Square Test</a:t>
            </a:r>
            <a:r>
              <a:rPr lang="en-US" dirty="0"/>
              <a:t> : </a:t>
            </a:r>
          </a:p>
          <a:p>
            <a:pPr marL="0" indent="0">
              <a:buNone/>
            </a:pPr>
            <a:r>
              <a:rPr lang="en-US" dirty="0"/>
              <a:t>	Bag carrying method ↔ Shoulder pain</a:t>
            </a:r>
            <a:endParaRPr dirty="0"/>
          </a:p>
          <a:p>
            <a:r>
              <a:rPr dirty="0"/>
              <a:t>Pearson/Spearman Correlation</a:t>
            </a:r>
          </a:p>
          <a:p>
            <a:r>
              <a:rPr dirty="0"/>
              <a:t>Mann-Whitney U Test</a:t>
            </a:r>
          </a:p>
          <a:p>
            <a:r>
              <a:rPr dirty="0"/>
              <a:t>Kruskal-Wallis Test</a:t>
            </a:r>
          </a:p>
          <a:p>
            <a:r>
              <a:rPr dirty="0"/>
              <a:t>Regression Analysis</a:t>
            </a:r>
            <a:endParaRPr lang="en-US" dirty="0"/>
          </a:p>
          <a:p>
            <a:pPr marL="457200" lvl="1" indent="0">
              <a:buNone/>
            </a:pPr>
            <a:r>
              <a:rPr lang="en-IN" dirty="0"/>
              <a:t>Workload + fatigue → exhaustion prediction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888C9-C53B-86F1-F58E-7532B8C94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633-4552-000B-07C0-E3E2A2DC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Threshold &amp; Risk Escalation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Goal</a:t>
            </a:r>
          </a:p>
          <a:p>
            <a:pPr marL="285750" indent="0">
              <a:buNone/>
            </a:pPr>
            <a:r>
              <a:rPr lang="en-US" sz="1700" dirty="0"/>
              <a:t>Identify workload and exposure thresholds where ergonomic risk rapidly increases.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Example Threshold Conditions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700" dirty="0"/>
              <a:t>work_hours &gt; 9</a:t>
            </a:r>
          </a:p>
          <a:p>
            <a:pPr marL="0" indent="0" algn="ctr">
              <a:buNone/>
            </a:pPr>
            <a:r>
              <a:rPr lang="en-US" sz="1700" b="1" dirty="0"/>
              <a:t>AND</a:t>
            </a:r>
          </a:p>
          <a:p>
            <a:pPr marL="0" indent="0" algn="ctr">
              <a:buNone/>
            </a:pPr>
            <a:r>
              <a:rPr lang="en-US" sz="1700" dirty="0"/>
              <a:t>fatigue_score &gt; 7</a:t>
            </a:r>
          </a:p>
          <a:p>
            <a:pPr marL="0" indent="0" algn="ctr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 exhaustion risk</a:t>
            </a:r>
          </a:p>
        </p:txBody>
      </p:sp>
      <p:sp>
        <p:nvSpPr>
          <p:cNvPr id="10" name="Detail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900" b="1" dirty="0"/>
              <a:t>Input Variables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Posture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Workload level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Riding duration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Methods Used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Decision Trees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XGBoost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Threshold-based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Purpose</a:t>
            </a:r>
          </a:p>
          <a:p>
            <a:pPr marL="285750" indent="0">
              <a:buNone/>
            </a:pPr>
            <a:r>
              <a:rPr lang="en-US" sz="1700" dirty="0"/>
              <a:t>Detect nonlinear ergonomic risk escalation patterns.</a:t>
            </a:r>
          </a:p>
        </p:txBody>
      </p:sp>
    </p:spTree>
    <p:extLst>
      <p:ext uri="{BB962C8B-B14F-4D97-AF65-F5344CB8AC3E}">
        <p14:creationId xmlns:p14="http://schemas.microsoft.com/office/powerpoint/2010/main" val="819008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83B52B5-1F40-5B8D-EAFA-7EAF27614510}"/>
              </a:ext>
            </a:extLst>
          </p:cNvPr>
          <p:cNvSpPr/>
          <p:nvPr/>
        </p:nvSpPr>
        <p:spPr>
          <a:xfrm>
            <a:off x="6096000" y="4380637"/>
            <a:ext cx="5486400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5B1BC6-4363-D53D-920D-6E8DCC1441DC}"/>
              </a:ext>
            </a:extLst>
          </p:cNvPr>
          <p:cNvSpPr/>
          <p:nvPr/>
        </p:nvSpPr>
        <p:spPr>
          <a:xfrm>
            <a:off x="451104" y="4380637"/>
            <a:ext cx="5230368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AI/ML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Train predictive models</a:t>
            </a:r>
          </a:p>
          <a:p>
            <a:r>
              <a:rPr dirty="0"/>
              <a:t>Learn relationships from data</a:t>
            </a:r>
          </a:p>
          <a:p>
            <a:r>
              <a:rPr dirty="0"/>
              <a:t>Predict ergonomic risk factor severity</a:t>
            </a:r>
          </a:p>
          <a:p>
            <a:r>
              <a:rPr dirty="0"/>
              <a:t>Evaluate prediction performance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B26A4F-43CF-109A-3230-8BED7AD2E115}"/>
              </a:ext>
            </a:extLst>
          </p:cNvPr>
          <p:cNvSpPr txBox="1"/>
          <p:nvPr/>
        </p:nvSpPr>
        <p:spPr>
          <a:xfrm>
            <a:off x="719328" y="4380637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Input Features</a:t>
            </a:r>
          </a:p>
          <a:p>
            <a:r>
              <a:rPr lang="en-IN" dirty="0"/>
              <a:t>(workload, fatigue, posture, exposure)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AI/ML Model Training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Prediction of Ergonomic Risk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6D843E-16F6-3308-124D-787D17362C3A}"/>
              </a:ext>
            </a:extLst>
          </p:cNvPr>
          <p:cNvSpPr txBox="1"/>
          <p:nvPr/>
        </p:nvSpPr>
        <p:spPr>
          <a:xfrm>
            <a:off x="6096000" y="46576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High workload + high fatigue + long riding duration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Predicted High Static Posture Risk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ML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344"/>
            <a:ext cx="10972800" cy="4525963"/>
          </a:xfrm>
        </p:spPr>
        <p:txBody>
          <a:bodyPr/>
          <a:lstStyle/>
          <a:p>
            <a:r>
              <a:rPr dirty="0"/>
              <a:t>Logistic Regression</a:t>
            </a:r>
            <a:r>
              <a:rPr lang="en-US" dirty="0"/>
              <a:t>(</a:t>
            </a:r>
            <a:r>
              <a:rPr lang="en-IN" dirty="0"/>
              <a:t>Baseline classification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Decision Tree</a:t>
            </a:r>
            <a:r>
              <a:rPr lang="en-US" dirty="0"/>
              <a:t>(</a:t>
            </a:r>
            <a:r>
              <a:rPr lang="en-IN" dirty="0"/>
              <a:t>Threshold-based ergonomic prediction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Random Forest</a:t>
            </a:r>
            <a:r>
              <a:rPr lang="en-US" dirty="0"/>
              <a:t>(Feature importance and robust prediction)</a:t>
            </a:r>
            <a:endParaRPr dirty="0"/>
          </a:p>
          <a:p>
            <a:r>
              <a:rPr lang="en-IN" dirty="0" err="1"/>
              <a:t>XGBoost</a:t>
            </a:r>
            <a:r>
              <a:rPr lang="en-IN" dirty="0"/>
              <a:t> (Nonlinear ergonomic risk prediction)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9575-F00F-55F1-9BED-E604A8829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8FA10-8B44-26F7-2354-EBDD23C2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A9ACC-F3E0-B947-494D-A6414C467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42781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16732-4741-1EED-B7C4-1A497D66CD50}"/>
              </a:ext>
            </a:extLst>
          </p:cNvPr>
          <p:cNvSpPr txBox="1"/>
          <p:nvPr/>
        </p:nvSpPr>
        <p:spPr>
          <a:xfrm>
            <a:off x="400812" y="1580385"/>
            <a:ext cx="1154125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b="1" dirty="0"/>
              <a:t>Validation Methods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Cross-validation is used to test model generalization and avoid overfitting.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Overfitting analysis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b="1" dirty="0"/>
              <a:t>Purpose</a:t>
            </a:r>
            <a:r>
              <a:rPr lang="en-US" sz="3200" dirty="0"/>
              <a:t>:</a:t>
            </a:r>
            <a:br>
              <a:rPr lang="en-US" sz="3200" dirty="0"/>
            </a:br>
            <a:r>
              <a:rPr lang="en-US" sz="3200" dirty="0"/>
              <a:t>Ensure the AI/ML models perform consistently across different rider data distributions.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72291-F120-7138-A070-AEBA2393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9495-8101-27D0-2A18-CFAC55CBA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19CC9-6186-330E-8DA7-E6DF4DDF8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296" y="1703198"/>
            <a:ext cx="10972800" cy="4525963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Evaluation Metrics</a:t>
            </a:r>
          </a:p>
          <a:p>
            <a:r>
              <a:rPr dirty="0"/>
              <a:t>Accuracy</a:t>
            </a:r>
          </a:p>
          <a:p>
            <a:r>
              <a:rPr dirty="0"/>
              <a:t>Precision</a:t>
            </a:r>
          </a:p>
          <a:p>
            <a:r>
              <a:rPr dirty="0"/>
              <a:t>Recall</a:t>
            </a:r>
          </a:p>
          <a:p>
            <a:r>
              <a:rPr dirty="0"/>
              <a:t>F1-Score</a:t>
            </a:r>
          </a:p>
          <a:p>
            <a:r>
              <a:rPr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687677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Heatmaps</a:t>
            </a:r>
          </a:p>
          <a:p>
            <a:r>
              <a:t>Scatter Plots</a:t>
            </a:r>
          </a:p>
          <a:p>
            <a:r>
              <a:t>Bar Charts</a:t>
            </a:r>
          </a:p>
          <a:p>
            <a:r>
              <a:t>Correlation Graphs</a:t>
            </a:r>
          </a:p>
          <a:p>
            <a:r>
              <a:t>Feature Importance Charts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D12E3-0F3B-D71A-4706-BD5CED5F1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3F2A-40DD-C86F-C36C-5FDDA509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Inputs &amp; Outputs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0C6D4-7222-ED3A-71F2-249572AD3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6972300" cy="4525963"/>
          </a:xfrm>
        </p:spPr>
        <p:txBody>
          <a:bodyPr>
            <a:noAutofit/>
          </a:bodyPr>
          <a:lstStyle/>
          <a:p>
            <a:r>
              <a:rPr lang="en-US" sz="2000" b="1" dirty="0"/>
              <a:t>Input Variables:</a:t>
            </a:r>
          </a:p>
          <a:p>
            <a:pPr marL="0" indent="0">
              <a:buNone/>
            </a:pPr>
            <a:r>
              <a:rPr lang="en-US" sz="2000" dirty="0"/>
              <a:t>- workload scores = </a:t>
            </a:r>
            <a:r>
              <a:rPr lang="en-IN" sz="2000" dirty="0"/>
              <a:t>6 NASA-TLX columns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- fatigue scores = Borg columns (overall, legs, breathing, traffic, exhaustion) </a:t>
            </a:r>
          </a:p>
          <a:p>
            <a:pPr marL="0" indent="0">
              <a:buNone/>
            </a:pPr>
            <a:r>
              <a:rPr lang="en-US" sz="2000" dirty="0"/>
              <a:t>- work hours = Working Hours per Day</a:t>
            </a:r>
          </a:p>
          <a:p>
            <a:pPr marL="0" indent="0">
              <a:buNone/>
            </a:pPr>
            <a:r>
              <a:rPr lang="en-US" sz="2000" dirty="0"/>
              <a:t>- riding duration</a:t>
            </a:r>
          </a:p>
          <a:p>
            <a:pPr marL="0" indent="0">
              <a:buNone/>
            </a:pPr>
            <a:r>
              <a:rPr lang="en-US" sz="2000" dirty="0"/>
              <a:t>- posture scores = RULA &amp; QEC</a:t>
            </a:r>
          </a:p>
          <a:p>
            <a:pPr marL="0" indent="0">
              <a:buNone/>
            </a:pPr>
            <a:r>
              <a:rPr lang="en-US" sz="2000" dirty="0"/>
              <a:t>- delivery frequency = Number of deliveries per day</a:t>
            </a:r>
          </a:p>
          <a:p>
            <a:pPr marL="0" indent="0">
              <a:buNone/>
            </a:pPr>
            <a:r>
              <a:rPr lang="en-US" sz="2000" dirty="0"/>
              <a:t>- vibration exposure = "Type of vehicle" + "Working Hours"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4C32F-01AB-8892-5120-74FEB19AAB79}"/>
              </a:ext>
            </a:extLst>
          </p:cNvPr>
          <p:cNvSpPr txBox="1"/>
          <p:nvPr/>
        </p:nvSpPr>
        <p:spPr>
          <a:xfrm>
            <a:off x="7581900" y="1739654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Prediction Outputs:</a:t>
            </a:r>
          </a:p>
          <a:p>
            <a:pPr marL="0" indent="0">
              <a:buNone/>
            </a:pPr>
            <a:r>
              <a:rPr lang="en-US" sz="1800" dirty="0"/>
              <a:t>- Force Risk</a:t>
            </a:r>
          </a:p>
          <a:p>
            <a:pPr marL="0" indent="0">
              <a:buNone/>
            </a:pPr>
            <a:r>
              <a:rPr lang="en-US" sz="1800" dirty="0"/>
              <a:t>- Repetition Risk</a:t>
            </a:r>
          </a:p>
          <a:p>
            <a:pPr marL="0" indent="0">
              <a:buNone/>
            </a:pPr>
            <a:r>
              <a:rPr lang="en-US" sz="1800" dirty="0"/>
              <a:t>- Duration Risk</a:t>
            </a:r>
          </a:p>
          <a:p>
            <a:pPr marL="0" indent="0">
              <a:buNone/>
            </a:pPr>
            <a:r>
              <a:rPr lang="en-US" sz="1800" dirty="0"/>
              <a:t>- Contact Stress Risk</a:t>
            </a:r>
          </a:p>
          <a:p>
            <a:pPr marL="0" indent="0">
              <a:buNone/>
            </a:pPr>
            <a:r>
              <a:rPr lang="en-US" sz="1800" dirty="0"/>
              <a:t>- Vibration Risk</a:t>
            </a:r>
          </a:p>
          <a:p>
            <a:pPr marL="0" indent="0">
              <a:buNone/>
            </a:pPr>
            <a:r>
              <a:rPr lang="en-US" sz="1800" dirty="0"/>
              <a:t>- Posture Risk</a:t>
            </a:r>
          </a:p>
        </p:txBody>
      </p:sp>
    </p:spTree>
    <p:extLst>
      <p:ext uri="{BB962C8B-B14F-4D97-AF65-F5344CB8AC3E}">
        <p14:creationId xmlns:p14="http://schemas.microsoft.com/office/powerpoint/2010/main" val="6882110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560FB-D499-39C5-3B2B-E7A044C2C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D8BCA-2AEC-D9F5-9F58-C7D29248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B249D-15AA-D16B-9F3F-4DEFA0D65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Analytical Outputs</a:t>
            </a:r>
          </a:p>
          <a:p>
            <a:pPr lvl="1"/>
            <a:r>
              <a:rPr lang="en-US" dirty="0"/>
              <a:t>EDA visualizations </a:t>
            </a:r>
          </a:p>
          <a:p>
            <a:pPr lvl="1"/>
            <a:r>
              <a:rPr lang="en-US" dirty="0"/>
              <a:t>relationship analysis </a:t>
            </a:r>
          </a:p>
          <a:p>
            <a:pPr lvl="1"/>
            <a:r>
              <a:rPr lang="en-US" dirty="0"/>
              <a:t>statistical findings</a:t>
            </a:r>
          </a:p>
          <a:p>
            <a:r>
              <a:rPr lang="en-IN" b="1" dirty="0"/>
              <a:t>AI/ML Outputs</a:t>
            </a:r>
          </a:p>
          <a:p>
            <a:pPr lvl="1"/>
            <a:r>
              <a:rPr lang="en-IN" dirty="0"/>
              <a:t>trained prediction models </a:t>
            </a:r>
          </a:p>
          <a:p>
            <a:pPr lvl="1"/>
            <a:r>
              <a:rPr lang="en-IN" dirty="0"/>
              <a:t>model evaluation reports</a:t>
            </a:r>
          </a:p>
          <a:p>
            <a:pPr lvl="1"/>
            <a:r>
              <a:rPr lang="en-US" dirty="0"/>
              <a:t>Feature importance analysis</a:t>
            </a:r>
          </a:p>
          <a:p>
            <a:pPr lvl="1"/>
            <a:r>
              <a:rPr lang="en-US" dirty="0"/>
              <a:t>Threshold detection analysis</a:t>
            </a:r>
            <a:endParaRPr lang="en-I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71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</a:t>
            </a:r>
          </a:p>
          <a:p>
            <a:r>
              <a:t>Pandas</a:t>
            </a:r>
          </a:p>
          <a:p>
            <a:r>
              <a:t>NumPy</a:t>
            </a:r>
          </a:p>
          <a:p>
            <a:r>
              <a:t>Scikit-learn</a:t>
            </a:r>
          </a:p>
          <a:p>
            <a:r>
              <a:t>Matplotlib</a:t>
            </a:r>
          </a:p>
          <a:p>
            <a:r>
              <a:t>Seaborn</a:t>
            </a:r>
          </a:p>
          <a:p>
            <a:r>
              <a:t>Jupyter Notebook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942D0-0D70-589E-4C8C-483BF9266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45776-0702-1FE3-1C3F-291E63955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4063" y="2857500"/>
            <a:ext cx="2643873" cy="1143000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3925356"/>
      </p:ext>
    </p:extLst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4-7 outputs from the 182-rider sample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overview</a:t>
            </a:r>
          </a:p>
        </p:txBody>
      </p:sp>
      <p:pic>
        <p:nvPicPr>
          <p:cNvPr id="3" name="Picture 2" descr="methodology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371600"/>
            <a:ext cx="10058400" cy="37009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Raw inputs -&gt; cleaning -&gt; feature engineering -&gt; Stage 1 labels -&gt; Stage 2 ML -&gt; web app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demographics (n = 182)</a:t>
            </a:r>
          </a:p>
        </p:txBody>
      </p:sp>
      <p:pic>
        <p:nvPicPr>
          <p:cNvPr id="3" name="Picture 2" descr="demograp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539" y="1371600"/>
            <a:ext cx="863492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MSD prevalence by body area</a:t>
            </a:r>
          </a:p>
        </p:txBody>
      </p:sp>
      <p:pic>
        <p:nvPicPr>
          <p:cNvPr id="3" name="Picture 2" descr="nordic_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636" y="1371600"/>
            <a:ext cx="8312727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84.6% of riders reported pain in at least one body area in the last 12 months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factor distribution (all 6 factors)</a:t>
            </a:r>
          </a:p>
        </p:txBody>
      </p:sp>
      <p:pic>
        <p:nvPicPr>
          <p:cNvPr id="3" name="Picture 2" descr="risk_facto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371600"/>
            <a:ext cx="10058400" cy="4499607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by demographic group</a:t>
            </a:r>
          </a:p>
        </p:txBody>
      </p:sp>
      <p:pic>
        <p:nvPicPr>
          <p:cNvPr id="3" name="Picture 2" descr="discomfort_by_dem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922" y="1371600"/>
            <a:ext cx="872615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Strong age gradient: 72% (under 25) up to 100% (45+)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at each risk level</a:t>
            </a:r>
          </a:p>
        </p:txBody>
      </p:sp>
      <p:pic>
        <p:nvPicPr>
          <p:cNvPr id="3" name="Picture 2" descr="risk_vs_discomf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206" y="1371600"/>
            <a:ext cx="845558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Force shows the cleanest dose-response of the 5 survey-derived factors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Correlation heatmap</a:t>
            </a:r>
          </a:p>
        </p:txBody>
      </p:sp>
      <p:pic>
        <p:nvPicPr>
          <p:cNvPr id="3" name="Picture 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803" y="1371600"/>
            <a:ext cx="505639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Workload, age, and job duration are the top correlations with discomfort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model performance (Stage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Best model per risk factor (5-fold CV, after GridSearchCV + SMOTE):</a:t>
            </a:r>
          </a:p>
          <a:p>
            <a:r>
              <a:rPr sz="1800"/>
              <a:t/>
            </a:r>
          </a:p>
          <a:p>
            <a:r>
              <a:rPr sz="1800"/>
              <a:t>Force           HistGradientBoosting        62%   AUC 71%   (42 features)</a:t>
            </a:r>
          </a:p>
          <a:p>
            <a:r>
              <a:rPr sz="1800"/>
              <a:t>Repetition      Random Forest               62%   AUC 73%   (41 features)</a:t>
            </a:r>
          </a:p>
          <a:p>
            <a:r>
              <a:rPr sz="1800"/>
              <a:t>Duration        Random Forest               61%   AUC 76%   (42 features)</a:t>
            </a:r>
          </a:p>
          <a:p>
            <a:r>
              <a:rPr sz="1800"/>
              <a:t>Vibration       Extra Trees                 58%   AUC 72%   (41 features)</a:t>
            </a:r>
          </a:p>
          <a:p>
            <a:r>
              <a:rPr sz="1800"/>
              <a:t>Contact Stress  Random Forest               60%   AUC 74%   (42 features)</a:t>
            </a:r>
          </a:p>
          <a:p>
            <a:r>
              <a:rPr sz="1800"/>
              <a:t>Posture         HistGradientBoosting        97%   AUC 98%   (63 features)</a:t>
            </a:r>
          </a:p>
          <a:p>
            <a:r>
              <a:rPr sz="1800"/>
              <a:t/>
            </a:r>
          </a:p>
          <a:p>
            <a:r>
              <a:rPr sz="1800"/>
              <a:t>5 survey-derived factors land at 58-62% accuracy with macro AUC 71-76%.</a:t>
            </a:r>
          </a:p>
          <a:p>
            <a:r>
              <a:rPr sz="1800"/>
              <a:t>Posture uses real RULA + QEC observation inputs and reaches 97% / AUC 98%.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Winning hyperparameters (GridSearchCV)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The values each target's grid search settled on:</a:t>
            </a:r>
          </a:p>
          <a:p>
            <a:r>
              <a:rPr sz="1800"/>
              <a:t/>
            </a:r>
          </a:p>
          <a:p>
            <a:r>
              <a:rPr sz="1800"/>
              <a:t>Force           HistGradientBoosting    max_depth=None,  learning_rate=0.05</a:t>
            </a:r>
          </a:p>
          <a:p>
            <a:r>
              <a:rPr sz="1800"/>
              <a:t>Repetition      Random Forest           n_estimators=300, max_depth=None</a:t>
            </a:r>
          </a:p>
          <a:p>
            <a:r>
              <a:rPr sz="1800"/>
              <a:t>Duration        Random Forest           n_estimators=500, max_depth=5</a:t>
            </a:r>
          </a:p>
          <a:p>
            <a:r>
              <a:rPr sz="1800"/>
              <a:t>Vibration       Extra Trees             n_estimators=300, max_depth=None</a:t>
            </a:r>
          </a:p>
          <a:p>
            <a:r>
              <a:rPr sz="1800"/>
              <a:t>Contact Stress  Random Forest           n_estimators=500, max_depth=None</a:t>
            </a:r>
          </a:p>
          <a:p>
            <a:r>
              <a:rPr sz="1800"/>
              <a:t>Posture         HistGradientBoosting    max_depth=5,     learning_rate=0.05</a:t>
            </a:r>
          </a:p>
          <a:p>
            <a:r>
              <a:rPr sz="1800"/>
              <a:t/>
            </a:r>
          </a:p>
          <a:p>
            <a:r>
              <a:rPr sz="1800"/>
              <a:t>SMOTE k_neighbors = 5 for every target.</a:t>
            </a:r>
          </a:p>
          <a:p>
            <a:r>
              <a:rPr sz="1800"/>
              <a:t>All pipelines: imblearn.Pipeline([SMOTE, classifier]).</a:t>
            </a:r>
          </a:p>
          <a:p>
            <a:r>
              <a:rPr sz="1800"/>
              <a:t>All CV folds: StratifiedKFold(5, shuffle=True, random_state=42).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matrices (best model per factor)</a:t>
            </a:r>
          </a:p>
        </p:txBody>
      </p:sp>
      <p:pic>
        <p:nvPicPr>
          <p:cNvPr id="3" name="Picture 2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909" y="1371600"/>
            <a:ext cx="752018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curves (one-vs-rest)</a:t>
            </a:r>
          </a:p>
        </p:txBody>
      </p:sp>
      <p:pic>
        <p:nvPicPr>
          <p:cNvPr id="3" name="Picture 2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127" y="1371600"/>
            <a:ext cx="751174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AUC &gt; 0.70 for 5 of 6 factors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features per model</a:t>
            </a:r>
          </a:p>
        </p:txBody>
      </p:sp>
      <p:pic>
        <p:nvPicPr>
          <p:cNvPr id="3" name="Picture 2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291" y="1371600"/>
            <a:ext cx="683141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workload_score, fatigue_score, and age_ord recur across factors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Per-factor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Survey-only inputs limit how high the 5 survey-derived models can go,</a:t>
            </a:r>
          </a:p>
          <a:p>
            <a:r>
              <a:rPr sz="1800"/>
              <a:t>because each model excludes the variable that defines its own target.</a:t>
            </a:r>
          </a:p>
          <a:p>
            <a:r>
              <a:rPr sz="1800"/>
              <a:t/>
            </a:r>
          </a:p>
          <a:p>
            <a:r>
              <a:rPr sz="1800"/>
              <a:t>The 5 survey-derived factors land at 58-62% accuracy and macro AUC 71-76%.</a:t>
            </a:r>
          </a:p>
          <a:p>
            <a:r>
              <a:rPr sz="1800"/>
              <a:t/>
            </a:r>
          </a:p>
          <a:p>
            <a:r>
              <a:rPr sz="1800"/>
              <a:t>Macro AUC &gt; 0.70 means the models still rank riders correctly,</a:t>
            </a:r>
          </a:p>
          <a:p>
            <a:r>
              <a:rPr sz="1800"/>
              <a:t>even when they don't always predict the exact class.</a:t>
            </a:r>
          </a:p>
          <a:p>
            <a:r>
              <a:rPr sz="1800"/>
              <a:t/>
            </a:r>
          </a:p>
          <a:p>
            <a:r>
              <a:rPr sz="1800"/>
              <a:t>Posture uses real RULA + QEC observation inputs (not survey proxies),</a:t>
            </a:r>
          </a:p>
          <a:p>
            <a:r>
              <a:rPr sz="1800"/>
              <a:t>so it reaches 97% / AUC 98%.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1. n = 182 self-report sample. Cross-sectional, single-region deployment.</a:t>
            </a:r>
          </a:p>
          <a:p>
            <a:r>
              <a:rPr sz="1800"/>
              <a:t/>
            </a:r>
          </a:p>
          <a:p>
            <a:r>
              <a:rPr sz="1800"/>
              <a:t>2. Posture per-rider linkage is approximate. RULA + QEC observations shared</a:t>
            </a:r>
          </a:p>
          <a:p>
            <a:r>
              <a:rPr sz="1600"/>
              <a:t>   no rider identifier with the survey - a severity-rank merge was used.</a:t>
            </a:r>
          </a:p>
          <a:p>
            <a:r>
              <a:rPr sz="1600"/>
              <a:t>   The 97% accuracy is the upper bound the linked data permits; a</a:t>
            </a:r>
          </a:p>
          <a:p>
            <a:r>
              <a:rPr sz="1600"/>
              <a:t>   per-rider observation study would likely settle slightly lower.</a:t>
            </a:r>
          </a:p>
          <a:p>
            <a:r>
              <a:rPr sz="1800"/>
              <a:t/>
            </a:r>
          </a:p>
          <a:p>
            <a:r>
              <a:rPr sz="1800"/>
              <a:t>3. Repetition binning was corrected (qcut -&gt; fixed cuts [2.5, 3.75]) so</a:t>
            </a:r>
          </a:p>
          <a:p>
            <a:r>
              <a:rPr sz="1600"/>
              <a:t>   the worst real combo no longer ties on the tercile edge.</a:t>
            </a:r>
          </a:p>
          <a:p>
            <a:r>
              <a:rPr sz="1600"/>
              <a:t>   Stage-2 accuracy dropped 74% -&gt; 62% but is now methodologically honest.</a:t>
            </a:r>
          </a:p>
          <a:p>
            <a:r>
              <a:rPr sz="1800"/>
              <a:t/>
            </a:r>
          </a:p>
          <a:p>
            <a:r>
              <a:rPr sz="1800"/>
              <a:t>4. Vibration's 58% accuracy reflects a real signal ceiling once vehicle_rank,</a:t>
            </a:r>
          </a:p>
          <a:p>
            <a:r>
              <a:rPr sz="1600"/>
              <a:t>   work_hours_num and vibration_index are all excluded to prevent leakage.</a:t>
            </a:r>
          </a:p>
          <a:p>
            <a:r>
              <a:rPr sz="1800"/>
              <a:t/>
            </a:r>
          </a:p>
          <a:p>
            <a:r>
              <a:rPr sz="1800"/>
              <a:t>5. Self-report biases apply to discomfort, fatigue and workload measures.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 for rider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Duration (49% of riders in High band - largest population burden):</a:t>
            </a:r>
          </a:p>
          <a:p>
            <a:r>
              <a:rPr sz="1600"/>
              <a:t>   shift-length caps and mandatory breaks every 2 hours</a:t>
            </a:r>
          </a:p>
          <a:p>
            <a:r>
              <a:rPr sz="1800"/>
              <a:t/>
            </a:r>
          </a:p>
          <a:p>
            <a:r>
              <a:rPr sz="1800"/>
              <a:t>Force (only factor significantly associated with discomfort, p = 0.035):</a:t>
            </a:r>
          </a:p>
          <a:p>
            <a:r>
              <a:rPr sz="1600"/>
              <a:t>   limit carried-package weight; train safer lifting technique</a:t>
            </a:r>
          </a:p>
          <a:p>
            <a:r>
              <a:rPr sz="1800"/>
              <a:t/>
            </a:r>
          </a:p>
          <a:p>
            <a:r>
              <a:rPr sz="1800"/>
              <a:t>Contact Stress (handheld carriers reported less discomfort):</a:t>
            </a:r>
          </a:p>
          <a:p>
            <a:r>
              <a:rPr sz="1600"/>
              <a:t>   encourage bike-storage box or backpack over handheld delivery</a:t>
            </a:r>
          </a:p>
          <a:p>
            <a:r>
              <a:rPr sz="1800"/>
              <a:t/>
            </a:r>
          </a:p>
          <a:p>
            <a:r>
              <a:rPr sz="1800"/>
              <a:t>Age and job duration (strongest individual-level discomfort predictors):</a:t>
            </a:r>
          </a:p>
          <a:p>
            <a:r>
              <a:rPr sz="1600"/>
              <a:t>   workload tapering for riders over 12 months tenure or over 35 years old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web demo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Streamlit screening tool: full questionnaire to per-factor risk levels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header and demographic (Q1-17)</a:t>
            </a:r>
          </a:p>
        </p:txBody>
      </p:sp>
      <p:pic>
        <p:nvPicPr>
          <p:cNvPr id="3" name="Picture 2" descr="web_01_header_dem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895" y="1371600"/>
            <a:ext cx="770021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Sample-profile shortcuts let the mentor try Low / Average / High risk presets in one click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Nordic + 7-day + outcomes (Q18-24)</a:t>
            </a:r>
          </a:p>
        </p:txBody>
      </p:sp>
      <p:pic>
        <p:nvPicPr>
          <p:cNvPr id="3" name="Picture 2" descr="web_02_nm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895" y="1371600"/>
            <a:ext cx="770021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NASA-TLX + Borg CR10 (Q25-36)</a:t>
            </a:r>
          </a:p>
        </p:txBody>
      </p:sp>
      <p:pic>
        <p:nvPicPr>
          <p:cNvPr id="3" name="Picture 2" descr="web_03_nasa_bo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895" y="1371600"/>
            <a:ext cx="770021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All six NASA-TLX sliders point in load-direction (Q28 reworded as 'dissatisfied')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RULA + QEC + Predict button</a:t>
            </a:r>
          </a:p>
        </p:txBody>
      </p:sp>
      <p:pic>
        <p:nvPicPr>
          <p:cNvPr id="3" name="Picture 2" descr="web_04_rula_q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895" y="1371600"/>
            <a:ext cx="770021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11 RULA components and 8 QEC scores drive the Posture model directly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predicted risk profile</a:t>
            </a:r>
          </a:p>
        </p:txBody>
      </p:sp>
      <p:pic>
        <p:nvPicPr>
          <p:cNvPr id="3" name="Picture 2" descr="web_05_prediction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895" y="1371600"/>
            <a:ext cx="770021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Colour-coded bars, summary banner, and per-factor recommendations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A3A3A"/>
      </a:dk2>
      <a:lt2>
        <a:srgbClr val="EDEDED"/>
      </a:lt2>
      <a:accent1>
        <a:srgbClr val="C2603F"/>
      </a:accent1>
      <a:accent2>
        <a:srgbClr val="595959"/>
      </a:accent2>
      <a:accent3>
        <a:srgbClr val="808080"/>
      </a:accent3>
      <a:accent4>
        <a:srgbClr val="A6A6A6"/>
      </a:accent4>
      <a:accent5>
        <a:srgbClr val="C8C8C8"/>
      </a:accent5>
      <a:accent6>
        <a:srgbClr val="E0E0E0"/>
      </a:accent6>
      <a:hlink>
        <a:srgbClr val="C2603F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</TotalTime>
  <Words>1421</Words>
  <Application>Microsoft Office PowerPoint</Application>
  <PresentationFormat>Widescreen</PresentationFormat>
  <Paragraphs>398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Office Theme</vt:lpstr>
      <vt:lpstr>AI/ML-Based Prediction of 6 Ergonomic Risk Factors</vt:lpstr>
      <vt:lpstr>Project Objective</vt:lpstr>
      <vt:lpstr>6 Ergonomic Risk Factors</vt:lpstr>
      <vt:lpstr>Measurement Methods</vt:lpstr>
      <vt:lpstr>Measurement Methods</vt:lpstr>
      <vt:lpstr>Measurement Methods</vt:lpstr>
      <vt:lpstr>Measurement Methods</vt:lpstr>
      <vt:lpstr>Simplified Workflow Diagram</vt:lpstr>
      <vt:lpstr>Input Variables</vt:lpstr>
      <vt:lpstr>Prediction Targets</vt:lpstr>
      <vt:lpstr>Dataset Understanding</vt:lpstr>
      <vt:lpstr>Data Cleaning</vt:lpstr>
      <vt:lpstr>Data Cleaning</vt:lpstr>
      <vt:lpstr>Data Cleaning</vt:lpstr>
      <vt:lpstr>Data Preprocessing</vt:lpstr>
      <vt:lpstr>Data Preprocessing</vt:lpstr>
      <vt:lpstr>Feature Engineering</vt:lpstr>
      <vt:lpstr>Feature Engineering</vt:lpstr>
      <vt:lpstr>Feature Engineering</vt:lpstr>
      <vt:lpstr>Exploratory Data Analysis</vt:lpstr>
      <vt:lpstr>Feature Engineering</vt:lpstr>
      <vt:lpstr>Exploratory Data Analysis</vt:lpstr>
      <vt:lpstr>Exploratory Data Analysis</vt:lpstr>
      <vt:lpstr>Relationship Analysis</vt:lpstr>
      <vt:lpstr>Relationship Analysis</vt:lpstr>
      <vt:lpstr>Relationship Analysis</vt:lpstr>
      <vt:lpstr>Relationship Analysis</vt:lpstr>
      <vt:lpstr>Statistical Analysis</vt:lpstr>
      <vt:lpstr>Statistical Analysis</vt:lpstr>
      <vt:lpstr>AI/ML Modeling</vt:lpstr>
      <vt:lpstr>ML Algorithms</vt:lpstr>
      <vt:lpstr>Prediction Targets</vt:lpstr>
      <vt:lpstr>Model Evaluation</vt:lpstr>
      <vt:lpstr>Model Evaluation</vt:lpstr>
      <vt:lpstr>Visualizations</vt:lpstr>
      <vt:lpstr>Inputs &amp; Outputs</vt:lpstr>
      <vt:lpstr>Expected Outputs</vt:lpstr>
      <vt:lpstr>Technologies Used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Vishnu vardhan</dc:creator>
  <cp:keywords/>
  <dc:description>generated using python-pptx</dc:description>
  <cp:lastModifiedBy>Vishnu vardhan</cp:lastModifiedBy>
  <cp:revision>34</cp:revision>
  <dcterms:created xsi:type="dcterms:W3CDTF">2013-01-27T09:14:16Z</dcterms:created>
  <dcterms:modified xsi:type="dcterms:W3CDTF">2026-05-27T05:04:25Z</dcterms:modified>
  <cp:category/>
</cp:coreProperties>
</file>