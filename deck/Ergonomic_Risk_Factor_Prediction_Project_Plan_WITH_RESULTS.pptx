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98" r:id="rId20"/>
    <p:sldId id="266" r:id="rId21"/>
    <p:sldId id="294" r:id="rId22"/>
    <p:sldId id="285" r:id="rId23"/>
    <p:sldId id="286" r:id="rId24"/>
    <p:sldId id="267" r:id="rId25"/>
    <p:sldId id="287" r:id="rId26"/>
    <p:sldId id="299" r:id="rId27"/>
    <p:sldId id="288" r:id="rId28"/>
    <p:sldId id="268" r:id="rId29"/>
    <p:sldId id="300" r:id="rId30"/>
    <p:sldId id="269" r:id="rId31"/>
    <p:sldId id="270" r:id="rId32"/>
    <p:sldId id="296" r:id="rId33"/>
    <p:sldId id="272" r:id="rId34"/>
    <p:sldId id="293" r:id="rId35"/>
    <p:sldId id="273" r:id="rId36"/>
    <p:sldId id="302" r:id="rId37"/>
    <p:sldId id="295" r:id="rId38"/>
    <p:sldId id="275" r:id="rId39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0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 Bar"/>
          <p:cNvSpPr/>
          <p:nvPr/>
        </p:nvSpPr>
        <p:spPr>
          <a:xfrm>
            <a:off x="701040" y="1465000"/>
            <a:ext cx="11887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/>
          <a:lstStyle/>
          <a:p>
            <a:r>
              <a:rPr dirty="0"/>
              <a:t>AI/ML-Based Prediction of 6 Ergonomic Risk Factors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2E4782-CCEA-0B60-CCA4-E864703A78B1}"/>
              </a:ext>
            </a:extLst>
          </p:cNvPr>
          <p:cNvSpPr txBox="1">
            <a:spLocks/>
          </p:cNvSpPr>
          <p:nvPr/>
        </p:nvSpPr>
        <p:spPr>
          <a:xfrm>
            <a:off x="9086088" y="5249924"/>
            <a:ext cx="339547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By</a:t>
            </a:r>
          </a:p>
          <a:p>
            <a:pPr algn="l"/>
            <a:r>
              <a:rPr lang="en-US" dirty="0"/>
              <a:t>Aila Vishnu Vardhan</a:t>
            </a:r>
          </a:p>
          <a:p>
            <a:pPr algn="l"/>
            <a:r>
              <a:rPr lang="en-US" dirty="0"/>
              <a:t>23911A6702</a:t>
            </a:r>
          </a:p>
          <a:p>
            <a:pPr algn="l"/>
            <a:r>
              <a:rPr lang="en-US" dirty="0"/>
              <a:t>VJIT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Analyse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Posture</a:t>
            </a:r>
            <a:endParaRPr lang="en-US" dirty="0"/>
          </a:p>
          <a:p>
            <a:r>
              <a:rPr lang="en-US" dirty="0"/>
              <a:t>Duration</a:t>
            </a:r>
            <a:endParaRPr dirty="0"/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Posture </a:t>
            </a:r>
            <a:r>
              <a:rPr dirty="0"/>
              <a:t>→ RULA &amp; </a:t>
            </a:r>
            <a:r>
              <a:rPr lang="en-US" dirty="0"/>
              <a:t>QEC</a:t>
            </a:r>
          </a:p>
          <a:p>
            <a:r>
              <a:rPr lang="en-IN" b="1" dirty="0"/>
              <a:t>Duration</a:t>
            </a:r>
            <a:r>
              <a:rPr lang="en-IN" dirty="0"/>
              <a:t>→ Continuous posture duration(continuous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 	(consider age)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5177536" y="3602736"/>
          <a:ext cx="6819392" cy="1566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696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3409696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index= working hours x vehicle weight 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471168" y="451612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1887200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to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55257"/>
              </p:ext>
            </p:extLst>
          </p:nvPr>
        </p:nvGraphicFramePr>
        <p:xfrm>
          <a:off x="2186432" y="4651947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4A0B75-5EA1-DC5A-31C7-880DB833F8D1}"/>
              </a:ext>
            </a:extLst>
          </p:cNvPr>
          <p:cNvSpPr/>
          <p:nvPr/>
        </p:nvSpPr>
        <p:spPr>
          <a:xfrm>
            <a:off x="4178808" y="1325880"/>
            <a:ext cx="3959352" cy="52574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252" y="1390524"/>
            <a:ext cx="35874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 Collection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b="1" dirty="0"/>
              <a:t>Data </a:t>
            </a:r>
            <a:r>
              <a:rPr b="1" dirty="0" err="1"/>
              <a:t>Cleanin</a:t>
            </a:r>
            <a:r>
              <a:rPr lang="en-IN" b="1" dirty="0"/>
              <a:t>g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lang="en-US" b="1" dirty="0"/>
              <a:t>Data Preprocessing </a:t>
            </a:r>
          </a:p>
          <a:p>
            <a:pPr algn="ctr"/>
            <a:r>
              <a:rPr lang="en-IN" b="1" dirty="0"/>
              <a:t> ↓</a:t>
            </a:r>
          </a:p>
          <a:p>
            <a:pPr algn="ctr"/>
            <a:r>
              <a:rPr lang="en-IN" b="1" dirty="0"/>
              <a:t>Feature Engineering</a:t>
            </a:r>
          </a:p>
          <a:p>
            <a:pPr algn="ctr"/>
            <a:r>
              <a:rPr lang="en-IN" b="1" dirty="0"/>
              <a:t> ↓</a:t>
            </a:r>
            <a:endParaRPr b="1" dirty="0"/>
          </a:p>
          <a:p>
            <a:pPr algn="ctr"/>
            <a:r>
              <a:rPr lang="en-US" b="1" dirty="0"/>
              <a:t>Exploratory </a:t>
            </a:r>
            <a:r>
              <a:rPr b="1" dirty="0"/>
              <a:t>Data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Relationship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AI/ML Modeling</a:t>
            </a:r>
          </a:p>
          <a:p>
            <a:pPr algn="ctr"/>
            <a:r>
              <a:rPr b="1" dirty="0"/>
              <a:t>   ↓</a:t>
            </a:r>
          </a:p>
          <a:p>
            <a:pPr algn="ctr"/>
            <a:r>
              <a:rPr b="1" dirty="0"/>
              <a:t>Prediction of 6 Ergonomic Risk Factors</a:t>
            </a:r>
          </a:p>
          <a:p>
            <a:pPr algn="ctr"/>
            <a:r>
              <a:rPr b="1" dirty="0"/>
              <a:t>    ↓</a:t>
            </a:r>
          </a:p>
          <a:p>
            <a:pPr algn="ctr"/>
            <a:r>
              <a:rPr b="1"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Posture Risk</a:t>
            </a:r>
          </a:p>
          <a:p>
            <a:r>
              <a:rPr dirty="0"/>
              <a:t>Predict Duration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lang="en-US" dirty="0"/>
              <a:t>Categorize dependent and independent variable 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2032000" y="3517074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8396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pPr marL="0" indent="0">
              <a:buNone/>
            </a:pPr>
            <a:r>
              <a:rPr lang="en-US" dirty="0"/>
              <a:t>	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3645408" y="2308288"/>
            <a:ext cx="3255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64" y="4222274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98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9928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3645408" y="2344864"/>
            <a:ext cx="3255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Scooter → 1</a:t>
            </a:r>
          </a:p>
          <a:p>
            <a:r>
              <a:rPr lang="en-IN" dirty="0"/>
              <a:t>Motorcycle →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21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725"/>
            <a:ext cx="10972800" cy="4525963"/>
          </a:xfrm>
        </p:spPr>
        <p:txBody>
          <a:bodyPr>
            <a:normAutofit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6997203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1024128" y="385876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3048000" y="4530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REBA and RULA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1231392" y="452392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Cumulative Exposure Modeling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Combine multiple workload and exposure variables into cumulative ergonomic exposure features.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Input Variables Considered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Deliveries per day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score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work_hours × fatigue × riding_duration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cumulative_exposure_score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422425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500000" y="834000"/>
            <a:ext cx="9192000" cy="5190000"/>
          </a:xfrm>
        </p:spPr>
        <p:txBody>
          <a:bodyPr anchor="ctr">
            <a:normAutofit/>
          </a:bodyPr>
          <a:lstStyle/>
          <a:p>
            <a:endParaRPr lang="en-US" sz="800" dirty="0"/>
          </a:p>
          <a:p>
            <a:pPr marL="0" indent="0" algn="ctr">
              <a:buNone/>
            </a:pPr>
            <a:r>
              <a:rPr lang="en-US" sz="2400" b="1" dirty="0"/>
              <a:t>Anatomical Strain Index (ASI)</a:t>
            </a:r>
          </a:p>
          <a:p>
            <a:endParaRPr lang="en-US" sz="800" dirty="0"/>
          </a:p>
          <a:p>
            <a:pPr marL="0" indent="0" algn="ctr">
              <a:buNone/>
            </a:pPr>
            <a:r>
              <a:rPr lang="en-US" sz="2000" b="1" dirty="0"/>
              <a:t>Combine four localized discomfort indicators</a:t>
            </a:r>
          </a:p>
          <a:p>
            <a:endParaRPr lang="en-US" sz="400" dirty="0"/>
          </a:p>
          <a:p>
            <a:pPr marL="0" indent="0" algn="ctr">
              <a:buNone/>
            </a:pPr>
            <a:r>
              <a:rPr lang="en-US" sz="1900" dirty="0"/>
              <a:t>Neck pain</a:t>
            </a:r>
          </a:p>
          <a:p>
            <a:pPr marL="0" indent="0" algn="ctr">
              <a:buNone/>
            </a:pPr>
            <a:r>
              <a:rPr lang="en-US" sz="1900" dirty="0"/>
              <a:t>Shoulder pain</a:t>
            </a:r>
          </a:p>
          <a:p>
            <a:pPr marL="0" indent="0" algn="ctr">
              <a:buNone/>
            </a:pPr>
            <a:r>
              <a:rPr lang="en-US" sz="1900" dirty="0"/>
              <a:t>Lower back pain</a:t>
            </a:r>
          </a:p>
          <a:p>
            <a:pPr marL="0" indent="0" algn="ctr">
              <a:buNone/>
            </a:pPr>
            <a:r>
              <a:rPr lang="en-US" sz="1900" dirty="0"/>
              <a:t>Wrist discomfort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↓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200" b="1" dirty="0"/>
              <a:t>Single Ergonomic Strain Score</a:t>
            </a:r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5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Interaction Feature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Analyze combined effects of multiple ergonomic exposure variables instead of single-variable relationships.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Interaction Variables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× Fatigue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Vibration × 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× 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Repetition × Fatigue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High vibration + long riding 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Higher lower back discomfort risk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638651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739392" y="218186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Threshold &amp; Risk Escalation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Goal</a:t>
            </a:r>
          </a:p>
          <a:p>
            <a:pPr marL="285750" indent="0">
              <a:buNone/>
            </a:pPr>
            <a:r>
              <a:rPr lang="en-US" sz="1700" dirty="0"/>
              <a:t>Identify workload and exposure thresholds where ergonomic risk rapidly increases.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Example Threshold Conditions</a:t>
            </a:r>
          </a:p>
          <a:p>
            <a:endParaRPr lang="en-US" sz="400" dirty="0"/>
          </a:p>
          <a:p>
            <a:pPr marL="0" indent="0" algn="ctr">
              <a:buNone/>
            </a:pPr>
            <a:r>
              <a:rPr lang="en-US" sz="1700" dirty="0"/>
              <a:t>work_hours &gt; 9</a:t>
            </a:r>
          </a:p>
          <a:p>
            <a:pPr marL="0" indent="0" algn="ctr">
              <a:buNone/>
            </a:pPr>
            <a:r>
              <a:rPr lang="en-US" sz="1700" b="1" dirty="0"/>
              <a:t>AND</a:t>
            </a:r>
          </a:p>
          <a:p>
            <a:pPr marL="0" indent="0" algn="ctr">
              <a:buNone/>
            </a:pPr>
            <a:r>
              <a:rPr lang="en-US" sz="1700" dirty="0"/>
              <a:t>fatigue_score &gt; 7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 exhaustion risk</a:t>
            </a:r>
          </a:p>
        </p:txBody>
      </p:sp>
      <p:sp>
        <p:nvSpPr>
          <p:cNvPr id="10" name="Detail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Input Variables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Posture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Workload level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Riding duration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Methods Used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Decision Trees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XGBoost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Threshold-based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Purpose</a:t>
            </a:r>
          </a:p>
          <a:p>
            <a:pPr marL="285750" indent="0">
              <a:buNone/>
            </a:pPr>
            <a:r>
              <a:rPr lang="en-US" sz="1700" dirty="0"/>
              <a:t>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81900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6096000" y="4380637"/>
            <a:ext cx="54864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451104" y="4380637"/>
            <a:ext cx="5230368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719328" y="4380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6096000" y="46576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344"/>
            <a:ext cx="10972800" cy="4525963"/>
          </a:xfrm>
        </p:spPr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 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Posture Risk</a:t>
            </a:r>
          </a:p>
          <a:p>
            <a:r>
              <a:rPr dirty="0"/>
              <a:t>Predict Duration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400812" y="1580385"/>
            <a:ext cx="115412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0319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12E3-0F3B-D71A-4706-BD5CED5F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F2A-40DD-C86F-C36C-5FDDA509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0C6D4-7222-ED3A-71F2-249572AD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972300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 = </a:t>
            </a:r>
            <a:r>
              <a:rPr lang="en-IN" sz="2000" dirty="0"/>
              <a:t>6 NASA-TLX columns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 fatigue scores = Borg columns (overall, legs, breathing, traffic, exhaustion) </a:t>
            </a:r>
          </a:p>
          <a:p>
            <a:pPr marL="0" indent="0">
              <a:buNone/>
            </a:pPr>
            <a:r>
              <a:rPr lang="en-US" sz="2000" dirty="0"/>
              <a:t>- work hours = Working Hours per Day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 = RULA &amp; QEC</a:t>
            </a:r>
          </a:p>
          <a:p>
            <a:pPr marL="0" indent="0">
              <a:buNone/>
            </a:pPr>
            <a:r>
              <a:rPr lang="en-US" sz="2000" dirty="0"/>
              <a:t>- delivery frequency = Number of deliveries per day</a:t>
            </a:r>
          </a:p>
          <a:p>
            <a:pPr marL="0" indent="0">
              <a:buNone/>
            </a:pPr>
            <a:r>
              <a:rPr lang="en-US" sz="2000" dirty="0"/>
              <a:t>- vibration exposure = "Type of vehicle" + "Working Hours"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4C32F-01AB-8892-5120-74FEB19AAB79}"/>
              </a:ext>
            </a:extLst>
          </p:cNvPr>
          <p:cNvSpPr txBox="1"/>
          <p:nvPr/>
        </p:nvSpPr>
        <p:spPr>
          <a:xfrm>
            <a:off x="7581900" y="173965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Duration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Posture Risk</a:t>
            </a:r>
          </a:p>
        </p:txBody>
      </p:sp>
    </p:spTree>
    <p:extLst>
      <p:ext uri="{BB962C8B-B14F-4D97-AF65-F5344CB8AC3E}">
        <p14:creationId xmlns:p14="http://schemas.microsoft.com/office/powerpoint/2010/main" val="688211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42D0-0D70-589E-4C8C-483BF926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5776-0702-1FE3-1C3F-291E6395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063" y="2857500"/>
            <a:ext cx="2643873" cy="1143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925356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4-7 outputs from the 182-rider sample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pic>
        <p:nvPicPr>
          <p:cNvPr id="3" name="Picture 2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71600"/>
            <a:ext cx="10058400" cy="3700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Raw inputs -&gt; cleaning -&gt; feature engineering -&gt; Stage 1 labels -&gt; Stage 2 ML -&gt; web app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demographics (n = 182)</a:t>
            </a:r>
          </a:p>
        </p:txBody>
      </p:sp>
      <p:pic>
        <p:nvPicPr>
          <p:cNvPr id="3" name="Picture 2" descr="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39" y="1371600"/>
            <a:ext cx="863492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MSD prevalence by body area</a:t>
            </a:r>
          </a:p>
        </p:txBody>
      </p:sp>
      <p:pic>
        <p:nvPicPr>
          <p:cNvPr id="3" name="Picture 2" descr="nordic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1371600"/>
            <a:ext cx="831272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84.6% of riders reported pain in at least one body area in the last 12 months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 distribution (all 6 factors)</a:t>
            </a:r>
          </a:p>
        </p:txBody>
      </p:sp>
      <p:pic>
        <p:nvPicPr>
          <p:cNvPr id="3" name="Picture 2" descr="risk_fact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71600"/>
            <a:ext cx="10058400" cy="449960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Discomfort prevalence by demographic group</a:t>
            </a:r>
          </a:p>
        </p:txBody>
      </p:sp>
      <p:pic>
        <p:nvPicPr>
          <p:cNvPr id="3" name="Picture 2" descr="discomfort_by_dem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22" y="1371600"/>
            <a:ext cx="872615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Strong age gradient: 72% (under 25) up to 100% (45+)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Discomfort prevalence at each risk level</a:t>
            </a:r>
          </a:p>
        </p:txBody>
      </p:sp>
      <p:pic>
        <p:nvPicPr>
          <p:cNvPr id="3" name="Picture 2" descr="risk_vs_discomf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06" y="1371600"/>
            <a:ext cx="845558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Force shows the cleanest dose-response of the 5 survey-derived factors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803" y="1371600"/>
            <a:ext cx="505639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Workload, age, and job duration are the top correlations with discomfort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 performance (Stage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Best model per risk factor (5-fold CV, after GridSearchCV + SMOTE):</a:t>
            </a:r>
          </a:p>
          <a:p>
            <a:r>
              <a:rPr sz="1800"/>
              <a:t/>
            </a:r>
          </a:p>
          <a:p>
            <a:r>
              <a:rPr sz="1800"/>
              <a:t>Force           HistGradientBoosting        62%   AUC 71%   (42 features)</a:t>
            </a:r>
          </a:p>
          <a:p>
            <a:r>
              <a:rPr sz="1800"/>
              <a:t>Repetition      Random Forest               62%   AUC 73%   (41 features)</a:t>
            </a:r>
          </a:p>
          <a:p>
            <a:r>
              <a:rPr sz="1800"/>
              <a:t>Duration        Random Forest               61%   AUC 76%   (42 features)</a:t>
            </a:r>
          </a:p>
          <a:p>
            <a:r>
              <a:rPr sz="1800"/>
              <a:t>Vibration       Extra Trees                 58%   AUC 72%   (41 features)</a:t>
            </a:r>
          </a:p>
          <a:p>
            <a:r>
              <a:rPr sz="1800"/>
              <a:t>Contact Stress  Random Forest               60%   AUC 74%   (42 features)</a:t>
            </a:r>
          </a:p>
          <a:p>
            <a:r>
              <a:rPr sz="1800"/>
              <a:t>Posture         HistGradientBoosting        97%   AUC 98%   (63 features)</a:t>
            </a:r>
          </a:p>
          <a:p>
            <a:r>
              <a:rPr sz="1800"/>
              <a:t/>
            </a:r>
          </a:p>
          <a:p>
            <a:r>
              <a:rPr sz="1800"/>
              <a:t>5 survey-derived factors land at 58-62% accuracy with macro AUC 71-76%.</a:t>
            </a:r>
          </a:p>
          <a:p>
            <a:r>
              <a:rPr sz="1800"/>
              <a:t>Posture uses real RULA + QEC observation inputs and reaches 97% / AUC 98%.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Winning hyperparameters (GridSearchCV)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The values each target's grid search settled on:</a:t>
            </a:r>
          </a:p>
          <a:p>
            <a:r>
              <a:rPr sz="1800"/>
              <a:t/>
            </a:r>
          </a:p>
          <a:p>
            <a:r>
              <a:rPr sz="1800"/>
              <a:t>Force           HistGradientBoosting    max_depth=None,  learning_rate=0.05</a:t>
            </a:r>
          </a:p>
          <a:p>
            <a:r>
              <a:rPr sz="1800"/>
              <a:t>Repetition      Random Forest           n_estimators=300, max_depth=None</a:t>
            </a:r>
          </a:p>
          <a:p>
            <a:r>
              <a:rPr sz="1800"/>
              <a:t>Duration        Random Forest           n_estimators=500, max_depth=5</a:t>
            </a:r>
          </a:p>
          <a:p>
            <a:r>
              <a:rPr sz="1800"/>
              <a:t>Vibration       Extra Trees             n_estimators=300, max_depth=None</a:t>
            </a:r>
          </a:p>
          <a:p>
            <a:r>
              <a:rPr sz="1800"/>
              <a:t>Contact Stress  Random Forest           n_estimators=500, max_depth=None</a:t>
            </a:r>
          </a:p>
          <a:p>
            <a:r>
              <a:rPr sz="1800"/>
              <a:t>Posture         HistGradientBoosting    max_depth=5,     learning_rate=0.05</a:t>
            </a:r>
          </a:p>
          <a:p>
            <a:r>
              <a:rPr sz="1800"/>
              <a:t/>
            </a:r>
          </a:p>
          <a:p>
            <a:r>
              <a:rPr sz="1800"/>
              <a:t>SMOTE k_neighbors = 5 for every target.</a:t>
            </a:r>
          </a:p>
          <a:p>
            <a:r>
              <a:rPr sz="1800"/>
              <a:t>All pipelines: imblearn.Pipeline([SMOTE, classifier]).</a:t>
            </a:r>
          </a:p>
          <a:p>
            <a:r>
              <a:rPr sz="1800"/>
              <a:t>All CV folds: StratifiedKFold(5, shuffle=True, random_state=42).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(best model per factor)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909" y="1371600"/>
            <a:ext cx="752018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 (one-vs-rest)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127" y="1371600"/>
            <a:ext cx="751174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AUC &gt; 0.70 for 5 of 6 factors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features per model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91" y="1371600"/>
            <a:ext cx="683141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workload_score, fatigue_score, and age_ord recur across factors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Per-factor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Survey-only inputs limit how high the 5 survey-derived models can go,</a:t>
            </a:r>
          </a:p>
          <a:p>
            <a:r>
              <a:rPr sz="1800"/>
              <a:t>because each model excludes the variable that defines its own target.</a:t>
            </a:r>
          </a:p>
          <a:p>
            <a:r>
              <a:rPr sz="1800"/>
              <a:t/>
            </a:r>
          </a:p>
          <a:p>
            <a:r>
              <a:rPr sz="1800"/>
              <a:t>The 5 survey-derived factors land at 58-62% accuracy and macro AUC 71-76%.</a:t>
            </a:r>
          </a:p>
          <a:p>
            <a:r>
              <a:rPr sz="1800"/>
              <a:t/>
            </a:r>
          </a:p>
          <a:p>
            <a:r>
              <a:rPr sz="1800"/>
              <a:t>Macro AUC &gt; 0.70 means the models still rank riders correctly,</a:t>
            </a:r>
          </a:p>
          <a:p>
            <a:r>
              <a:rPr sz="1800"/>
              <a:t>even when they don't always predict the exact class.</a:t>
            </a:r>
          </a:p>
          <a:p>
            <a:r>
              <a:rPr sz="1800"/>
              <a:t/>
            </a:r>
          </a:p>
          <a:p>
            <a:r>
              <a:rPr sz="1800"/>
              <a:t>Posture uses real RULA + QEC observation inputs (not survey proxies),</a:t>
            </a:r>
          </a:p>
          <a:p>
            <a:r>
              <a:rPr sz="1800"/>
              <a:t>so it reaches 97% / AUC 98%.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1. n = 182 self-report sample. Cross-sectional, single-region deployment.</a:t>
            </a:r>
          </a:p>
          <a:p>
            <a:r>
              <a:rPr sz="1800"/>
              <a:t/>
            </a:r>
          </a:p>
          <a:p>
            <a:r>
              <a:rPr sz="1800"/>
              <a:t>2. Posture per-rider linkage is approximate. RULA + QEC observations shared</a:t>
            </a:r>
          </a:p>
          <a:p>
            <a:r>
              <a:rPr sz="1600"/>
              <a:t>   no rider identifier with the survey - a severity-rank merge was used.</a:t>
            </a:r>
          </a:p>
          <a:p>
            <a:r>
              <a:rPr sz="1600"/>
              <a:t>   The 97% accuracy is the upper bound the linked data permits; a</a:t>
            </a:r>
          </a:p>
          <a:p>
            <a:r>
              <a:rPr sz="1600"/>
              <a:t>   per-rider observation study would likely settle slightly lower.</a:t>
            </a:r>
          </a:p>
          <a:p>
            <a:r>
              <a:rPr sz="1800"/>
              <a:t/>
            </a:r>
          </a:p>
          <a:p>
            <a:r>
              <a:rPr sz="1800"/>
              <a:t>3. Repetition binning was corrected (qcut -&gt; fixed cuts [2.5, 3.75]) so</a:t>
            </a:r>
          </a:p>
          <a:p>
            <a:r>
              <a:rPr sz="1600"/>
              <a:t>   the worst real combo no longer ties on the tercile edge.</a:t>
            </a:r>
          </a:p>
          <a:p>
            <a:r>
              <a:rPr sz="1600"/>
              <a:t>   Stage-2 accuracy dropped 74% -&gt; 62% but is now methodologically honest.</a:t>
            </a:r>
          </a:p>
          <a:p>
            <a:r>
              <a:rPr sz="1800"/>
              <a:t/>
            </a:r>
          </a:p>
          <a:p>
            <a:r>
              <a:rPr sz="1800"/>
              <a:t>4. Vibration's 58% accuracy reflects a real signal ceiling once vehicle_rank,</a:t>
            </a:r>
          </a:p>
          <a:p>
            <a:r>
              <a:rPr sz="1600"/>
              <a:t>   work_hours_num and vibration_index are all excluded to prevent leakage.</a:t>
            </a:r>
          </a:p>
          <a:p>
            <a:r>
              <a:rPr sz="1800"/>
              <a:t/>
            </a:r>
          </a:p>
          <a:p>
            <a:r>
              <a:rPr sz="1800"/>
              <a:t>5. Self-report biases apply to discomfort, fatigue and workload measures.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rider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Duration (49% of riders in High band - largest population burden):</a:t>
            </a:r>
          </a:p>
          <a:p>
            <a:r>
              <a:rPr sz="1600"/>
              <a:t>   shift-length caps and mandatory breaks every 2 hours</a:t>
            </a:r>
          </a:p>
          <a:p>
            <a:r>
              <a:rPr sz="1800"/>
              <a:t/>
            </a:r>
          </a:p>
          <a:p>
            <a:r>
              <a:rPr sz="1800"/>
              <a:t>Force (only factor significantly associated with discomfort, p = 0.035):</a:t>
            </a:r>
          </a:p>
          <a:p>
            <a:r>
              <a:rPr sz="1600"/>
              <a:t>   limit carried-package weight; train safer lifting technique</a:t>
            </a:r>
          </a:p>
          <a:p>
            <a:r>
              <a:rPr sz="1800"/>
              <a:t/>
            </a:r>
          </a:p>
          <a:p>
            <a:r>
              <a:rPr sz="1800"/>
              <a:t>Contact Stress (handheld carriers reported less discomfort):</a:t>
            </a:r>
          </a:p>
          <a:p>
            <a:r>
              <a:rPr sz="1600"/>
              <a:t>   encourage bike-storage box or backpack over handheld delivery</a:t>
            </a:r>
          </a:p>
          <a:p>
            <a:r>
              <a:rPr sz="1800"/>
              <a:t/>
            </a:r>
          </a:p>
          <a:p>
            <a:r>
              <a:rPr sz="1800"/>
              <a:t>Age and job duration (strongest individual-level discomfort predictors):</a:t>
            </a:r>
          </a:p>
          <a:p>
            <a:r>
              <a:rPr sz="1600"/>
              <a:t>   workload tapering for riders over 12 months tenure or over 35 years old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web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Streamlit screening tool: full questionnaire to per-factor risk levels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Home</a:t>
            </a:r>
          </a:p>
        </p:txBody>
      </p:sp>
      <p:pic>
        <p:nvPicPr>
          <p:cNvPr id="3" name="Picture 2" descr="web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Vercel-style hero on the entry page; sidebar hidden until the user starts an assessment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Assessment top (Q1-17)</a:t>
            </a:r>
          </a:p>
        </p:txBody>
      </p:sp>
      <p:pic>
        <p:nvPicPr>
          <p:cNvPr id="3" name="Picture 2" descr="web_02_assessmen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Sample-profile shortcuts (Low / Average / High) pre-fill the entire form in one click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Nordic + follow-ups (Q18-24)</a:t>
            </a:r>
          </a:p>
        </p:txBody>
      </p:sp>
      <p:pic>
        <p:nvPicPr>
          <p:cNvPr id="3" name="Picture 2" descr="web_03_assessment_nm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NASA-TLX + Borg CR10 (Q25-36)</a:t>
            </a:r>
          </a:p>
        </p:txBody>
      </p:sp>
      <p:pic>
        <p:nvPicPr>
          <p:cNvPr id="3" name="Picture 2" descr="web_04_assessment_nasa_b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Six NASA-TLX sliders point in load-direction (Q28 reworded as 'dissatisfied')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RULA + QEC + Predict</a:t>
            </a:r>
          </a:p>
        </p:txBody>
      </p:sp>
      <p:pic>
        <p:nvPicPr>
          <p:cNvPr id="3" name="Picture 2" descr="web_05_assessment_rula_q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11 RULA components and 8 QEC scores drive the Posture model directly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predicted risk profile</a:t>
            </a:r>
          </a:p>
        </p:txBody>
      </p:sp>
      <p:pic>
        <p:nvPicPr>
          <p:cNvPr id="3" name="Picture 2" descr="web_0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Colour-coded factor cards, radar summary, tabular view, and per-factor recommendations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Methodology page</a:t>
            </a:r>
          </a:p>
        </p:txBody>
      </p:sp>
      <p:pic>
        <p:nvPicPr>
          <p:cNvPr id="3" name="Picture 2" descr="web_07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Pipeline flowchart, two-stage design, candidate algorithms, and model performance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app: About page</a:t>
            </a:r>
          </a:p>
        </p:txBody>
      </p:sp>
      <p:pic>
        <p:nvPicPr>
          <p:cNvPr id="3" name="Picture 2" descr="web_08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1371600"/>
            <a:ext cx="66501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Author, mentor, institutional context, and tech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A3A"/>
      </a:dk2>
      <a:lt2>
        <a:srgbClr val="EDEDED"/>
      </a:lt2>
      <a:accent1>
        <a:srgbClr val="C2603F"/>
      </a:accent1>
      <a:accent2>
        <a:srgbClr val="595959"/>
      </a:accent2>
      <a:accent3>
        <a:srgbClr val="808080"/>
      </a:accent3>
      <a:accent4>
        <a:srgbClr val="A6A6A6"/>
      </a:accent4>
      <a:accent5>
        <a:srgbClr val="C8C8C8"/>
      </a:accent5>
      <a:accent6>
        <a:srgbClr val="E0E0E0"/>
      </a:accent6>
      <a:hlink>
        <a:srgbClr val="C2603F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1421</Words>
  <Application>Microsoft Office PowerPoint</Application>
  <PresentationFormat>Widescreen</PresentationFormat>
  <Paragraphs>398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Exploratory Data Analysis</vt:lpstr>
      <vt:lpstr>Feature Engineering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34</cp:revision>
  <dcterms:created xsi:type="dcterms:W3CDTF">2013-01-27T09:14:16Z</dcterms:created>
  <dcterms:modified xsi:type="dcterms:W3CDTF">2026-05-27T05:04:25Z</dcterms:modified>
  <cp:category/>
</cp:coreProperties>
</file>