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pic>
        <p:nvPicPr>
          <p:cNvPr id="3" name="Picture 2" descr="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37009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Raw inputs -&gt; cleaning -&gt; feature engineering -&gt; Stage 1 labels -&gt; Stage 2 ML -&gt; web app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Best model per risk factor (5-fold CV, after GridSearchCV + SMOTE):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    62%   AUC 71%   (42 features)</a:t>
            </a:r>
          </a:p>
          <a:p>
            <a:r>
              <a:rPr sz="1800"/>
              <a:t>Repetition      Random Forest               62%   AUC 73%   (41 features)</a:t>
            </a:r>
          </a:p>
          <a:p>
            <a:r>
              <a:rPr sz="1800"/>
              <a:t>Duration        Random Forest               61%   AUC 76%   (42 features)</a:t>
            </a:r>
          </a:p>
          <a:p>
            <a:r>
              <a:rPr sz="1800"/>
              <a:t>Vibration       Extra Trees                 58%   AUC 72%   (41 features)</a:t>
            </a:r>
          </a:p>
          <a:p>
            <a:r>
              <a:rPr sz="1800"/>
              <a:t>Contact Stress  Random Forest               60%   AUC 74%   (42 features)</a:t>
            </a:r>
          </a:p>
          <a:p>
            <a:r>
              <a:rPr sz="1800"/>
              <a:t>Posture         HistGradientBoosting        97%   AUC 98%   (63 features)</a:t>
            </a:r>
          </a:p>
          <a:p>
            <a:r>
              <a:rPr sz="1800"/>
              <a:t/>
            </a:r>
          </a:p>
          <a:p>
            <a:r>
              <a:rPr sz="1800"/>
              <a:t>5 survey-derived factors land at 58-62% accuracy with macro AUC 71-76%.</a:t>
            </a:r>
          </a:p>
          <a:p>
            <a:r>
              <a:rPr sz="1800"/>
              <a:t>Posture uses real RULA + QEC observation inputs and reaches 97% / AUC 98%.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Winning hyperparameters (GridSearchCV)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The values each target's grid search settled on: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max_depth=None,  learning_rate=0.05</a:t>
            </a:r>
          </a:p>
          <a:p>
            <a:r>
              <a:rPr sz="1800"/>
              <a:t>Repetition      Random Forest           n_estimators=300, max_depth=None</a:t>
            </a:r>
          </a:p>
          <a:p>
            <a:r>
              <a:rPr sz="1800"/>
              <a:t>Duration        Random Forest           n_estimators=500, max_depth=5</a:t>
            </a:r>
          </a:p>
          <a:p>
            <a:r>
              <a:rPr sz="1800"/>
              <a:t>Vibration       Extra Trees             n_estimators=300, max_depth=None</a:t>
            </a:r>
          </a:p>
          <a:p>
            <a:r>
              <a:rPr sz="1800"/>
              <a:t>Contact Stress  Random Forest           n_estimators=500, max_depth=None</a:t>
            </a:r>
          </a:p>
          <a:p>
            <a:r>
              <a:rPr sz="1800"/>
              <a:t>Posture         HistGradientBoosting    max_depth=5,     learning_rate=0.05</a:t>
            </a:r>
          </a:p>
          <a:p>
            <a:r>
              <a:rPr sz="1800"/>
              <a:t/>
            </a:r>
          </a:p>
          <a:p>
            <a:r>
              <a:rPr sz="1800"/>
              <a:t>SMOTE k_neighbors = 5 for every target.</a:t>
            </a:r>
          </a:p>
          <a:p>
            <a:r>
              <a:rPr sz="1800"/>
              <a:t>All pipelines: imblearn.Pipeline([SMOTE, classifier]).</a:t>
            </a:r>
          </a:p>
          <a:p>
            <a:r>
              <a:rPr sz="1800"/>
              <a:t>All CV folds: StratifiedKFold(5, shuffle=True, random_state=42).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91" y="1371600"/>
            <a:ext cx="683141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Per-factor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Survey-only inputs limit how high the 5 survey-derived models can go,</a:t>
            </a:r>
          </a:p>
          <a:p>
            <a:r>
              <a:rPr sz="1800"/>
              <a:t>because each model excludes the variable that defines its own target.</a:t>
            </a:r>
          </a:p>
          <a:p>
            <a:r>
              <a:rPr sz="1800"/>
              <a:t/>
            </a:r>
          </a:p>
          <a:p>
            <a:r>
              <a:rPr sz="1800"/>
              <a:t>The 5 survey-derived factors land at 58-62% accuracy and macro AUC 71-76%.</a:t>
            </a:r>
          </a:p>
          <a:p>
            <a:r>
              <a:rPr sz="1800"/>
              <a:t/>
            </a:r>
          </a:p>
          <a:p>
            <a:r>
              <a:rPr sz="1800"/>
              <a:t>Macro AUC &gt; 0.70 means the models still rank riders correctly,</a:t>
            </a:r>
          </a:p>
          <a:p>
            <a:r>
              <a:rPr sz="1800"/>
              <a:t>even when they don't always predict the exact class.</a:t>
            </a:r>
          </a:p>
          <a:p>
            <a:r>
              <a:rPr sz="1800"/>
              <a:t/>
            </a:r>
          </a:p>
          <a:p>
            <a:r>
              <a:rPr sz="1800"/>
              <a:t>Posture uses real RULA + QEC observation inputs (not survey proxies),</a:t>
            </a:r>
          </a:p>
          <a:p>
            <a:r>
              <a:rPr sz="1800"/>
              <a:t>so it reaches 97% / AUC 98%.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deployment.</a:t>
            </a:r>
          </a:p>
          <a:p>
            <a:r>
              <a:rPr sz="1800"/>
              <a:t/>
            </a:r>
          </a:p>
          <a:p>
            <a:r>
              <a:rPr sz="1800"/>
              <a:t>2. Posture per-rider linkage is approximate. RULA + QEC observations shared</a:t>
            </a:r>
          </a:p>
          <a:p>
            <a:r>
              <a:rPr sz="1600"/>
              <a:t>   no rider identifier with the survey - a severity-rank merge was used.</a:t>
            </a:r>
          </a:p>
          <a:p>
            <a:r>
              <a:rPr sz="1600"/>
              <a:t>   The 97% accuracy is the upper bound the linked data permits; a</a:t>
            </a:r>
          </a:p>
          <a:p>
            <a:r>
              <a:rPr sz="1600"/>
              <a:t>   per-rider observation study would likely settle slightly lower.</a:t>
            </a:r>
          </a:p>
          <a:p>
            <a:r>
              <a:rPr sz="1800"/>
              <a:t/>
            </a:r>
          </a:p>
          <a:p>
            <a:r>
              <a:rPr sz="1800"/>
              <a:t>3. Repetition binning was corrected (qcut -&gt; fixed cuts [2.5, 3.75]) so</a:t>
            </a:r>
          </a:p>
          <a:p>
            <a:r>
              <a:rPr sz="1600"/>
              <a:t>   the worst real combo no longer ties on the tercile edge.</a:t>
            </a:r>
          </a:p>
          <a:p>
            <a:r>
              <a:rPr sz="1600"/>
              <a:t>   Stage-2 accuracy dropped 74% -&gt; 62% but is now methodologically honest.</a:t>
            </a:r>
          </a:p>
          <a:p>
            <a:r>
              <a:rPr sz="1800"/>
              <a:t/>
            </a:r>
          </a:p>
          <a:p>
            <a:r>
              <a:rPr sz="1800"/>
              <a:t>4. Vibration's 58% accuracy reflects a real signal ceiling once vehicle_rank,</a:t>
            </a:r>
          </a:p>
          <a:p>
            <a:r>
              <a:rPr sz="1600"/>
              <a:t>   work_hours_num and vibration_index are all excluded to prevent leakage.</a:t>
            </a:r>
          </a:p>
          <a:p>
            <a:r>
              <a:rPr sz="1800"/>
              <a:t/>
            </a:r>
          </a:p>
          <a:p>
            <a:r>
              <a:rPr sz="1800"/>
              <a:t>5. Self-report biases apply to discomfort, fatigue and workload measures.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r>
              <a:rPr sz="1800"/>
              <a:t/>
            </a:r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r>
              <a:rPr sz="1800"/>
              <a:t/>
            </a:r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r>
              <a:rPr sz="1800"/>
              <a:t/>
            </a:r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web demo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Streamlit screening tool: full questionnaire to per-factor risk levels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Home</a:t>
            </a:r>
          </a:p>
        </p:txBody>
      </p:sp>
      <p:pic>
        <p:nvPicPr>
          <p:cNvPr id="3" name="Picture 2" descr="web_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Vercel-style hero on the entry page; sidebar hidden until the user starts an assessment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Assessment top (Q1-17)</a:t>
            </a:r>
          </a:p>
        </p:txBody>
      </p:sp>
      <p:pic>
        <p:nvPicPr>
          <p:cNvPr id="3" name="Picture 2" descr="web_02_assessment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Sample-profile shortcuts (Low / Average / High) pre-fill the entire form in one click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Nordic + follow-ups (Q18-24)</a:t>
            </a:r>
          </a:p>
        </p:txBody>
      </p:sp>
      <p:pic>
        <p:nvPicPr>
          <p:cNvPr id="3" name="Picture 2" descr="web_03_assessment_nm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NASA-TLX + Borg CR10 (Q25-36)</a:t>
            </a:r>
          </a:p>
        </p:txBody>
      </p:sp>
      <p:pic>
        <p:nvPicPr>
          <p:cNvPr id="3" name="Picture 2" descr="web_04_assessment_nasa_b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Six NASA-TLX sliders point in load-direction (Q28 reworded as 'dissatisfied')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RULA + QEC + Predict</a:t>
            </a:r>
          </a:p>
        </p:txBody>
      </p:sp>
      <p:pic>
        <p:nvPicPr>
          <p:cNvPr id="3" name="Picture 2" descr="web_05_assessment_rula_q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11 RULA components and 8 QEC scores drive the Posture model directly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predicted risk profile</a:t>
            </a:r>
          </a:p>
        </p:txBody>
      </p:sp>
      <p:pic>
        <p:nvPicPr>
          <p:cNvPr id="3" name="Picture 2" descr="web_06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Colour-coded factor cards, radar summary, tabular view, and per-factor recommendations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Methodology page</a:t>
            </a:r>
          </a:p>
        </p:txBody>
      </p:sp>
      <p:pic>
        <p:nvPicPr>
          <p:cNvPr id="3" name="Picture 2" descr="web_07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Pipeline flowchart, two-stage design, candidate algorithms, and model performance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app: About page</a:t>
            </a:r>
          </a:p>
        </p:txBody>
      </p:sp>
      <p:pic>
        <p:nvPicPr>
          <p:cNvPr id="3" name="Picture 2" descr="web_08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09" y="1371600"/>
            <a:ext cx="665018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Author, mentor, institutional context, and tech stack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1421</Words>
  <Application>Microsoft Office PowerPoint</Application>
  <PresentationFormat>Widescreen</PresentationFormat>
  <Paragraphs>398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34</cp:revision>
  <dcterms:created xsi:type="dcterms:W3CDTF">2013-01-27T09:14:16Z</dcterms:created>
  <dcterms:modified xsi:type="dcterms:W3CDTF">2026-05-27T05:04:25Z</dcterms:modified>
  <cp:category/>
</cp:coreProperties>
</file>